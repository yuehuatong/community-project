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8"/>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p:cViewPr varScale="1">
        <p:scale>
          <a:sx n="91" d="100"/>
          <a:sy n="91" d="100"/>
        </p:scale>
        <p:origin x="150" y="5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Unique posts</c:v>
          </c:tx>
          <c:spPr>
            <a:solidFill>
              <a:srgbClr val="13847D"/>
            </a:solidFill>
          </c:spPr>
          <c:invertIfNegative val="1"/>
          <c:dLbls>
            <c:spPr>
              <a:noFill/>
              <a:ln>
                <a:noFill/>
              </a:ln>
              <a:effectLst/>
            </c:spPr>
            <c:txPr>
              <a:bodyPr anchorCtr="1"/>
              <a:lstStyle/>
              <a:p>
                <a:pPr>
                  <a:defRPr sz="1050" b="1">
                    <a:solidFill>
                      <a:srgbClr val="101214"/>
                    </a:solidFil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Admissions</c:v>
              </c:pt>
              <c:pt idx="1">
                <c:v>Other</c:v>
              </c:pt>
              <c:pt idx="2">
                <c:v>Career</c:v>
              </c:pt>
              <c:pt idx="3">
                <c:v>Cost</c:v>
              </c:pt>
              <c:pt idx="4">
                <c:v>Research</c:v>
              </c:pt>
              <c:pt idx="5">
                <c:v>Sustainability</c:v>
              </c:pt>
            </c:strLit>
          </c:cat>
          <c:val>
            <c:numLit>
              <c:formatCode>General</c:formatCode>
              <c:ptCount val="6"/>
              <c:pt idx="0">
                <c:v>3208</c:v>
              </c:pt>
              <c:pt idx="1">
                <c:v>434</c:v>
              </c:pt>
              <c:pt idx="2">
                <c:v>272</c:v>
              </c:pt>
              <c:pt idx="3">
                <c:v>272</c:v>
              </c:pt>
              <c:pt idx="4">
                <c:v>200</c:v>
              </c:pt>
              <c:pt idx="5">
                <c:v>145</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C3E4-4296-BF3A-8377548FA1DD}"/>
            </c:ext>
          </c:extLst>
        </c:ser>
        <c:dLbls>
          <c:dLblPos val="outEnd"/>
          <c:showLegendKey val="0"/>
          <c:showVal val="1"/>
          <c:showCatName val="0"/>
          <c:showSerName val="0"/>
          <c:showPercent val="0"/>
          <c:showBubbleSize val="0"/>
        </c:dLbls>
        <c:gapWidth val="52"/>
        <c:axId val="48650112"/>
        <c:axId val="48672768"/>
      </c:barChart>
      <c:catAx>
        <c:axId val="48650112"/>
        <c:scaling>
          <c:orientation val="minMax"/>
        </c:scaling>
        <c:delete val="0"/>
        <c:axPos val="l"/>
        <c:majorGridlines>
          <c:spPr>
            <a:ln w="9525">
              <a:solidFill>
                <a:srgbClr val="E4E6E8"/>
              </a:solidFill>
              <a:prstDash val="solid"/>
            </a:ln>
          </c:spPr>
        </c:majorGridlines>
        <c:numFmt formatCode="General" sourceLinked="1"/>
        <c:majorTickMark val="none"/>
        <c:minorTickMark val="none"/>
        <c:tickLblPos val="nextTo"/>
        <c:spPr>
          <a:ln w="0">
            <a:solidFill>
              <a:srgbClr val="FFFFFF"/>
            </a:solidFill>
            <a:prstDash val="solid"/>
          </a:ln>
        </c:spPr>
        <c:txPr>
          <a:bodyPr anchorCtr="1"/>
          <a:lstStyle/>
          <a:p>
            <a:pPr>
              <a:defRPr sz="975">
                <a:solidFill>
                  <a:srgbClr val="5F6873"/>
                </a:solidFill>
              </a:defRPr>
            </a:pPr>
            <a:endParaRPr lang="zh-CN"/>
          </a:p>
        </c:txPr>
        <c:crossAx val="48672768"/>
        <c:crosses val="autoZero"/>
        <c:auto val="1"/>
        <c:lblAlgn val="ctr"/>
        <c:lblOffset val="100"/>
        <c:noMultiLvlLbl val="0"/>
      </c:catAx>
      <c:valAx>
        <c:axId val="48672768"/>
        <c:scaling>
          <c:orientation val="minMax"/>
        </c:scaling>
        <c:delete val="0"/>
        <c:axPos val="b"/>
        <c:numFmt formatCode="General" sourceLinked="1"/>
        <c:majorTickMark val="none"/>
        <c:minorTickMark val="none"/>
        <c:tickLblPos val="nextTo"/>
        <c:spPr>
          <a:ln w="0">
            <a:solidFill>
              <a:srgbClr val="FFFFFF"/>
            </a:solidFill>
            <a:prstDash val="solid"/>
          </a:ln>
        </c:spPr>
        <c:txPr>
          <a:bodyPr anchorCtr="1"/>
          <a:lstStyle/>
          <a:p>
            <a:pPr>
              <a:defRPr sz="1125">
                <a:solidFill>
                  <a:srgbClr val="101214"/>
                </a:solidFill>
              </a:defRPr>
            </a:pPr>
            <a:endParaRPr lang="zh-CN"/>
          </a:p>
        </c:txPr>
        <c:crossAx val="48650112"/>
        <c:crosses val="autoZero"/>
        <c:crossBetween val="between"/>
      </c:valAx>
      <c:spPr>
        <a:noFill/>
        <a:ln w="0">
          <a:solidFill>
            <a:srgbClr val="FFFFFF"/>
          </a:solidFill>
          <a:prstDash val="solid"/>
        </a:ln>
      </c:spPr>
    </c:plotArea>
    <c:plotVisOnly val="1"/>
    <c:dispBlanksAs val="zero"/>
    <c:showDLblsOverMax val="1"/>
  </c:chart>
  <c:spPr>
    <a:solidFill>
      <a:srgbClr val="FFFFFF"/>
    </a:solidFill>
    <a:ln w="0">
      <a:solidFill>
        <a:srgbClr val="FFFFFF"/>
      </a:solid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presenter: Yuyang | Target time: 0:35</a:t>
            </a:r>
          </a:p>
          <a:p>
            <a:endParaRPr/>
          </a:p>
          <a:p>
            <a:r>
              <a:t>Good morning. We are Sustainability Matter: Yuyang Chen, Zhaihan Gong, and Alan Yang. Our project is called Beyond University Rankings. We started with a simple observation: students do not apply to an institution in the abstract. They apply to a specific program, with a specific curriculum, price, format, research environment, and career path. Our goal was to make that choice more transparent for sustainability-focused master’s programs worldwide.</a:t>
            </a:r>
          </a:p>
          <a:p>
            <a:endParaRPr/>
          </a:p>
          <a:p>
            <a:r>
              <a:t>Today we will show the motivation, our scope and design decisions, the data and modeling pipeline we built, what the Reddit analysis adds, how the scoring system protects against false precision, and how we can turn this research prototype into a dynamic decision tool.</a:t>
            </a:r>
          </a:p>
          <a:p>
            <a:endParaRPr/>
          </a:p>
          <a:p>
            <a:r>
              <a:t>[Sources]</a:t>
            </a:r>
          </a:p>
          <a:p>
            <a:r>
              <a:t>- Project Proposal BUSA 649, title and team section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presenter: Yuyang | Target time: 0:55</a:t>
            </a:r>
          </a:p>
          <a:p>
            <a:endParaRPr dirty="0"/>
          </a:p>
          <a:p>
            <a:r>
              <a:rPr dirty="0"/>
              <a:t>The reason for doing this project is the gap shown here. QS Sustainability, THE Impact, AASHE STARS, and UN PRME provide useful institutional signals. But they cannot answer the decision a student is actually making. A highly ranked university may still offer a program that is too expensive, too theoretical, too short, or poorly aligned with a student’s goals.</a:t>
            </a:r>
          </a:p>
          <a:p>
            <a:endParaRPr dirty="0"/>
          </a:p>
          <a:p>
            <a:r>
              <a:rPr dirty="0"/>
              <a:t>This is especially difficult for international students. The information is fragmented across program pages, tuition pages, rankings, sustainability reports, research databases, and online communities. Our project brings these layers together, while keeping the distinction between institution-level evidence and program-level evidence explicit.</a:t>
            </a:r>
          </a:p>
          <a:p>
            <a:endParaRPr dirty="0"/>
          </a:p>
          <a:p>
            <a:r>
              <a:rPr dirty="0"/>
              <a:t>To close that gap, we needed a team that could connect data, modeling, and user experience.</a:t>
            </a:r>
          </a:p>
          <a:p>
            <a:endParaRPr dirty="0"/>
          </a:p>
          <a:p>
            <a:r>
              <a:rPr dirty="0"/>
              <a:t>[Sources]</a:t>
            </a:r>
          </a:p>
          <a:p>
            <a:r>
              <a:rPr dirty="0"/>
              <a:t>- Project Proposal BUSA 649, executive summary and problem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presenter: Yuyang | Target time: 0:45</a:t>
            </a:r>
          </a:p>
          <a:p>
            <a:endParaRPr/>
          </a:p>
          <a:p>
            <a:r>
              <a:t>Our team name is Sustainability Matter, and our roles were designed to cover the full lifecycle of the project. I coordinated the project, final report structure, and the user-facing dashboard and visualization. Zhaihan focused on data cleaning, normalization, the data dictionary, and missing-data controls. Alan focused on the ranking model, weights, sensitivity analysis, and validation.</a:t>
            </a:r>
          </a:p>
          <a:p>
            <a:endParaRPr/>
          </a:p>
          <a:p>
            <a:r>
              <a:t>These responsibilities overlap in a useful way. The same people who built the data and scoring logic also had to explain it to users. That is why auditability, missing-data labels, and visible sources became design requirements, not afterthoughts.</a:t>
            </a:r>
          </a:p>
          <a:p>
            <a:endParaRPr/>
          </a:p>
          <a:p>
            <a:r>
              <a:t>Our first shared decision was where this comparison should begin—and where it should stop.</a:t>
            </a:r>
          </a:p>
          <a:p>
            <a:endParaRPr/>
          </a:p>
          <a:p>
            <a:r>
              <a:t>[Sources]</a:t>
            </a:r>
          </a:p>
          <a:p>
            <a:r>
              <a:t>- Project Proposal BUSA 649, team roles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presenter: Zhaihan | Target time: 1:05</a:t>
            </a:r>
          </a:p>
          <a:p>
            <a:endParaRPr/>
          </a:p>
          <a:p>
            <a:r>
              <a:t>Defining the scope was one of the most important project decisions. Our initial source universe produced 97 candidates. We then created a fixed, synchronized analytical sample: the first 30 records in QS Sustainability order, plus the 30 highest-ranked THE records not already selected by QS.</a:t>
            </a:r>
          </a:p>
          <a:p>
            <a:endParaRPr/>
          </a:p>
          <a:p>
            <a:r>
              <a:t>That produces 60 distinct programs in 21 countries. We keep one sustainability-related master’s route per selected institution so every workbook and model uses the same program ID. The verification stage is now complete, with exceptions and judgment calls recorded in the audit trail instead of hidden.</a:t>
            </a:r>
          </a:p>
          <a:p>
            <a:endParaRPr/>
          </a:p>
          <a:p>
            <a:r>
              <a:t>This is a selected global sample, not an attempt to rank every sustainability master’s program in the world. That boundary keeps the comparison manageable and auditable.</a:t>
            </a:r>
          </a:p>
          <a:p>
            <a:endParaRPr/>
          </a:p>
          <a:p>
            <a:r>
              <a:t>A completed verification stage does not mean the work was easy. The next slide shows the difficulties we met.</a:t>
            </a:r>
          </a:p>
          <a:p>
            <a:endParaRPr/>
          </a:p>
          <a:p>
            <a:r>
              <a:t>[Sources]</a:t>
            </a:r>
          </a:p>
          <a:p>
            <a:r>
              <a:t>- program_source_data_top60_qs30_the30.xlsx, Summary sheet</a:t>
            </a:r>
          </a:p>
          <a:p>
            <a:r>
              <a:t>- program_scores.json, synchronized program universe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presenter: Zhaihan | Target time: 0:55</a:t>
            </a:r>
          </a:p>
          <a:p>
            <a:endParaRPr/>
          </a:p>
          <a:p>
            <a:r>
              <a:t>Verification was the hardest part of the project. Official pages used inconsistent structures, dynamic content, and changing labels, so automation could not replace manual review.</a:t>
            </a:r>
          </a:p>
          <a:p>
            <a:endParaRPr/>
          </a:p>
          <a:p>
            <a:r>
              <a:t>Scope was another challenge. Evidence published for a campus, school, or institution could not automatically be applied to a specific program. We also had to resolve aliases, translated titles, and the difference between research-oriented and taught routes.</a:t>
            </a:r>
          </a:p>
          <a:p>
            <a:endParaRPr/>
          </a:p>
          <a:p>
            <a:r>
              <a:t>Finally, missing information had several meanings. Not ranked, not published, ranked after 200, blocked, and not collected could not be treated as the same value. OpenAlex limits and uneven Reddit coverage also reduced automation for some institutions.</a:t>
            </a:r>
          </a:p>
          <a:p>
            <a:endParaRPr/>
          </a:p>
          <a:p>
            <a:r>
              <a:t>These difficulties shaped the controls built into the pipeline we show next.</a:t>
            </a:r>
          </a:p>
          <a:p>
            <a:endParaRPr/>
          </a:p>
          <a:p>
            <a:r>
              <a:t>[Sources]</a:t>
            </a:r>
          </a:p>
          <a:p>
            <a:r>
              <a:t>- program_source_data_top60_qs30_the30.xlsx, URL and verification audits</a:t>
            </a:r>
          </a:p>
          <a:p>
            <a:r>
              <a:t>- PROGRAM_SCORING_PIPELINE.md, verification and missing-data rules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presenter: Zhaihan | Target time: 1:05</a:t>
            </a:r>
          </a:p>
          <a:p>
            <a:endParaRPr/>
          </a:p>
          <a:p>
            <a:r>
              <a:t>This is the end-to-end process we implemented. We begin by selecting a fixed universe from QS and THE sustainability sources. We collect program-level information from official university pages and institutional context from QS, THE, AASHE STARS, UN PRME, and OpenAlex. Reddit is collected separately for community discussion.</a:t>
            </a:r>
          </a:p>
          <a:p>
            <a:endParaRPr/>
          </a:p>
          <a:p>
            <a:r>
              <a:t>The normalization stage is essential. We align institution aliases, program IDs, categories, and missing-data states before any analysis. Then we build five-year ranking histories, run sentiment and topic models, and calculate validated score components.</a:t>
            </a:r>
          </a:p>
          <a:p>
            <a:endParaRPr/>
          </a:p>
          <a:p>
            <a:r>
              <a:t>Finally, we package the results as auditable Excel workbooks, quality-control files, reproducibility scripts, and a JSON contract for the website. Each stage leaves enough evidence to trace the output back to its source.</a:t>
            </a:r>
          </a:p>
          <a:p>
            <a:endParaRPr/>
          </a:p>
          <a:p>
            <a:r>
              <a:t>With the process established, we can now see exactly what evidence it produced.</a:t>
            </a:r>
          </a:p>
          <a:p>
            <a:endParaRPr/>
          </a:p>
          <a:p>
            <a:r>
              <a:t>[Sources]</a:t>
            </a:r>
          </a:p>
          <a:p>
            <a:r>
              <a:t>- Project build scripts and output packages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presenter: Zhaihan | Target time: 0:55</a:t>
            </a:r>
          </a:p>
          <a:p>
            <a:endParaRPr/>
          </a:p>
          <a:p>
            <a:r>
              <a:t>The synchronized source workbook is the backbone of the project. It contains one official-source program detail row for every selected program, covering fields such as duration, mode, tuition, curriculum, experiential learning, thesis or capstone options, requirements, and source URLs.</a:t>
            </a:r>
          </a:p>
          <a:p>
            <a:endParaRPr/>
          </a:p>
          <a:p>
            <a:r>
              <a:t>Fifty-three program URLs passed automated fetch checks; seven are explicitly marked for manual opening rather than being treated as missing or invalid. At the institutional level, we verified 31 UN PRME signatory matches, 11 published AASHE ratings, and collected 28 OpenAlex institution matches before the anonymous API quota was reached.</a:t>
            </a:r>
          </a:p>
          <a:p>
            <a:endParaRPr/>
          </a:p>
          <a:p>
            <a:r>
              <a:t>The screenshot shows the summary and audit logic inside the workbook. That audit layer is as important as the values themselves.</a:t>
            </a:r>
          </a:p>
          <a:p>
            <a:endParaRPr/>
          </a:p>
          <a:p>
            <a:r>
              <a:t>Official sources show what programs and institutions publish. The next layer shows what the student community discusses.</a:t>
            </a:r>
          </a:p>
          <a:p>
            <a:endParaRPr/>
          </a:p>
          <a:p>
            <a:r>
              <a:t>[Sources]</a:t>
            </a:r>
          </a:p>
          <a:p>
            <a:r>
              <a:t>- program_source_data_top60_qs30_the30.xlsx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presenter: Alan | Target time: 1:05</a:t>
            </a:r>
          </a:p>
          <a:p>
            <a:endParaRPr/>
          </a:p>
          <a:p>
            <a:r>
              <a:t>Sentiment is only one layer of the text analysis. Most of the eligible conversation is about admissions, not sustainability content. That is why we also classify primary topics, explicit admission outcomes, and concern flags.</a:t>
            </a:r>
          </a:p>
          <a:p>
            <a:endParaRPr/>
          </a:p>
          <a:p>
            <a:r>
              <a:t>For example, the analysis identifies 873 accepted or offer mentions. It also distinguishes rejected, waitlisted, pending, and mixed outcomes. Separately, it flags 682 cost concerns and 586 anxiety or uncertainty signals. These can appear in neutral-sounding language, so a simple positive-versus-negative score would miss them.</a:t>
            </a:r>
          </a:p>
          <a:p>
            <a:endParaRPr/>
          </a:p>
          <a:p>
            <a:r>
              <a:t>The primary model is VADER 3.3.2 applied to post titles, with a documented graduate-admissions lexicon extension. A 120-row stratified calibration sample is available locally for human validation before we present automated sentiment as a final result.</a:t>
            </a:r>
          </a:p>
          <a:p>
            <a:endParaRPr/>
          </a:p>
          <a:p>
            <a:r>
              <a:t>These community signals stay separate from the academic model. The next slide shows how the scoring pipeline handles program evidence.</a:t>
            </a:r>
          </a:p>
          <a:p>
            <a:endParaRPr/>
          </a:p>
          <a:p>
            <a:r>
              <a:t>[Sources]</a:t>
            </a:r>
          </a:p>
          <a:p>
            <a:r>
              <a:t>- reddit_topic_summary.csv</a:t>
            </a:r>
          </a:p>
          <a:p>
            <a:r>
              <a:t>- reddit_outcome_summary.csv</a:t>
            </a:r>
          </a:p>
          <a:p>
            <a:r>
              <a:t>- reddit_concern_summary.csv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presenter: Alan | Target time: 1:25</a:t>
            </a:r>
          </a:p>
          <a:p>
            <a:endParaRPr/>
          </a:p>
          <a:p>
            <a:r>
              <a:t>The scoring model separates research-oriented and taught or professional routes. Both include 30 percent institution strength, calculated from four five-year series: QS World, THE World, QS Sustainability, and THE Impact. The remaining weights reflect the route. Research programs emphasize the research environment and research design. Taught programs emphasize curriculum relevance and experiential learning.</a:t>
            </a:r>
          </a:p>
          <a:p>
            <a:endParaRPr/>
          </a:p>
          <a:p>
            <a:r>
              <a:t>For incomplete evidence, we calculate an observed score from available components, then shrink it toward a neutral score of 50 according to coverage. This avoids rewarding or punishing a program simply because data are missing.</a:t>
            </a:r>
          </a:p>
          <a:p>
            <a:endParaRPr/>
          </a:p>
          <a:p>
            <a:r>
              <a:t>Publication gates then control what users can see. Below 55 percent coverage, there is no public score. From 55 to just under 70, the score is provisional and has no ordinal rank. Ranks require at least 70 percent coverage, and hard gates override coverage.</a:t>
            </a:r>
          </a:p>
          <a:p>
            <a:endParaRPr/>
          </a:p>
          <a:p>
            <a:r>
              <a:t>Today all 60 routes remain unclassified, so final scores and ranks are intentionally blank. That is expected behavior, not a failure.</a:t>
            </a:r>
          </a:p>
          <a:p>
            <a:endParaRPr/>
          </a:p>
          <a:p>
            <a:r>
              <a:t>That release discipline creates value even before a ranking is published.</a:t>
            </a:r>
          </a:p>
          <a:p>
            <a:endParaRPr/>
          </a:p>
          <a:p>
            <a:r>
              <a:t>[Sources]</a:t>
            </a:r>
          </a:p>
          <a:p>
            <a:r>
              <a:t>- build_program_scoring_pipeline.mjs</a:t>
            </a:r>
          </a:p>
          <a:p>
            <a:r>
              <a:t>- pipeline_audit_report.json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Alan</a:t>
            </a:r>
          </a:p>
          <a:p>
            <a:endParaRPr/>
          </a:p>
          <a:p>
            <a:r>
              <a:t>This slide is an added transition for the live demo. It does not change the timing or pacing of the existing presentation.</a:t>
            </a:r>
          </a:p>
          <a:p>
            <a:endParaRPr/>
          </a:p>
          <a:p>
            <a:r>
              <a:t>Demo flow:</a:t>
            </a:r>
          </a:p>
          <a:p>
            <a:r>
              <a:t>1. Search for one program and open the synchronized profile.</a:t>
            </a:r>
          </a:p>
          <a:p>
            <a:r>
              <a:t>2. Show the official source links, coverage, components, and validation warnings.</a:t>
            </a:r>
          </a:p>
          <a:p>
            <a:r>
              <a:t>3. Explain the track-specific score breakdown and preview how adjustable weights will work in the future dynamic model.</a:t>
            </a:r>
          </a:p>
          <a:p>
            <a:endParaRPr/>
          </a:p>
          <a:p>
            <a:r>
              <a:t>[Sources]</a:t>
            </a:r>
          </a:p>
          <a:p>
            <a:r>
              <a:t>- FRONTEND_HANDOFF.md</a:t>
            </a:r>
          </a:p>
          <a:p>
            <a:r>
              <a:t>- outputs/frontend_scoring_handoff/program_scores.json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presenter: Yuyang | Target time: 0:55</a:t>
            </a:r>
          </a:p>
          <a:p>
            <a:endParaRPr/>
          </a:p>
          <a:p>
            <a:r>
              <a:t>The benefits extend beyond a final leaderboard. For students, the project supports comparison by fit rather than prestige alone. Users can see the components, coverage, warnings, and sources behind a result.</a:t>
            </a:r>
          </a:p>
          <a:p>
            <a:endParaRPr/>
          </a:p>
          <a:p>
            <a:r>
              <a:t>For SUSANhub and academic advisors, the value is an explainable evidence base with separate institutional, program, and community layers. For future maintainers, the scripts, workbooks, QA files, and frontend JSON form a reusable architecture. The website does not need to read Excel directly; later scoring updates can replace a single verified JSON file.</a:t>
            </a:r>
          </a:p>
          <a:p>
            <a:endParaRPr/>
          </a:p>
          <a:p>
            <a:r>
              <a:t>The current state is useful and honest: verification is complete, 60 programs are loaded, and the scoring architecture is ready for the next build.</a:t>
            </a:r>
          </a:p>
          <a:p>
            <a:endParaRPr/>
          </a:p>
          <a:p>
            <a:r>
              <a:t>Unlocking the full impact now requires a clear path from completed verification to automation and personalization.</a:t>
            </a:r>
          </a:p>
          <a:p>
            <a:endParaRPr/>
          </a:p>
          <a:p>
            <a:r>
              <a:t>[Sources]</a:t>
            </a:r>
          </a:p>
          <a:p>
            <a:r>
              <a:t>- FRONTEND_HANDOFF.md</a:t>
            </a:r>
          </a:p>
          <a:p>
            <a:r>
              <a:t>- project output packages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presenter: Yuyang | Target time: 0:55</a:t>
            </a:r>
          </a:p>
          <a:p>
            <a:endParaRPr dirty="0"/>
          </a:p>
          <a:p>
            <a:r>
              <a:rPr dirty="0"/>
              <a:t>Our verified foundation is complete: the 60-program universe is locked, official sources have been audited, exceptions are documented, and the scoring pipeline is operational.</a:t>
            </a:r>
          </a:p>
          <a:p>
            <a:endParaRPr dirty="0"/>
          </a:p>
          <a:p>
            <a:r>
              <a:rPr dirty="0"/>
              <a:t>The next stage is automation. We can schedule source collection, monitor URLs and APIs, alert on entity-match or data-quality changes, and publish versioned workbooks and JSON only after automated QA passes.</a:t>
            </a:r>
          </a:p>
          <a:p>
            <a:endParaRPr dirty="0"/>
          </a:p>
          <a:p>
            <a:r>
              <a:rPr dirty="0"/>
              <a:t>The final stage is a dynamic model. Users could adjust priorities for research, cost, experience, career evidence, or sustainability engagement; see sensitivity and confidence views; and compare programs without pretending that one weighting scheme fits everyone.</a:t>
            </a:r>
          </a:p>
          <a:p>
            <a:endParaRPr dirty="0"/>
          </a:p>
          <a:p>
            <a:r>
              <a:rPr dirty="0"/>
              <a:t>The final goal is not a leaderboard people must accept. It is a transparent decision system they can inspect, question, and improve.</a:t>
            </a:r>
          </a:p>
          <a:p>
            <a:endParaRPr dirty="0"/>
          </a:p>
          <a:p>
            <a:r>
              <a:rPr dirty="0"/>
              <a:t>[Sources]</a:t>
            </a:r>
          </a:p>
          <a:p>
            <a:r>
              <a:rPr dirty="0"/>
              <a:t>- PROGRAM_SCORING_PIPELINE.md</a:t>
            </a:r>
          </a:p>
          <a:p>
            <a:r>
              <a:rPr dirty="0"/>
              <a:t>- project roadmap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C615E63-A865-4EF6-965D-6CAE3746B98F}"/>
              </a:ext>
            </a:extLst>
          </p:cNvPr>
          <p:cNvSpPr>
            <a:spLocks noGrp="1"/>
          </p:cNvSpPr>
          <p:nvPr/>
        </p:nvSpPr>
        <p:spPr>
          <a:xfrm>
            <a:off x="0" y="0"/>
            <a:ext cx="152400" cy="6858000"/>
          </a:xfrm>
          <a:prstGeom prst="rect">
            <a:avLst/>
          </a:prstGeom>
          <a:solidFill>
            <a:srgbClr val="13847D"/>
          </a:solidFill>
          <a:ln w="0">
            <a:solidFill>
              <a:srgbClr val="13847D"/>
            </a:solidFill>
            <a:prstDash val="solid"/>
          </a:ln>
        </p:spPr>
      </p:sp>
      <p:sp>
        <p:nvSpPr>
          <p:cNvPr id="2" name="Rectangle 1">
            <a:extLst>
              <a:ext uri="{FF2B5EF4-FFF2-40B4-BE49-F238E27FC236}">
                <a16:creationId xmlns:a16="http://schemas.microsoft.com/office/drawing/2014/main" id="{032D5C80-A02C-43C3-8D91-8C8213B92BCA}"/>
              </a:ext>
            </a:extLst>
          </p:cNvPr>
          <p:cNvSpPr>
            <a:spLocks noGrp="1"/>
          </p:cNvSpPr>
          <p:nvPr/>
        </p:nvSpPr>
        <p:spPr>
          <a:xfrm>
            <a:off x="457200" y="400050"/>
            <a:ext cx="4953000" cy="333375"/>
          </a:xfrm>
          <a:prstGeom prst="rect">
            <a:avLst/>
          </a:prstGeom>
        </p:spPr>
        <p:txBody>
          <a:bodyPr wrap="square" lIns="0" tIns="0" rIns="0" bIns="0" anchor="t">
            <a:noAutofit/>
          </a:bodyPr>
          <a:lstStyle/>
          <a:p>
            <a:pPr algn="l">
              <a:buNone/>
              <a:defRPr sz="1350" b="1" i="0">
                <a:solidFill>
                  <a:srgbClr val="13847D"/>
                </a:solidFill>
                <a:latin typeface="Arial"/>
                <a:ea typeface="Arial"/>
                <a:cs typeface="Arial"/>
              </a:defRPr>
            </a:pPr>
            <a:r>
              <a:rPr sz="1350" b="1" i="0">
                <a:solidFill>
                  <a:srgbClr val="13847D"/>
                </a:solidFill>
                <a:latin typeface="Arial"/>
                <a:ea typeface="Arial"/>
                <a:cs typeface="Arial"/>
              </a:rPr>
              <a:t>BUSA 649 COMMUNITY PROJECT</a:t>
            </a:r>
          </a:p>
        </p:txBody>
      </p:sp>
      <p:sp>
        <p:nvSpPr>
          <p:cNvPr id="3" name="Rectangle 2">
            <a:extLst>
              <a:ext uri="{FF2B5EF4-FFF2-40B4-BE49-F238E27FC236}">
                <a16:creationId xmlns:a16="http://schemas.microsoft.com/office/drawing/2014/main" id="{90B85FD0-7817-421E-8485-53C5F2FE3B7E}"/>
              </a:ext>
            </a:extLst>
          </p:cNvPr>
          <p:cNvSpPr>
            <a:spLocks noGrp="1"/>
          </p:cNvSpPr>
          <p:nvPr/>
        </p:nvSpPr>
        <p:spPr>
          <a:xfrm>
            <a:off x="8477250" y="400050"/>
            <a:ext cx="3238500" cy="333375"/>
          </a:xfrm>
          <a:prstGeom prst="rect">
            <a:avLst/>
          </a:prstGeom>
        </p:spPr>
        <p:txBody>
          <a:bodyPr wrap="square" lIns="0" tIns="0" rIns="0" bIns="0" anchor="t">
            <a:noAutofit/>
          </a:bodyPr>
          <a:lstStyle/>
          <a:p>
            <a:pPr algn="r">
              <a:buNone/>
              <a:defRPr sz="1350" b="1" i="0">
                <a:solidFill>
                  <a:srgbClr val="101214"/>
                </a:solidFill>
                <a:latin typeface="Arial"/>
                <a:ea typeface="Arial"/>
                <a:cs typeface="Arial"/>
              </a:defRPr>
            </a:pPr>
            <a:r>
              <a:rPr sz="1350" b="1" i="0">
                <a:solidFill>
                  <a:srgbClr val="101214"/>
                </a:solidFill>
                <a:latin typeface="Arial"/>
                <a:ea typeface="Arial"/>
                <a:cs typeface="Arial"/>
              </a:rPr>
              <a:t>SUSTAINABILITY MATTER</a:t>
            </a:r>
          </a:p>
        </p:txBody>
      </p:sp>
      <p:sp>
        <p:nvSpPr>
          <p:cNvPr id="4" name="cover-title">
            <a:extLst>
              <a:ext uri="{FF2B5EF4-FFF2-40B4-BE49-F238E27FC236}">
                <a16:creationId xmlns:a16="http://schemas.microsoft.com/office/drawing/2014/main" id="{48201712-2619-49CD-8097-0A5B9CB16F60}"/>
              </a:ext>
            </a:extLst>
          </p:cNvPr>
          <p:cNvSpPr>
            <a:spLocks noGrp="1"/>
          </p:cNvSpPr>
          <p:nvPr/>
        </p:nvSpPr>
        <p:spPr>
          <a:xfrm>
            <a:off x="457200" y="1952625"/>
            <a:ext cx="8572500" cy="2095500"/>
          </a:xfrm>
          <a:prstGeom prst="rect">
            <a:avLst/>
          </a:prstGeom>
        </p:spPr>
        <p:txBody>
          <a:bodyPr wrap="square" lIns="0" tIns="0" rIns="0" bIns="0" anchor="b">
            <a:noAutofit/>
          </a:bodyPr>
          <a:lstStyle/>
          <a:p>
            <a:pPr algn="l">
              <a:buNone/>
              <a:defRPr sz="5700" b="1" i="0">
                <a:solidFill>
                  <a:srgbClr val="101214"/>
                </a:solidFill>
                <a:latin typeface="Arial"/>
                <a:ea typeface="Arial"/>
                <a:cs typeface="Arial"/>
              </a:defRPr>
            </a:pPr>
            <a:r>
              <a:rPr sz="5700" b="1" i="0">
                <a:solidFill>
                  <a:srgbClr val="101214"/>
                </a:solidFill>
                <a:latin typeface="Arial"/>
                <a:ea typeface="Arial"/>
                <a:cs typeface="Arial"/>
              </a:rPr>
              <a:t>Beyond University
Rankings</a:t>
            </a:r>
          </a:p>
        </p:txBody>
      </p:sp>
      <p:sp>
        <p:nvSpPr>
          <p:cNvPr id="5" name="Rectangle 4">
            <a:extLst>
              <a:ext uri="{FF2B5EF4-FFF2-40B4-BE49-F238E27FC236}">
                <a16:creationId xmlns:a16="http://schemas.microsoft.com/office/drawing/2014/main" id="{C6F781BA-D7F9-4AD8-B92F-242665CD23F1}"/>
              </a:ext>
            </a:extLst>
          </p:cNvPr>
          <p:cNvSpPr>
            <a:spLocks noGrp="1"/>
          </p:cNvSpPr>
          <p:nvPr/>
        </p:nvSpPr>
        <p:spPr>
          <a:xfrm>
            <a:off x="495300" y="4324350"/>
            <a:ext cx="8858250" cy="714375"/>
          </a:xfrm>
          <a:prstGeom prst="rect">
            <a:avLst/>
          </a:prstGeom>
        </p:spPr>
        <p:txBody>
          <a:bodyPr wrap="square" lIns="0" tIns="0" rIns="0" bIns="0" anchor="t">
            <a:noAutofit/>
          </a:bodyPr>
          <a:lstStyle/>
          <a:p>
            <a:pPr algn="l">
              <a:buNone/>
              <a:defRPr sz="2100" b="0" i="0">
                <a:solidFill>
                  <a:srgbClr val="5F6873"/>
                </a:solidFill>
                <a:latin typeface="Arial"/>
                <a:ea typeface="Arial"/>
                <a:cs typeface="Arial"/>
              </a:defRPr>
            </a:pPr>
            <a:r>
              <a:rPr sz="2100" b="0" i="0">
                <a:solidFill>
                  <a:srgbClr val="5F6873"/>
                </a:solidFill>
                <a:latin typeface="Arial"/>
                <a:ea typeface="Arial"/>
                <a:cs typeface="Arial"/>
              </a:rPr>
              <a:t>A transparent, student-centered comparison of global sustainability master’s programs</a:t>
            </a:r>
          </a:p>
        </p:txBody>
      </p:sp>
      <p:sp>
        <p:nvSpPr>
          <p:cNvPr id="6" name="Rectangle 5">
            <a:extLst>
              <a:ext uri="{FF2B5EF4-FFF2-40B4-BE49-F238E27FC236}">
                <a16:creationId xmlns:a16="http://schemas.microsoft.com/office/drawing/2014/main" id="{A2208876-938B-4BBE-BF5D-6FF3CEF57B10}"/>
              </a:ext>
            </a:extLst>
          </p:cNvPr>
          <p:cNvSpPr>
            <a:spLocks noGrp="1"/>
          </p:cNvSpPr>
          <p:nvPr/>
        </p:nvSpPr>
        <p:spPr>
          <a:xfrm>
            <a:off x="495300" y="5372100"/>
            <a:ext cx="11220450" cy="9525"/>
          </a:xfrm>
          <a:prstGeom prst="rect">
            <a:avLst/>
          </a:prstGeom>
          <a:solidFill>
            <a:srgbClr val="B8BCC4"/>
          </a:solidFill>
          <a:ln w="0">
            <a:solidFill>
              <a:srgbClr val="B8BCC4"/>
            </a:solidFill>
            <a:prstDash val="solid"/>
          </a:ln>
        </p:spPr>
      </p:sp>
      <p:sp>
        <p:nvSpPr>
          <p:cNvPr id="7" name="Rectangle 6">
            <a:extLst>
              <a:ext uri="{FF2B5EF4-FFF2-40B4-BE49-F238E27FC236}">
                <a16:creationId xmlns:a16="http://schemas.microsoft.com/office/drawing/2014/main" id="{5885A517-9B8E-4032-AE11-6F06B48D84A0}"/>
              </a:ext>
            </a:extLst>
          </p:cNvPr>
          <p:cNvSpPr>
            <a:spLocks noGrp="1"/>
          </p:cNvSpPr>
          <p:nvPr/>
        </p:nvSpPr>
        <p:spPr>
          <a:xfrm>
            <a:off x="495300" y="5619750"/>
            <a:ext cx="7429500" cy="342900"/>
          </a:xfrm>
          <a:prstGeom prst="rect">
            <a:avLst/>
          </a:prstGeom>
        </p:spPr>
        <p:txBody>
          <a:bodyPr wrap="square" lIns="0" tIns="0" rIns="0" bIns="0" anchor="t">
            <a:noAutofit/>
          </a:bodyPr>
          <a:lstStyle/>
          <a:p>
            <a:pPr algn="l">
              <a:buNone/>
              <a:defRPr sz="1575" b="1" i="0">
                <a:solidFill>
                  <a:srgbClr val="101214"/>
                </a:solidFill>
                <a:latin typeface="Arial"/>
                <a:ea typeface="Arial"/>
                <a:cs typeface="Arial"/>
              </a:defRPr>
            </a:pPr>
            <a:r>
              <a:rPr sz="1575" b="1" i="0">
                <a:solidFill>
                  <a:srgbClr val="101214"/>
                </a:solidFill>
                <a:latin typeface="Arial"/>
                <a:ea typeface="Arial"/>
                <a:cs typeface="Arial"/>
              </a:rPr>
              <a:t>Yuyang Chen  ·  Zhaihan Gong  ·  Alan Yang</a:t>
            </a:r>
          </a:p>
        </p:txBody>
      </p:sp>
      <p:sp>
        <p:nvSpPr>
          <p:cNvPr id="8" name="Rectangle 7">
            <a:extLst>
              <a:ext uri="{FF2B5EF4-FFF2-40B4-BE49-F238E27FC236}">
                <a16:creationId xmlns:a16="http://schemas.microsoft.com/office/drawing/2014/main" id="{B53E29B2-218E-42A2-A762-783444E81750}"/>
              </a:ext>
            </a:extLst>
          </p:cNvPr>
          <p:cNvSpPr>
            <a:spLocks noGrp="1"/>
          </p:cNvSpPr>
          <p:nvPr/>
        </p:nvSpPr>
        <p:spPr>
          <a:xfrm>
            <a:off x="9334500" y="5619750"/>
            <a:ext cx="2381250" cy="342900"/>
          </a:xfrm>
          <a:prstGeom prst="rect">
            <a:avLst/>
          </a:prstGeom>
        </p:spPr>
        <p:txBody>
          <a:bodyPr wrap="square" lIns="0" tIns="0" rIns="0" bIns="0" anchor="t">
            <a:noAutofit/>
          </a:bodyPr>
          <a:lstStyle/>
          <a:p>
            <a:pPr algn="r">
              <a:buNone/>
              <a:defRPr sz="1575" b="0" i="0">
                <a:solidFill>
                  <a:srgbClr val="5F6873"/>
                </a:solidFill>
                <a:latin typeface="Arial"/>
                <a:ea typeface="Arial"/>
                <a:cs typeface="Arial"/>
              </a:defRPr>
            </a:pPr>
            <a:r>
              <a:rPr sz="1575" b="0" i="0" dirty="0">
                <a:solidFill>
                  <a:srgbClr val="5F6873"/>
                </a:solidFill>
                <a:latin typeface="Arial"/>
                <a:ea typeface="Arial"/>
                <a:cs typeface="Arial"/>
              </a:rPr>
              <a:t> July 2026</a:t>
            </a:r>
          </a:p>
        </p:txBody>
      </p:sp>
    </p:spTree>
    <p:extLst>
      <p:ext uri="{BB962C8B-B14F-4D97-AF65-F5344CB8AC3E}">
        <p14:creationId xmlns:p14="http://schemas.microsoft.com/office/powerpoint/2010/main" val="17862546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section-2">
            <a:extLst>
              <a:ext uri="{FF2B5EF4-FFF2-40B4-BE49-F238E27FC236}">
                <a16:creationId xmlns:a16="http://schemas.microsoft.com/office/drawing/2014/main" id="{739E21CD-DBD2-4A5C-9F00-C49A84F5AD72}"/>
              </a:ext>
            </a:extLst>
          </p:cNvPr>
          <p:cNvSpPr>
            <a:spLocks noGrp="1"/>
          </p:cNvSpPr>
          <p:nvPr/>
        </p:nvSpPr>
        <p:spPr>
          <a:xfrm>
            <a:off x="390525" y="295275"/>
            <a:ext cx="3238500" cy="209550"/>
          </a:xfrm>
          <a:prstGeom prst="rect">
            <a:avLst/>
          </a:prstGeom>
        </p:spPr>
        <p:txBody>
          <a:bodyPr wrap="square" lIns="0" tIns="0" rIns="0" bIns="0" anchor="t">
            <a:noAutofit/>
          </a:bodyPr>
          <a:lstStyle/>
          <a:p>
            <a:pPr algn="l">
              <a:buNone/>
              <a:defRPr sz="1050" b="1" i="0">
                <a:solidFill>
                  <a:srgbClr val="13847D"/>
                </a:solidFill>
                <a:latin typeface="Arial"/>
                <a:ea typeface="Arial"/>
                <a:cs typeface="Arial"/>
              </a:defRPr>
            </a:pPr>
            <a:r>
              <a:rPr sz="1050" b="1" i="0">
                <a:solidFill>
                  <a:srgbClr val="13847D"/>
                </a:solidFill>
                <a:latin typeface="Arial"/>
                <a:ea typeface="Arial"/>
                <a:cs typeface="Arial"/>
              </a:rPr>
              <a:t>WHY THIS PROJECT</a:t>
            </a:r>
          </a:p>
        </p:txBody>
      </p:sp>
      <p:sp>
        <p:nvSpPr>
          <p:cNvPr id="2" name="title-2">
            <a:extLst>
              <a:ext uri="{FF2B5EF4-FFF2-40B4-BE49-F238E27FC236}">
                <a16:creationId xmlns:a16="http://schemas.microsoft.com/office/drawing/2014/main" id="{15738133-90BF-498E-99E1-3EAFE0EBE95B}"/>
              </a:ext>
            </a:extLst>
          </p:cNvPr>
          <p:cNvSpPr>
            <a:spLocks noGrp="1"/>
          </p:cNvSpPr>
          <p:nvPr/>
        </p:nvSpPr>
        <p:spPr>
          <a:xfrm>
            <a:off x="390525" y="581025"/>
            <a:ext cx="11401425" cy="666750"/>
          </a:xfrm>
          <a:prstGeom prst="rect">
            <a:avLst/>
          </a:prstGeom>
        </p:spPr>
        <p:txBody>
          <a:bodyPr wrap="square" lIns="0" tIns="0" rIns="0" bIns="0" anchor="t">
            <a:noAutofit/>
          </a:bodyPr>
          <a:lstStyle/>
          <a:p>
            <a:pPr algn="l">
              <a:buNone/>
              <a:defRPr sz="3450" b="1" i="0">
                <a:solidFill>
                  <a:srgbClr val="101214"/>
                </a:solidFill>
                <a:latin typeface="Arial"/>
                <a:ea typeface="Arial"/>
                <a:cs typeface="Arial"/>
              </a:defRPr>
            </a:pPr>
            <a:r>
              <a:rPr sz="3300" b="1" i="0">
                <a:solidFill>
                  <a:srgbClr val="101214"/>
                </a:solidFill>
                <a:latin typeface="Arial"/>
                <a:ea typeface="Arial"/>
                <a:cs typeface="Arial"/>
              </a:rPr>
              <a:t>Students choose programs—not institutions</a:t>
            </a:r>
          </a:p>
        </p:txBody>
      </p:sp>
      <p:sp>
        <p:nvSpPr>
          <p:cNvPr id="3" name="Rectangle 2">
            <a:extLst>
              <a:ext uri="{FF2B5EF4-FFF2-40B4-BE49-F238E27FC236}">
                <a16:creationId xmlns:a16="http://schemas.microsoft.com/office/drawing/2014/main" id="{D452F64F-5FB9-48B9-8B1A-A7F066DB7311}"/>
              </a:ext>
            </a:extLst>
          </p:cNvPr>
          <p:cNvSpPr>
            <a:spLocks noGrp="1"/>
          </p:cNvSpPr>
          <p:nvPr/>
        </p:nvSpPr>
        <p:spPr>
          <a:xfrm>
            <a:off x="390525" y="1352550"/>
            <a:ext cx="11401425" cy="9525"/>
          </a:xfrm>
          <a:prstGeom prst="rect">
            <a:avLst/>
          </a:prstGeom>
          <a:solidFill>
            <a:srgbClr val="B8BCC4"/>
          </a:solidFill>
          <a:ln w="0">
            <a:solidFill>
              <a:srgbClr val="B8BCC4"/>
            </a:solidFill>
            <a:prstDash val="solid"/>
          </a:ln>
        </p:spPr>
      </p:sp>
      <p:sp>
        <p:nvSpPr>
          <p:cNvPr id="5" name="page-2">
            <a:extLst>
              <a:ext uri="{FF2B5EF4-FFF2-40B4-BE49-F238E27FC236}">
                <a16:creationId xmlns:a16="http://schemas.microsoft.com/office/drawing/2014/main" id="{0D0A3F13-873D-47F0-A095-0EB212AE00CA}"/>
              </a:ext>
            </a:extLst>
          </p:cNvPr>
          <p:cNvSpPr>
            <a:spLocks noGrp="1"/>
          </p:cNvSpPr>
          <p:nvPr/>
        </p:nvSpPr>
        <p:spPr>
          <a:xfrm>
            <a:off x="11201400" y="6305550"/>
            <a:ext cx="590550" cy="238125"/>
          </a:xfrm>
          <a:prstGeom prst="rect">
            <a:avLst/>
          </a:prstGeom>
        </p:spPr>
        <p:txBody>
          <a:bodyPr wrap="square" lIns="0" tIns="0" rIns="0" bIns="0" anchor="t">
            <a:noAutofit/>
          </a:bodyPr>
          <a:lstStyle/>
          <a:p>
            <a:pPr algn="r">
              <a:buNone/>
              <a:defRPr sz="975" b="0" i="0">
                <a:solidFill>
                  <a:srgbClr val="5F6873"/>
                </a:solidFill>
                <a:latin typeface="Arial"/>
                <a:ea typeface="Arial"/>
                <a:cs typeface="Arial"/>
              </a:defRPr>
            </a:pPr>
            <a:r>
              <a:rPr sz="975" b="0" i="0">
                <a:solidFill>
                  <a:srgbClr val="5F6873"/>
                </a:solidFill>
                <a:latin typeface="Arial"/>
                <a:ea typeface="Arial"/>
                <a:cs typeface="Arial"/>
              </a:rPr>
              <a:t>02</a:t>
            </a:r>
          </a:p>
        </p:txBody>
      </p:sp>
      <p:sp>
        <p:nvSpPr>
          <p:cNvPr id="6" name="Rectangle 5">
            <a:extLst>
              <a:ext uri="{FF2B5EF4-FFF2-40B4-BE49-F238E27FC236}">
                <a16:creationId xmlns:a16="http://schemas.microsoft.com/office/drawing/2014/main" id="{C02A5688-D7B9-48CA-82F1-D74F205900B5}"/>
              </a:ext>
            </a:extLst>
          </p:cNvPr>
          <p:cNvSpPr>
            <a:spLocks noGrp="1"/>
          </p:cNvSpPr>
          <p:nvPr/>
        </p:nvSpPr>
        <p:spPr>
          <a:xfrm>
            <a:off x="523875" y="2000250"/>
            <a:ext cx="3143250" cy="457200"/>
          </a:xfrm>
          <a:prstGeom prst="rect">
            <a:avLst/>
          </a:prstGeom>
        </p:spPr>
        <p:txBody>
          <a:bodyPr wrap="square" lIns="0" tIns="0" rIns="0" bIns="0" anchor="t">
            <a:noAutofit/>
          </a:bodyPr>
          <a:lstStyle/>
          <a:p>
            <a:pPr algn="l">
              <a:buNone/>
              <a:defRPr sz="1500" b="1" i="0">
                <a:solidFill>
                  <a:srgbClr val="5F6873"/>
                </a:solidFill>
                <a:latin typeface="Arial"/>
                <a:ea typeface="Arial"/>
                <a:cs typeface="Arial"/>
              </a:defRPr>
            </a:pPr>
            <a:r>
              <a:rPr sz="1500" b="1" i="0">
                <a:solidFill>
                  <a:srgbClr val="5F6873"/>
                </a:solidFill>
                <a:latin typeface="Arial"/>
                <a:ea typeface="Arial"/>
                <a:cs typeface="Arial"/>
              </a:rPr>
              <a:t>INSTITUTION</a:t>
            </a:r>
          </a:p>
        </p:txBody>
      </p:sp>
      <p:sp>
        <p:nvSpPr>
          <p:cNvPr id="7" name="Rectangle 6">
            <a:extLst>
              <a:ext uri="{FF2B5EF4-FFF2-40B4-BE49-F238E27FC236}">
                <a16:creationId xmlns:a16="http://schemas.microsoft.com/office/drawing/2014/main" id="{8DB3A7F9-D57A-4D07-9344-335B4DF0A81D}"/>
              </a:ext>
            </a:extLst>
          </p:cNvPr>
          <p:cNvSpPr>
            <a:spLocks noGrp="1"/>
          </p:cNvSpPr>
          <p:nvPr/>
        </p:nvSpPr>
        <p:spPr>
          <a:xfrm>
            <a:off x="523875" y="2543175"/>
            <a:ext cx="3714750" cy="1809750"/>
          </a:xfrm>
          <a:prstGeom prst="rect">
            <a:avLst/>
          </a:prstGeom>
        </p:spPr>
        <p:txBody>
          <a:bodyPr wrap="square" lIns="0" tIns="0" rIns="0" bIns="0" anchor="t">
            <a:noAutofit/>
          </a:bodyPr>
          <a:lstStyle/>
          <a:p>
            <a:pPr algn="l">
              <a:buNone/>
              <a:defRPr sz="2550" b="1" i="0">
                <a:solidFill>
                  <a:srgbClr val="19395E"/>
                </a:solidFill>
                <a:latin typeface="Arial"/>
                <a:ea typeface="Arial"/>
                <a:cs typeface="Arial"/>
              </a:defRPr>
            </a:pPr>
            <a:r>
              <a:rPr sz="2550" b="1" i="0">
                <a:solidFill>
                  <a:srgbClr val="19395E"/>
                </a:solidFill>
                <a:latin typeface="Arial"/>
                <a:ea typeface="Arial"/>
                <a:cs typeface="Arial"/>
              </a:rPr>
              <a:t>Reputation
Sustainability standing
Research scale</a:t>
            </a:r>
          </a:p>
        </p:txBody>
      </p:sp>
      <p:sp>
        <p:nvSpPr>
          <p:cNvPr id="8" name="Rectangle 7">
            <a:extLst>
              <a:ext uri="{FF2B5EF4-FFF2-40B4-BE49-F238E27FC236}">
                <a16:creationId xmlns:a16="http://schemas.microsoft.com/office/drawing/2014/main" id="{7FB67D5B-EBF7-4B70-99D7-832FD7A1A269}"/>
              </a:ext>
            </a:extLst>
          </p:cNvPr>
          <p:cNvSpPr>
            <a:spLocks noGrp="1"/>
          </p:cNvSpPr>
          <p:nvPr/>
        </p:nvSpPr>
        <p:spPr>
          <a:xfrm>
            <a:off x="4533900" y="2543175"/>
            <a:ext cx="1428750" cy="1143000"/>
          </a:xfrm>
          <a:prstGeom prst="rect">
            <a:avLst/>
          </a:prstGeom>
        </p:spPr>
        <p:txBody>
          <a:bodyPr wrap="square" lIns="0" tIns="0" rIns="0" bIns="0" anchor="t">
            <a:noAutofit/>
          </a:bodyPr>
          <a:lstStyle/>
          <a:p>
            <a:pPr algn="ctr">
              <a:buNone/>
              <a:defRPr sz="6600" b="1" i="0">
                <a:solidFill>
                  <a:srgbClr val="13847D"/>
                </a:solidFill>
                <a:latin typeface="Arial"/>
                <a:ea typeface="Arial"/>
                <a:cs typeface="Arial"/>
              </a:defRPr>
            </a:pPr>
            <a:r>
              <a:rPr sz="6600" b="1" i="0">
                <a:solidFill>
                  <a:srgbClr val="13847D"/>
                </a:solidFill>
                <a:latin typeface="Arial"/>
                <a:ea typeface="Arial"/>
                <a:cs typeface="Arial"/>
              </a:rPr>
              <a:t>≠</a:t>
            </a:r>
          </a:p>
        </p:txBody>
      </p:sp>
      <p:sp>
        <p:nvSpPr>
          <p:cNvPr id="9" name="Rectangle 8">
            <a:extLst>
              <a:ext uri="{FF2B5EF4-FFF2-40B4-BE49-F238E27FC236}">
                <a16:creationId xmlns:a16="http://schemas.microsoft.com/office/drawing/2014/main" id="{2963E88F-BEAD-4D2E-8477-F0954C8FA569}"/>
              </a:ext>
            </a:extLst>
          </p:cNvPr>
          <p:cNvSpPr>
            <a:spLocks noGrp="1"/>
          </p:cNvSpPr>
          <p:nvPr/>
        </p:nvSpPr>
        <p:spPr>
          <a:xfrm>
            <a:off x="6353175" y="2000250"/>
            <a:ext cx="3143250" cy="457200"/>
          </a:xfrm>
          <a:prstGeom prst="rect">
            <a:avLst/>
          </a:prstGeom>
        </p:spPr>
        <p:txBody>
          <a:bodyPr wrap="square" lIns="0" tIns="0" rIns="0" bIns="0" anchor="t">
            <a:noAutofit/>
          </a:bodyPr>
          <a:lstStyle/>
          <a:p>
            <a:pPr algn="l">
              <a:buNone/>
              <a:defRPr sz="1500" b="1" i="0">
                <a:solidFill>
                  <a:srgbClr val="5F6873"/>
                </a:solidFill>
                <a:latin typeface="Arial"/>
                <a:ea typeface="Arial"/>
                <a:cs typeface="Arial"/>
              </a:defRPr>
            </a:pPr>
            <a:r>
              <a:rPr sz="1500" b="1" i="0">
                <a:solidFill>
                  <a:srgbClr val="5F6873"/>
                </a:solidFill>
                <a:latin typeface="Arial"/>
                <a:ea typeface="Arial"/>
                <a:cs typeface="Arial"/>
              </a:rPr>
              <a:t>PROGRAM FIT</a:t>
            </a:r>
          </a:p>
        </p:txBody>
      </p:sp>
      <p:sp>
        <p:nvSpPr>
          <p:cNvPr id="10" name="Rectangle 9">
            <a:extLst>
              <a:ext uri="{FF2B5EF4-FFF2-40B4-BE49-F238E27FC236}">
                <a16:creationId xmlns:a16="http://schemas.microsoft.com/office/drawing/2014/main" id="{0005D6B4-1D40-4B49-B220-2ECC5EF4BCE3}"/>
              </a:ext>
            </a:extLst>
          </p:cNvPr>
          <p:cNvSpPr>
            <a:spLocks noGrp="1"/>
          </p:cNvSpPr>
          <p:nvPr/>
        </p:nvSpPr>
        <p:spPr>
          <a:xfrm>
            <a:off x="6353175" y="2543175"/>
            <a:ext cx="4953000" cy="1809750"/>
          </a:xfrm>
          <a:prstGeom prst="rect">
            <a:avLst/>
          </a:prstGeom>
        </p:spPr>
        <p:txBody>
          <a:bodyPr wrap="square" lIns="0" tIns="0" rIns="0" bIns="0" anchor="t">
            <a:noAutofit/>
          </a:bodyPr>
          <a:lstStyle/>
          <a:p>
            <a:pPr algn="l">
              <a:buNone/>
              <a:defRPr sz="2550" b="1" i="0">
                <a:solidFill>
                  <a:srgbClr val="101214"/>
                </a:solidFill>
                <a:latin typeface="Arial"/>
                <a:ea typeface="Arial"/>
                <a:cs typeface="Arial"/>
              </a:defRPr>
            </a:pPr>
            <a:r>
              <a:rPr sz="2550" b="1" i="0">
                <a:solidFill>
                  <a:srgbClr val="101214"/>
                </a:solidFill>
                <a:latin typeface="Arial"/>
                <a:ea typeface="Arial"/>
                <a:cs typeface="Arial"/>
              </a:rPr>
              <a:t>Curriculum
Affordability
Experience &amp; outcomes</a:t>
            </a:r>
          </a:p>
        </p:txBody>
      </p:sp>
      <p:sp>
        <p:nvSpPr>
          <p:cNvPr id="11" name="Rectangle 10">
            <a:extLst>
              <a:ext uri="{FF2B5EF4-FFF2-40B4-BE49-F238E27FC236}">
                <a16:creationId xmlns:a16="http://schemas.microsoft.com/office/drawing/2014/main" id="{27D1DF67-E301-41BA-93ED-0C39E4F50A7A}"/>
              </a:ext>
            </a:extLst>
          </p:cNvPr>
          <p:cNvSpPr>
            <a:spLocks noGrp="1"/>
          </p:cNvSpPr>
          <p:nvPr/>
        </p:nvSpPr>
        <p:spPr>
          <a:xfrm>
            <a:off x="390525" y="4895850"/>
            <a:ext cx="11401425" cy="1000125"/>
          </a:xfrm>
          <a:prstGeom prst="rect">
            <a:avLst/>
          </a:prstGeom>
          <a:solidFill>
            <a:srgbClr val="EAF5FB"/>
          </a:solidFill>
          <a:ln w="0">
            <a:solidFill>
              <a:srgbClr val="EAF5FB"/>
            </a:solidFill>
            <a:prstDash val="solid"/>
          </a:ln>
        </p:spPr>
      </p:sp>
      <p:sp>
        <p:nvSpPr>
          <p:cNvPr id="12" name="Rectangle 11">
            <a:extLst>
              <a:ext uri="{FF2B5EF4-FFF2-40B4-BE49-F238E27FC236}">
                <a16:creationId xmlns:a16="http://schemas.microsoft.com/office/drawing/2014/main" id="{36EB81DA-4114-4238-AB15-D0AF2D10CB26}"/>
              </a:ext>
            </a:extLst>
          </p:cNvPr>
          <p:cNvSpPr>
            <a:spLocks noGrp="1"/>
          </p:cNvSpPr>
          <p:nvPr/>
        </p:nvSpPr>
        <p:spPr>
          <a:xfrm>
            <a:off x="666750" y="5143500"/>
            <a:ext cx="10858500" cy="609600"/>
          </a:xfrm>
          <a:prstGeom prst="rect">
            <a:avLst/>
          </a:prstGeom>
        </p:spPr>
        <p:txBody>
          <a:bodyPr wrap="square" lIns="0" tIns="0" rIns="0" bIns="0" anchor="t">
            <a:noAutofit/>
          </a:bodyPr>
          <a:lstStyle/>
          <a:p>
            <a:pPr algn="l">
              <a:buNone/>
              <a:defRPr sz="1800" b="1" i="0">
                <a:solidFill>
                  <a:srgbClr val="19395E"/>
                </a:solidFill>
                <a:latin typeface="Arial"/>
                <a:ea typeface="Arial"/>
                <a:cs typeface="Arial"/>
              </a:defRPr>
            </a:pPr>
            <a:r>
              <a:rPr sz="1800" b="1" i="0">
                <a:solidFill>
                  <a:srgbClr val="19395E"/>
                </a:solidFill>
                <a:latin typeface="Arial"/>
                <a:ea typeface="Arial"/>
                <a:cs typeface="Arial"/>
              </a:rPr>
              <a:t>The gap creates a costly decision problem—especially for international students comparing countries, currencies, formats, and career paths.</a:t>
            </a:r>
          </a:p>
        </p:txBody>
      </p:sp>
    </p:spTree>
    <p:extLst>
      <p:ext uri="{BB962C8B-B14F-4D97-AF65-F5344CB8AC3E}">
        <p14:creationId xmlns:p14="http://schemas.microsoft.com/office/powerpoint/2010/main" val="1627039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section-3">
            <a:extLst>
              <a:ext uri="{FF2B5EF4-FFF2-40B4-BE49-F238E27FC236}">
                <a16:creationId xmlns:a16="http://schemas.microsoft.com/office/drawing/2014/main" id="{3BB1199B-EB9F-4513-ABC3-B41530999337}"/>
              </a:ext>
            </a:extLst>
          </p:cNvPr>
          <p:cNvSpPr>
            <a:spLocks noGrp="1"/>
          </p:cNvSpPr>
          <p:nvPr/>
        </p:nvSpPr>
        <p:spPr>
          <a:xfrm>
            <a:off x="390525" y="295275"/>
            <a:ext cx="3238500" cy="209550"/>
          </a:xfrm>
          <a:prstGeom prst="rect">
            <a:avLst/>
          </a:prstGeom>
        </p:spPr>
        <p:txBody>
          <a:bodyPr wrap="square" lIns="0" tIns="0" rIns="0" bIns="0" anchor="t">
            <a:noAutofit/>
          </a:bodyPr>
          <a:lstStyle/>
          <a:p>
            <a:pPr algn="l">
              <a:buNone/>
              <a:defRPr sz="1050" b="1" i="0">
                <a:solidFill>
                  <a:srgbClr val="13847D"/>
                </a:solidFill>
                <a:latin typeface="Arial"/>
                <a:ea typeface="Arial"/>
                <a:cs typeface="Arial"/>
              </a:defRPr>
            </a:pPr>
            <a:r>
              <a:rPr sz="1050" b="1" i="0">
                <a:solidFill>
                  <a:srgbClr val="13847D"/>
                </a:solidFill>
                <a:latin typeface="Arial"/>
                <a:ea typeface="Arial"/>
                <a:cs typeface="Arial"/>
              </a:rPr>
              <a:t>OUR GROUP</a:t>
            </a:r>
          </a:p>
        </p:txBody>
      </p:sp>
      <p:sp>
        <p:nvSpPr>
          <p:cNvPr id="2" name="title-3">
            <a:extLst>
              <a:ext uri="{FF2B5EF4-FFF2-40B4-BE49-F238E27FC236}">
                <a16:creationId xmlns:a16="http://schemas.microsoft.com/office/drawing/2014/main" id="{48F4CD0B-CB00-45B8-BAD5-8E06B80FEEF5}"/>
              </a:ext>
            </a:extLst>
          </p:cNvPr>
          <p:cNvSpPr>
            <a:spLocks noGrp="1"/>
          </p:cNvSpPr>
          <p:nvPr/>
        </p:nvSpPr>
        <p:spPr>
          <a:xfrm>
            <a:off x="390525" y="581025"/>
            <a:ext cx="11401425" cy="666750"/>
          </a:xfrm>
          <a:prstGeom prst="rect">
            <a:avLst/>
          </a:prstGeom>
        </p:spPr>
        <p:txBody>
          <a:bodyPr wrap="square" lIns="0" tIns="0" rIns="0" bIns="0" anchor="t">
            <a:noAutofit/>
          </a:bodyPr>
          <a:lstStyle/>
          <a:p>
            <a:pPr algn="l">
              <a:buNone/>
              <a:defRPr sz="3450" b="1" i="0">
                <a:solidFill>
                  <a:srgbClr val="101214"/>
                </a:solidFill>
                <a:latin typeface="Arial"/>
                <a:ea typeface="Arial"/>
                <a:cs typeface="Arial"/>
              </a:defRPr>
            </a:pPr>
            <a:r>
              <a:rPr sz="3300" b="1" i="0">
                <a:solidFill>
                  <a:srgbClr val="101214"/>
                </a:solidFill>
                <a:latin typeface="Arial"/>
                <a:ea typeface="Arial"/>
                <a:cs typeface="Arial"/>
              </a:rPr>
              <a:t>Three complementary roles built one auditable system</a:t>
            </a:r>
          </a:p>
        </p:txBody>
      </p:sp>
      <p:sp>
        <p:nvSpPr>
          <p:cNvPr id="3" name="Rectangle 2">
            <a:extLst>
              <a:ext uri="{FF2B5EF4-FFF2-40B4-BE49-F238E27FC236}">
                <a16:creationId xmlns:a16="http://schemas.microsoft.com/office/drawing/2014/main" id="{D271AE03-0309-49D6-9E13-395F82130F8C}"/>
              </a:ext>
            </a:extLst>
          </p:cNvPr>
          <p:cNvSpPr>
            <a:spLocks noGrp="1"/>
          </p:cNvSpPr>
          <p:nvPr/>
        </p:nvSpPr>
        <p:spPr>
          <a:xfrm>
            <a:off x="390525" y="1352550"/>
            <a:ext cx="11401425" cy="9525"/>
          </a:xfrm>
          <a:prstGeom prst="rect">
            <a:avLst/>
          </a:prstGeom>
          <a:solidFill>
            <a:srgbClr val="B8BCC4"/>
          </a:solidFill>
          <a:ln w="0">
            <a:solidFill>
              <a:srgbClr val="B8BCC4"/>
            </a:solidFill>
            <a:prstDash val="solid"/>
          </a:ln>
        </p:spPr>
      </p:sp>
      <p:sp>
        <p:nvSpPr>
          <p:cNvPr id="5" name="page-3">
            <a:extLst>
              <a:ext uri="{FF2B5EF4-FFF2-40B4-BE49-F238E27FC236}">
                <a16:creationId xmlns:a16="http://schemas.microsoft.com/office/drawing/2014/main" id="{A1FCB1CD-9D0E-4695-837F-96B53F0F482E}"/>
              </a:ext>
            </a:extLst>
          </p:cNvPr>
          <p:cNvSpPr>
            <a:spLocks noGrp="1"/>
          </p:cNvSpPr>
          <p:nvPr/>
        </p:nvSpPr>
        <p:spPr>
          <a:xfrm>
            <a:off x="11201400" y="6305550"/>
            <a:ext cx="590550" cy="238125"/>
          </a:xfrm>
          <a:prstGeom prst="rect">
            <a:avLst/>
          </a:prstGeom>
        </p:spPr>
        <p:txBody>
          <a:bodyPr wrap="square" lIns="0" tIns="0" rIns="0" bIns="0" anchor="t">
            <a:noAutofit/>
          </a:bodyPr>
          <a:lstStyle/>
          <a:p>
            <a:pPr algn="r">
              <a:buNone/>
              <a:defRPr sz="975" b="0" i="0">
                <a:solidFill>
                  <a:srgbClr val="5F6873"/>
                </a:solidFill>
                <a:latin typeface="Arial"/>
                <a:ea typeface="Arial"/>
                <a:cs typeface="Arial"/>
              </a:defRPr>
            </a:pPr>
            <a:r>
              <a:rPr sz="975" b="0" i="0">
                <a:solidFill>
                  <a:srgbClr val="5F6873"/>
                </a:solidFill>
                <a:latin typeface="Arial"/>
                <a:ea typeface="Arial"/>
                <a:cs typeface="Arial"/>
              </a:rPr>
              <a:t>03</a:t>
            </a:r>
          </a:p>
        </p:txBody>
      </p:sp>
      <p:sp>
        <p:nvSpPr>
          <p:cNvPr id="6" name="Rectangle 5">
            <a:extLst>
              <a:ext uri="{FF2B5EF4-FFF2-40B4-BE49-F238E27FC236}">
                <a16:creationId xmlns:a16="http://schemas.microsoft.com/office/drawing/2014/main" id="{6C889B79-DBE0-4D0F-A931-2ACCD478A3C2}"/>
              </a:ext>
            </a:extLst>
          </p:cNvPr>
          <p:cNvSpPr>
            <a:spLocks noGrp="1"/>
          </p:cNvSpPr>
          <p:nvPr/>
        </p:nvSpPr>
        <p:spPr>
          <a:xfrm>
            <a:off x="390525" y="1895475"/>
            <a:ext cx="3429000" cy="342900"/>
          </a:xfrm>
          <a:prstGeom prst="rect">
            <a:avLst/>
          </a:prstGeom>
        </p:spPr>
        <p:txBody>
          <a:bodyPr wrap="square" lIns="0" tIns="0" rIns="0" bIns="0" anchor="t">
            <a:noAutofit/>
          </a:bodyPr>
          <a:lstStyle/>
          <a:p>
            <a:pPr algn="l">
              <a:buNone/>
              <a:defRPr sz="2100" b="1" i="0">
                <a:solidFill>
                  <a:srgbClr val="19395E"/>
                </a:solidFill>
                <a:latin typeface="Arial"/>
                <a:ea typeface="Arial"/>
                <a:cs typeface="Arial"/>
              </a:defRPr>
            </a:pPr>
            <a:r>
              <a:rPr sz="2100" b="1" i="0">
                <a:solidFill>
                  <a:srgbClr val="19395E"/>
                </a:solidFill>
                <a:latin typeface="Arial"/>
                <a:ea typeface="Arial"/>
                <a:cs typeface="Arial"/>
              </a:rPr>
              <a:t>YUYANG CHEN</a:t>
            </a:r>
          </a:p>
        </p:txBody>
      </p:sp>
      <p:sp>
        <p:nvSpPr>
          <p:cNvPr id="7" name="Rectangle 6">
            <a:extLst>
              <a:ext uri="{FF2B5EF4-FFF2-40B4-BE49-F238E27FC236}">
                <a16:creationId xmlns:a16="http://schemas.microsoft.com/office/drawing/2014/main" id="{F5E99BD0-A872-45AF-92E0-824A34620E1C}"/>
              </a:ext>
            </a:extLst>
          </p:cNvPr>
          <p:cNvSpPr>
            <a:spLocks noGrp="1"/>
          </p:cNvSpPr>
          <p:nvPr/>
        </p:nvSpPr>
        <p:spPr>
          <a:xfrm>
            <a:off x="390525" y="2419350"/>
            <a:ext cx="3429000" cy="1428750"/>
          </a:xfrm>
          <a:prstGeom prst="rect">
            <a:avLst/>
          </a:prstGeom>
        </p:spPr>
        <p:txBody>
          <a:bodyPr wrap="square" lIns="0" tIns="0" rIns="0" bIns="0" anchor="t">
            <a:noAutofit/>
          </a:bodyPr>
          <a:lstStyle/>
          <a:p>
            <a:pPr algn="l">
              <a:buNone/>
              <a:defRPr sz="1650" b="0" i="0">
                <a:solidFill>
                  <a:srgbClr val="101214"/>
                </a:solidFill>
                <a:latin typeface="Arial"/>
                <a:ea typeface="Arial"/>
                <a:cs typeface="Arial"/>
              </a:defRPr>
            </a:pPr>
            <a:r>
              <a:rPr sz="1650" b="0" i="0" dirty="0">
                <a:solidFill>
                  <a:srgbClr val="101214"/>
                </a:solidFill>
                <a:latin typeface="Arial"/>
                <a:ea typeface="Arial"/>
                <a:cs typeface="Arial"/>
              </a:rPr>
              <a:t>Project management
Dashboard, UI &amp; visualization</a:t>
            </a:r>
          </a:p>
        </p:txBody>
      </p:sp>
      <p:sp>
        <p:nvSpPr>
          <p:cNvPr id="8" name="Rectangle 7">
            <a:extLst>
              <a:ext uri="{FF2B5EF4-FFF2-40B4-BE49-F238E27FC236}">
                <a16:creationId xmlns:a16="http://schemas.microsoft.com/office/drawing/2014/main" id="{CE5D4613-E544-4CD8-9814-3AF6EE9F24E7}"/>
              </a:ext>
            </a:extLst>
          </p:cNvPr>
          <p:cNvSpPr>
            <a:spLocks noGrp="1"/>
          </p:cNvSpPr>
          <p:nvPr/>
        </p:nvSpPr>
        <p:spPr>
          <a:xfrm>
            <a:off x="4048125" y="1857375"/>
            <a:ext cx="9525" cy="2590800"/>
          </a:xfrm>
          <a:prstGeom prst="rect">
            <a:avLst/>
          </a:prstGeom>
          <a:solidFill>
            <a:srgbClr val="B8BCC4"/>
          </a:solidFill>
          <a:ln w="0">
            <a:solidFill>
              <a:srgbClr val="B8BCC4"/>
            </a:solidFill>
            <a:prstDash val="solid"/>
          </a:ln>
        </p:spPr>
      </p:sp>
      <p:sp>
        <p:nvSpPr>
          <p:cNvPr id="9" name="Rectangle 8">
            <a:extLst>
              <a:ext uri="{FF2B5EF4-FFF2-40B4-BE49-F238E27FC236}">
                <a16:creationId xmlns:a16="http://schemas.microsoft.com/office/drawing/2014/main" id="{DAE5ED4C-167F-41A4-80B1-B73E124C939A}"/>
              </a:ext>
            </a:extLst>
          </p:cNvPr>
          <p:cNvSpPr>
            <a:spLocks noGrp="1"/>
          </p:cNvSpPr>
          <p:nvPr/>
        </p:nvSpPr>
        <p:spPr>
          <a:xfrm>
            <a:off x="4305300" y="1895475"/>
            <a:ext cx="3429000" cy="342900"/>
          </a:xfrm>
          <a:prstGeom prst="rect">
            <a:avLst/>
          </a:prstGeom>
        </p:spPr>
        <p:txBody>
          <a:bodyPr wrap="square" lIns="0" tIns="0" rIns="0" bIns="0" anchor="t">
            <a:noAutofit/>
          </a:bodyPr>
          <a:lstStyle/>
          <a:p>
            <a:pPr algn="l">
              <a:buNone/>
              <a:defRPr sz="2100" b="1" i="0">
                <a:solidFill>
                  <a:srgbClr val="13847D"/>
                </a:solidFill>
                <a:latin typeface="Arial"/>
                <a:ea typeface="Arial"/>
                <a:cs typeface="Arial"/>
              </a:defRPr>
            </a:pPr>
            <a:r>
              <a:rPr sz="2100" b="1" i="0">
                <a:solidFill>
                  <a:srgbClr val="13847D"/>
                </a:solidFill>
                <a:latin typeface="Arial"/>
                <a:ea typeface="Arial"/>
                <a:cs typeface="Arial"/>
              </a:rPr>
              <a:t>ZHAIHAN GONG</a:t>
            </a:r>
          </a:p>
        </p:txBody>
      </p:sp>
      <p:sp>
        <p:nvSpPr>
          <p:cNvPr id="10" name="Rectangle 9">
            <a:extLst>
              <a:ext uri="{FF2B5EF4-FFF2-40B4-BE49-F238E27FC236}">
                <a16:creationId xmlns:a16="http://schemas.microsoft.com/office/drawing/2014/main" id="{F2C452CE-BC92-433E-8CBA-295E8829512E}"/>
              </a:ext>
            </a:extLst>
          </p:cNvPr>
          <p:cNvSpPr>
            <a:spLocks noGrp="1"/>
          </p:cNvSpPr>
          <p:nvPr/>
        </p:nvSpPr>
        <p:spPr>
          <a:xfrm>
            <a:off x="4305300" y="2419350"/>
            <a:ext cx="3429000" cy="1428750"/>
          </a:xfrm>
          <a:prstGeom prst="rect">
            <a:avLst/>
          </a:prstGeom>
        </p:spPr>
        <p:txBody>
          <a:bodyPr wrap="square" lIns="0" tIns="0" rIns="0" bIns="0" anchor="t">
            <a:noAutofit/>
          </a:bodyPr>
          <a:lstStyle/>
          <a:p>
            <a:pPr algn="l">
              <a:buNone/>
              <a:defRPr sz="1650" b="0" i="0">
                <a:solidFill>
                  <a:srgbClr val="101214"/>
                </a:solidFill>
                <a:latin typeface="Arial"/>
                <a:ea typeface="Arial"/>
                <a:cs typeface="Arial"/>
              </a:defRPr>
            </a:pPr>
            <a:r>
              <a:rPr sz="1650" b="0" i="0">
                <a:solidFill>
                  <a:srgbClr val="101214"/>
                </a:solidFill>
                <a:latin typeface="Arial"/>
                <a:ea typeface="Arial"/>
                <a:cs typeface="Arial"/>
              </a:rPr>
              <a:t>Data cleaning &amp; normalization
Data dictionary
Missing-data and quality flags</a:t>
            </a:r>
          </a:p>
        </p:txBody>
      </p:sp>
      <p:sp>
        <p:nvSpPr>
          <p:cNvPr id="11" name="Rectangle 10">
            <a:extLst>
              <a:ext uri="{FF2B5EF4-FFF2-40B4-BE49-F238E27FC236}">
                <a16:creationId xmlns:a16="http://schemas.microsoft.com/office/drawing/2014/main" id="{39011A73-A3B8-4AB7-8F43-62AF153248DE}"/>
              </a:ext>
            </a:extLst>
          </p:cNvPr>
          <p:cNvSpPr>
            <a:spLocks noGrp="1"/>
          </p:cNvSpPr>
          <p:nvPr/>
        </p:nvSpPr>
        <p:spPr>
          <a:xfrm>
            <a:off x="7962900" y="1857375"/>
            <a:ext cx="9525" cy="2590800"/>
          </a:xfrm>
          <a:prstGeom prst="rect">
            <a:avLst/>
          </a:prstGeom>
          <a:solidFill>
            <a:srgbClr val="B8BCC4"/>
          </a:solidFill>
          <a:ln w="0">
            <a:solidFill>
              <a:srgbClr val="B8BCC4"/>
            </a:solidFill>
            <a:prstDash val="solid"/>
          </a:ln>
        </p:spPr>
      </p:sp>
      <p:sp>
        <p:nvSpPr>
          <p:cNvPr id="12" name="Rectangle 11">
            <a:extLst>
              <a:ext uri="{FF2B5EF4-FFF2-40B4-BE49-F238E27FC236}">
                <a16:creationId xmlns:a16="http://schemas.microsoft.com/office/drawing/2014/main" id="{28F5CF93-A62A-40FC-B43F-1E5963D089CE}"/>
              </a:ext>
            </a:extLst>
          </p:cNvPr>
          <p:cNvSpPr>
            <a:spLocks noGrp="1"/>
          </p:cNvSpPr>
          <p:nvPr/>
        </p:nvSpPr>
        <p:spPr>
          <a:xfrm>
            <a:off x="8229600" y="1895475"/>
            <a:ext cx="3429000" cy="342900"/>
          </a:xfrm>
          <a:prstGeom prst="rect">
            <a:avLst/>
          </a:prstGeom>
        </p:spPr>
        <p:txBody>
          <a:bodyPr wrap="square" lIns="0" tIns="0" rIns="0" bIns="0" anchor="t">
            <a:noAutofit/>
          </a:bodyPr>
          <a:lstStyle/>
          <a:p>
            <a:pPr algn="l">
              <a:buNone/>
              <a:defRPr sz="2100" b="1" i="0">
                <a:solidFill>
                  <a:srgbClr val="3D8DFF"/>
                </a:solidFill>
                <a:latin typeface="Arial"/>
                <a:ea typeface="Arial"/>
                <a:cs typeface="Arial"/>
              </a:defRPr>
            </a:pPr>
            <a:r>
              <a:rPr sz="2100" b="1" i="0">
                <a:solidFill>
                  <a:srgbClr val="3D8DFF"/>
                </a:solidFill>
                <a:latin typeface="Arial"/>
                <a:ea typeface="Arial"/>
                <a:cs typeface="Arial"/>
              </a:rPr>
              <a:t>ALAN YANG</a:t>
            </a:r>
          </a:p>
        </p:txBody>
      </p:sp>
      <p:sp>
        <p:nvSpPr>
          <p:cNvPr id="13" name="Rectangle 12">
            <a:extLst>
              <a:ext uri="{FF2B5EF4-FFF2-40B4-BE49-F238E27FC236}">
                <a16:creationId xmlns:a16="http://schemas.microsoft.com/office/drawing/2014/main" id="{722F98E9-A21F-43C5-9E5B-A84DA445F025}"/>
              </a:ext>
            </a:extLst>
          </p:cNvPr>
          <p:cNvSpPr>
            <a:spLocks noGrp="1"/>
          </p:cNvSpPr>
          <p:nvPr/>
        </p:nvSpPr>
        <p:spPr>
          <a:xfrm>
            <a:off x="8229600" y="2419350"/>
            <a:ext cx="3429000" cy="1428750"/>
          </a:xfrm>
          <a:prstGeom prst="rect">
            <a:avLst/>
          </a:prstGeom>
        </p:spPr>
        <p:txBody>
          <a:bodyPr wrap="square" lIns="0" tIns="0" rIns="0" bIns="0" anchor="t">
            <a:noAutofit/>
          </a:bodyPr>
          <a:lstStyle/>
          <a:p>
            <a:pPr algn="l">
              <a:buNone/>
              <a:defRPr sz="1650" b="0" i="0">
                <a:solidFill>
                  <a:srgbClr val="101214"/>
                </a:solidFill>
                <a:latin typeface="Arial"/>
                <a:ea typeface="Arial"/>
                <a:cs typeface="Arial"/>
              </a:defRPr>
            </a:pPr>
            <a:r>
              <a:rPr sz="1650" b="0" i="0" dirty="0">
                <a:solidFill>
                  <a:srgbClr val="101214"/>
                </a:solidFill>
                <a:latin typeface="Arial"/>
                <a:ea typeface="Arial"/>
                <a:cs typeface="Arial"/>
              </a:rPr>
              <a:t>Ranking and weighting model
</a:t>
            </a:r>
            <a:r>
              <a:rPr lang="en-US" sz="1650" b="0" i="0" dirty="0">
                <a:solidFill>
                  <a:srgbClr val="101214"/>
                </a:solidFill>
                <a:latin typeface="Arial"/>
                <a:ea typeface="Arial"/>
                <a:cs typeface="Arial"/>
              </a:rPr>
              <a:t>H</a:t>
            </a:r>
            <a:r>
              <a:rPr lang="en-US" altLang="zh-CN" sz="1650" b="0" i="0" dirty="0">
                <a:solidFill>
                  <a:srgbClr val="101214"/>
                </a:solidFill>
                <a:latin typeface="Arial"/>
                <a:ea typeface="Arial"/>
                <a:cs typeface="Arial"/>
              </a:rPr>
              <a:t>t</a:t>
            </a:r>
            <a:r>
              <a:rPr lang="en-US" altLang="zh-CN" sz="1650" dirty="0">
                <a:solidFill>
                  <a:srgbClr val="101214"/>
                </a:solidFill>
                <a:latin typeface="Arial"/>
                <a:ea typeface="Arial"/>
                <a:cs typeface="Arial"/>
              </a:rPr>
              <a:t>ml Production</a:t>
            </a:r>
            <a:r>
              <a:rPr sz="1650" b="0" i="0" dirty="0">
                <a:solidFill>
                  <a:srgbClr val="101214"/>
                </a:solidFill>
                <a:latin typeface="Arial"/>
                <a:ea typeface="Arial"/>
                <a:cs typeface="Arial"/>
              </a:rPr>
              <a:t>
Final presentation support</a:t>
            </a:r>
          </a:p>
        </p:txBody>
      </p:sp>
      <p:sp>
        <p:nvSpPr>
          <p:cNvPr id="14" name="Rectangle 13">
            <a:extLst>
              <a:ext uri="{FF2B5EF4-FFF2-40B4-BE49-F238E27FC236}">
                <a16:creationId xmlns:a16="http://schemas.microsoft.com/office/drawing/2014/main" id="{7C5136FD-E8A9-495E-90E4-6EAA11E3C37B}"/>
              </a:ext>
            </a:extLst>
          </p:cNvPr>
          <p:cNvSpPr>
            <a:spLocks noGrp="1"/>
          </p:cNvSpPr>
          <p:nvPr/>
        </p:nvSpPr>
        <p:spPr>
          <a:xfrm>
            <a:off x="390525" y="4810125"/>
            <a:ext cx="11401425" cy="1057275"/>
          </a:xfrm>
          <a:prstGeom prst="rect">
            <a:avLst/>
          </a:prstGeom>
          <a:solidFill>
            <a:srgbClr val="19395E"/>
          </a:solidFill>
          <a:ln w="0">
            <a:solidFill>
              <a:srgbClr val="19395E"/>
            </a:solidFill>
            <a:prstDash val="solid"/>
          </a:ln>
        </p:spPr>
      </p:sp>
      <p:sp>
        <p:nvSpPr>
          <p:cNvPr id="15" name="Rectangle 14">
            <a:extLst>
              <a:ext uri="{FF2B5EF4-FFF2-40B4-BE49-F238E27FC236}">
                <a16:creationId xmlns:a16="http://schemas.microsoft.com/office/drawing/2014/main" id="{60F07071-C01E-4FEF-9882-B146505FA25E}"/>
              </a:ext>
            </a:extLst>
          </p:cNvPr>
          <p:cNvSpPr>
            <a:spLocks noGrp="1"/>
          </p:cNvSpPr>
          <p:nvPr/>
        </p:nvSpPr>
        <p:spPr>
          <a:xfrm>
            <a:off x="685800" y="5086350"/>
            <a:ext cx="10810875" cy="552450"/>
          </a:xfrm>
          <a:prstGeom prst="rect">
            <a:avLst/>
          </a:prstGeom>
        </p:spPr>
        <p:txBody>
          <a:bodyPr wrap="square" lIns="0" tIns="0" rIns="0" bIns="0" anchor="t">
            <a:noAutofit/>
          </a:bodyPr>
          <a:lstStyle/>
          <a:p>
            <a:pPr algn="l">
              <a:buNone/>
              <a:defRPr sz="2025" b="1" i="0">
                <a:solidFill>
                  <a:srgbClr val="FFFFFF"/>
                </a:solidFill>
                <a:latin typeface="Arial"/>
                <a:ea typeface="Arial"/>
                <a:cs typeface="Arial"/>
              </a:defRPr>
            </a:pPr>
            <a:r>
              <a:rPr sz="1800" b="1" i="0">
                <a:solidFill>
                  <a:srgbClr val="FFFFFF"/>
                </a:solidFill>
                <a:latin typeface="Arial"/>
                <a:ea typeface="Arial"/>
                <a:cs typeface="Arial"/>
              </a:rPr>
              <a:t>Shared mission: make the result searchable, explainable, reproducible—and honest about uncertainty.</a:t>
            </a:r>
          </a:p>
        </p:txBody>
      </p:sp>
    </p:spTree>
    <p:extLst>
      <p:ext uri="{BB962C8B-B14F-4D97-AF65-F5344CB8AC3E}">
        <p14:creationId xmlns:p14="http://schemas.microsoft.com/office/powerpoint/2010/main" val="10787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section-4">
            <a:extLst>
              <a:ext uri="{FF2B5EF4-FFF2-40B4-BE49-F238E27FC236}">
                <a16:creationId xmlns:a16="http://schemas.microsoft.com/office/drawing/2014/main" id="{7FC630A3-907F-4A58-87BB-66053A86A74B}"/>
              </a:ext>
            </a:extLst>
          </p:cNvPr>
          <p:cNvSpPr>
            <a:spLocks noGrp="1"/>
          </p:cNvSpPr>
          <p:nvPr/>
        </p:nvSpPr>
        <p:spPr>
          <a:xfrm>
            <a:off x="390525" y="295275"/>
            <a:ext cx="3238500" cy="209550"/>
          </a:xfrm>
          <a:prstGeom prst="rect">
            <a:avLst/>
          </a:prstGeom>
        </p:spPr>
        <p:txBody>
          <a:bodyPr wrap="square" lIns="0" tIns="0" rIns="0" bIns="0" anchor="t">
            <a:noAutofit/>
          </a:bodyPr>
          <a:lstStyle/>
          <a:p>
            <a:pPr algn="l">
              <a:buNone/>
              <a:defRPr sz="1050" b="1" i="0">
                <a:solidFill>
                  <a:srgbClr val="13847D"/>
                </a:solidFill>
                <a:latin typeface="Arial"/>
                <a:ea typeface="Arial"/>
                <a:cs typeface="Arial"/>
              </a:defRPr>
            </a:pPr>
            <a:r>
              <a:rPr sz="1050" b="1" i="0">
                <a:solidFill>
                  <a:srgbClr val="13847D"/>
                </a:solidFill>
                <a:latin typeface="Arial"/>
                <a:ea typeface="Arial"/>
                <a:cs typeface="Arial"/>
              </a:rPr>
              <a:t>SCOPE</a:t>
            </a:r>
          </a:p>
        </p:txBody>
      </p:sp>
      <p:sp>
        <p:nvSpPr>
          <p:cNvPr id="2" name="title-4">
            <a:extLst>
              <a:ext uri="{FF2B5EF4-FFF2-40B4-BE49-F238E27FC236}">
                <a16:creationId xmlns:a16="http://schemas.microsoft.com/office/drawing/2014/main" id="{E0AD0DF6-80AE-4115-8AEE-602DA81403A2}"/>
              </a:ext>
            </a:extLst>
          </p:cNvPr>
          <p:cNvSpPr>
            <a:spLocks noGrp="1"/>
          </p:cNvSpPr>
          <p:nvPr/>
        </p:nvSpPr>
        <p:spPr>
          <a:xfrm>
            <a:off x="390525" y="581025"/>
            <a:ext cx="11401425" cy="666750"/>
          </a:xfrm>
          <a:prstGeom prst="rect">
            <a:avLst/>
          </a:prstGeom>
        </p:spPr>
        <p:txBody>
          <a:bodyPr wrap="square" lIns="0" tIns="0" rIns="0" bIns="0" anchor="t">
            <a:noAutofit/>
          </a:bodyPr>
          <a:lstStyle/>
          <a:p>
            <a:pPr algn="l">
              <a:buNone/>
              <a:defRPr sz="3450" b="1" i="0">
                <a:solidFill>
                  <a:srgbClr val="101214"/>
                </a:solidFill>
                <a:latin typeface="Arial"/>
                <a:ea typeface="Arial"/>
                <a:cs typeface="Arial"/>
              </a:defRPr>
            </a:pPr>
            <a:r>
              <a:rPr sz="3300" b="1" i="0">
                <a:solidFill>
                  <a:srgbClr val="101214"/>
                </a:solidFill>
                <a:latin typeface="Arial"/>
                <a:ea typeface="Arial"/>
                <a:cs typeface="Arial"/>
              </a:rPr>
              <a:t>A focused global sample made comparison feasible</a:t>
            </a:r>
          </a:p>
        </p:txBody>
      </p:sp>
      <p:sp>
        <p:nvSpPr>
          <p:cNvPr id="3" name="Rectangle 2">
            <a:extLst>
              <a:ext uri="{FF2B5EF4-FFF2-40B4-BE49-F238E27FC236}">
                <a16:creationId xmlns:a16="http://schemas.microsoft.com/office/drawing/2014/main" id="{0634CA2A-5648-47BE-BC38-2972A4F77915}"/>
              </a:ext>
            </a:extLst>
          </p:cNvPr>
          <p:cNvSpPr>
            <a:spLocks noGrp="1"/>
          </p:cNvSpPr>
          <p:nvPr/>
        </p:nvSpPr>
        <p:spPr>
          <a:xfrm>
            <a:off x="390525" y="1352550"/>
            <a:ext cx="11401425" cy="9525"/>
          </a:xfrm>
          <a:prstGeom prst="rect">
            <a:avLst/>
          </a:prstGeom>
          <a:solidFill>
            <a:srgbClr val="B8BCC4"/>
          </a:solidFill>
          <a:ln w="0">
            <a:solidFill>
              <a:srgbClr val="B8BCC4"/>
            </a:solidFill>
            <a:prstDash val="solid"/>
          </a:ln>
        </p:spPr>
      </p:sp>
      <p:sp>
        <p:nvSpPr>
          <p:cNvPr id="5" name="page-4">
            <a:extLst>
              <a:ext uri="{FF2B5EF4-FFF2-40B4-BE49-F238E27FC236}">
                <a16:creationId xmlns:a16="http://schemas.microsoft.com/office/drawing/2014/main" id="{BC6FD6AA-1922-44CE-BEF7-D7382DB22E36}"/>
              </a:ext>
            </a:extLst>
          </p:cNvPr>
          <p:cNvSpPr>
            <a:spLocks noGrp="1"/>
          </p:cNvSpPr>
          <p:nvPr/>
        </p:nvSpPr>
        <p:spPr>
          <a:xfrm>
            <a:off x="11201400" y="6305550"/>
            <a:ext cx="590550" cy="238125"/>
          </a:xfrm>
          <a:prstGeom prst="rect">
            <a:avLst/>
          </a:prstGeom>
        </p:spPr>
        <p:txBody>
          <a:bodyPr wrap="square" lIns="0" tIns="0" rIns="0" bIns="0" anchor="t">
            <a:noAutofit/>
          </a:bodyPr>
          <a:lstStyle/>
          <a:p>
            <a:pPr algn="r">
              <a:buNone/>
              <a:defRPr sz="975" b="0" i="0">
                <a:solidFill>
                  <a:srgbClr val="5F6873"/>
                </a:solidFill>
                <a:latin typeface="Arial"/>
                <a:ea typeface="Arial"/>
                <a:cs typeface="Arial"/>
              </a:defRPr>
            </a:pPr>
            <a:r>
              <a:rPr sz="975" b="0" i="0">
                <a:solidFill>
                  <a:srgbClr val="5F6873"/>
                </a:solidFill>
                <a:latin typeface="Arial"/>
                <a:ea typeface="Arial"/>
                <a:cs typeface="Arial"/>
              </a:rPr>
              <a:t>04</a:t>
            </a:r>
          </a:p>
        </p:txBody>
      </p:sp>
      <p:sp>
        <p:nvSpPr>
          <p:cNvPr id="6" name="Rectangle 5">
            <a:extLst>
              <a:ext uri="{FF2B5EF4-FFF2-40B4-BE49-F238E27FC236}">
                <a16:creationId xmlns:a16="http://schemas.microsoft.com/office/drawing/2014/main" id="{74BB8201-1640-44E1-86B6-BD25C62C8014}"/>
              </a:ext>
            </a:extLst>
          </p:cNvPr>
          <p:cNvSpPr>
            <a:spLocks noGrp="1"/>
          </p:cNvSpPr>
          <p:nvPr/>
        </p:nvSpPr>
        <p:spPr>
          <a:xfrm>
            <a:off x="390525" y="1571625"/>
            <a:ext cx="11401425" cy="828675"/>
          </a:xfrm>
          <a:prstGeom prst="rect">
            <a:avLst/>
          </a:prstGeom>
        </p:spPr>
        <p:txBody>
          <a:bodyPr wrap="square" lIns="0" tIns="0" rIns="0" bIns="0" anchor="t">
            <a:noAutofit/>
          </a:bodyPr>
          <a:lstStyle/>
          <a:p>
            <a:pPr algn="l">
              <a:buNone/>
              <a:defRPr sz="1725" b="0" i="0">
                <a:solidFill>
                  <a:srgbClr val="5F6873"/>
                </a:solidFill>
                <a:latin typeface="Arial"/>
                <a:ea typeface="Arial"/>
                <a:cs typeface="Arial"/>
              </a:defRPr>
            </a:pPr>
            <a:r>
              <a:rPr sz="1725" b="0" i="0">
                <a:solidFill>
                  <a:srgbClr val="5F6873"/>
                </a:solidFill>
                <a:latin typeface="Arial"/>
                <a:ea typeface="Arial"/>
                <a:cs typeface="Arial"/>
              </a:rPr>
              <a:t>We defined the analytical universe as 30 QS Sustainability selections plus the 30 highest-ranked nonduplicate THE additions—one program per institution, not a worldwide census.</a:t>
            </a:r>
          </a:p>
        </p:txBody>
      </p:sp>
      <p:sp>
        <p:nvSpPr>
          <p:cNvPr id="7" name="Rectangle 6">
            <a:extLst>
              <a:ext uri="{FF2B5EF4-FFF2-40B4-BE49-F238E27FC236}">
                <a16:creationId xmlns:a16="http://schemas.microsoft.com/office/drawing/2014/main" id="{0ECB0ED9-3E28-4896-9654-788B5373DB02}"/>
              </a:ext>
            </a:extLst>
          </p:cNvPr>
          <p:cNvSpPr>
            <a:spLocks noGrp="1"/>
          </p:cNvSpPr>
          <p:nvPr/>
        </p:nvSpPr>
        <p:spPr>
          <a:xfrm>
            <a:off x="390525" y="2809875"/>
            <a:ext cx="3562350" cy="2752725"/>
          </a:xfrm>
          <a:prstGeom prst="rect">
            <a:avLst/>
          </a:prstGeom>
          <a:solidFill>
            <a:srgbClr val="F2F2F2"/>
          </a:solidFill>
          <a:ln w="0">
            <a:solidFill>
              <a:srgbClr val="F2F2F2"/>
            </a:solidFill>
            <a:prstDash val="solid"/>
          </a:ln>
        </p:spPr>
      </p:sp>
      <p:sp>
        <p:nvSpPr>
          <p:cNvPr id="8" name="Rectangle 7">
            <a:extLst>
              <a:ext uri="{FF2B5EF4-FFF2-40B4-BE49-F238E27FC236}">
                <a16:creationId xmlns:a16="http://schemas.microsoft.com/office/drawing/2014/main" id="{E27B8B9A-03CE-4ABC-9101-771C28310DA2}"/>
              </a:ext>
            </a:extLst>
          </p:cNvPr>
          <p:cNvSpPr>
            <a:spLocks noGrp="1"/>
          </p:cNvSpPr>
          <p:nvPr/>
        </p:nvSpPr>
        <p:spPr>
          <a:xfrm>
            <a:off x="4314825" y="2809875"/>
            <a:ext cx="3562350" cy="2752725"/>
          </a:xfrm>
          <a:prstGeom prst="rect">
            <a:avLst/>
          </a:prstGeom>
          <a:solidFill>
            <a:srgbClr val="F2F2F2"/>
          </a:solidFill>
          <a:ln w="0">
            <a:solidFill>
              <a:srgbClr val="F2F2F2"/>
            </a:solidFill>
            <a:prstDash val="solid"/>
          </a:ln>
        </p:spPr>
      </p:sp>
      <p:sp>
        <p:nvSpPr>
          <p:cNvPr id="9" name="Rectangle 8">
            <a:extLst>
              <a:ext uri="{FF2B5EF4-FFF2-40B4-BE49-F238E27FC236}">
                <a16:creationId xmlns:a16="http://schemas.microsoft.com/office/drawing/2014/main" id="{ED869CA9-9099-4486-AAD0-A1C7033F9DFA}"/>
              </a:ext>
            </a:extLst>
          </p:cNvPr>
          <p:cNvSpPr>
            <a:spLocks noGrp="1"/>
          </p:cNvSpPr>
          <p:nvPr/>
        </p:nvSpPr>
        <p:spPr>
          <a:xfrm>
            <a:off x="8239125" y="2809875"/>
            <a:ext cx="3562350" cy="2752725"/>
          </a:xfrm>
          <a:prstGeom prst="rect">
            <a:avLst/>
          </a:prstGeom>
          <a:solidFill>
            <a:srgbClr val="F2F2F2"/>
          </a:solidFill>
          <a:ln w="0">
            <a:solidFill>
              <a:srgbClr val="F2F2F2"/>
            </a:solidFill>
            <a:prstDash val="solid"/>
          </a:ln>
        </p:spPr>
      </p:sp>
      <p:sp>
        <p:nvSpPr>
          <p:cNvPr id="10" name="Rectangle 9">
            <a:extLst>
              <a:ext uri="{FF2B5EF4-FFF2-40B4-BE49-F238E27FC236}">
                <a16:creationId xmlns:a16="http://schemas.microsoft.com/office/drawing/2014/main" id="{8B8B70B0-EBB8-425B-8F36-137C97194555}"/>
              </a:ext>
            </a:extLst>
          </p:cNvPr>
          <p:cNvSpPr>
            <a:spLocks noGrp="1"/>
          </p:cNvSpPr>
          <p:nvPr/>
        </p:nvSpPr>
        <p:spPr>
          <a:xfrm>
            <a:off x="685800" y="3105150"/>
            <a:ext cx="2952750" cy="1123950"/>
          </a:xfrm>
          <a:prstGeom prst="rect">
            <a:avLst/>
          </a:prstGeom>
        </p:spPr>
        <p:txBody>
          <a:bodyPr wrap="square" lIns="0" tIns="0" rIns="0" bIns="0" anchor="t">
            <a:noAutofit/>
          </a:bodyPr>
          <a:lstStyle/>
          <a:p>
            <a:pPr algn="l">
              <a:buNone/>
              <a:defRPr sz="5700" b="1" i="0">
                <a:solidFill>
                  <a:srgbClr val="13847D"/>
                </a:solidFill>
                <a:latin typeface="Arial"/>
                <a:ea typeface="Arial"/>
                <a:cs typeface="Arial"/>
              </a:defRPr>
            </a:pPr>
            <a:r>
              <a:rPr sz="5700" b="1" i="0">
                <a:solidFill>
                  <a:srgbClr val="13847D"/>
                </a:solidFill>
                <a:latin typeface="Arial"/>
                <a:ea typeface="Arial"/>
                <a:cs typeface="Arial"/>
              </a:rPr>
              <a:t>60</a:t>
            </a:r>
          </a:p>
        </p:txBody>
      </p:sp>
      <p:sp>
        <p:nvSpPr>
          <p:cNvPr id="11" name="Rectangle 10">
            <a:extLst>
              <a:ext uri="{FF2B5EF4-FFF2-40B4-BE49-F238E27FC236}">
                <a16:creationId xmlns:a16="http://schemas.microsoft.com/office/drawing/2014/main" id="{01A3A2BC-CBAA-4D66-8E2E-EC079E46A295}"/>
              </a:ext>
            </a:extLst>
          </p:cNvPr>
          <p:cNvSpPr>
            <a:spLocks noGrp="1"/>
          </p:cNvSpPr>
          <p:nvPr/>
        </p:nvSpPr>
        <p:spPr>
          <a:xfrm>
            <a:off x="685800" y="4486275"/>
            <a:ext cx="2952750" cy="790575"/>
          </a:xfrm>
          <a:prstGeom prst="rect">
            <a:avLst/>
          </a:prstGeom>
        </p:spPr>
        <p:txBody>
          <a:bodyPr wrap="square" lIns="0" tIns="0" rIns="0" bIns="0" anchor="t">
            <a:noAutofit/>
          </a:bodyPr>
          <a:lstStyle/>
          <a:p>
            <a:pPr algn="l">
              <a:buNone/>
              <a:defRPr sz="1725" b="1" i="0">
                <a:solidFill>
                  <a:srgbClr val="101214"/>
                </a:solidFill>
                <a:latin typeface="Arial"/>
                <a:ea typeface="Arial"/>
                <a:cs typeface="Arial"/>
              </a:defRPr>
            </a:pPr>
            <a:r>
              <a:rPr sz="1725" b="1" i="0">
                <a:solidFill>
                  <a:srgbClr val="101214"/>
                </a:solidFill>
                <a:latin typeface="Arial"/>
                <a:ea typeface="Arial"/>
                <a:cs typeface="Arial"/>
              </a:rPr>
              <a:t>selected programs
30 QS + 30 THE additions</a:t>
            </a:r>
          </a:p>
        </p:txBody>
      </p:sp>
      <p:sp>
        <p:nvSpPr>
          <p:cNvPr id="12" name="Rectangle 11">
            <a:extLst>
              <a:ext uri="{FF2B5EF4-FFF2-40B4-BE49-F238E27FC236}">
                <a16:creationId xmlns:a16="http://schemas.microsoft.com/office/drawing/2014/main" id="{FBB5E728-EEA6-4DCE-BB3C-4E2FCF127A0F}"/>
              </a:ext>
            </a:extLst>
          </p:cNvPr>
          <p:cNvSpPr>
            <a:spLocks noGrp="1"/>
          </p:cNvSpPr>
          <p:nvPr/>
        </p:nvSpPr>
        <p:spPr>
          <a:xfrm>
            <a:off x="4610100" y="3105150"/>
            <a:ext cx="2952750" cy="1123950"/>
          </a:xfrm>
          <a:prstGeom prst="rect">
            <a:avLst/>
          </a:prstGeom>
        </p:spPr>
        <p:txBody>
          <a:bodyPr wrap="square" lIns="0" tIns="0" rIns="0" bIns="0" anchor="t">
            <a:noAutofit/>
          </a:bodyPr>
          <a:lstStyle/>
          <a:p>
            <a:pPr algn="l">
              <a:buNone/>
              <a:defRPr sz="5700" b="1" i="0">
                <a:solidFill>
                  <a:srgbClr val="3D8DFF"/>
                </a:solidFill>
                <a:latin typeface="Arial"/>
                <a:ea typeface="Arial"/>
                <a:cs typeface="Arial"/>
              </a:defRPr>
            </a:pPr>
            <a:r>
              <a:rPr sz="5700" b="1" i="0">
                <a:solidFill>
                  <a:srgbClr val="3D8DFF"/>
                </a:solidFill>
                <a:latin typeface="Arial"/>
                <a:ea typeface="Arial"/>
                <a:cs typeface="Arial"/>
              </a:rPr>
              <a:t>21</a:t>
            </a:r>
          </a:p>
        </p:txBody>
      </p:sp>
      <p:sp>
        <p:nvSpPr>
          <p:cNvPr id="13" name="Rectangle 12">
            <a:extLst>
              <a:ext uri="{FF2B5EF4-FFF2-40B4-BE49-F238E27FC236}">
                <a16:creationId xmlns:a16="http://schemas.microsoft.com/office/drawing/2014/main" id="{07AC626F-E9FD-4460-B788-CDB5DD66AD81}"/>
              </a:ext>
            </a:extLst>
          </p:cNvPr>
          <p:cNvSpPr>
            <a:spLocks noGrp="1"/>
          </p:cNvSpPr>
          <p:nvPr/>
        </p:nvSpPr>
        <p:spPr>
          <a:xfrm>
            <a:off x="4610100" y="4486275"/>
            <a:ext cx="2952750" cy="790575"/>
          </a:xfrm>
          <a:prstGeom prst="rect">
            <a:avLst/>
          </a:prstGeom>
        </p:spPr>
        <p:txBody>
          <a:bodyPr wrap="square" lIns="0" tIns="0" rIns="0" bIns="0" anchor="t">
            <a:noAutofit/>
          </a:bodyPr>
          <a:lstStyle/>
          <a:p>
            <a:pPr algn="l">
              <a:buNone/>
              <a:defRPr sz="1725" b="1" i="0">
                <a:solidFill>
                  <a:srgbClr val="101214"/>
                </a:solidFill>
                <a:latin typeface="Arial"/>
                <a:ea typeface="Arial"/>
                <a:cs typeface="Arial"/>
              </a:defRPr>
            </a:pPr>
            <a:r>
              <a:rPr sz="1725" b="1" i="0">
                <a:solidFill>
                  <a:srgbClr val="101214"/>
                </a:solidFill>
                <a:latin typeface="Arial"/>
                <a:ea typeface="Arial"/>
                <a:cs typeface="Arial"/>
              </a:rPr>
              <a:t>countries represented
across the synchronized sample</a:t>
            </a:r>
          </a:p>
        </p:txBody>
      </p:sp>
      <p:sp>
        <p:nvSpPr>
          <p:cNvPr id="14" name="Rectangle 13">
            <a:extLst>
              <a:ext uri="{FF2B5EF4-FFF2-40B4-BE49-F238E27FC236}">
                <a16:creationId xmlns:a16="http://schemas.microsoft.com/office/drawing/2014/main" id="{11BDB201-E83E-4D1D-9726-843F5872A85F}"/>
              </a:ext>
            </a:extLst>
          </p:cNvPr>
          <p:cNvSpPr>
            <a:spLocks noGrp="1"/>
          </p:cNvSpPr>
          <p:nvPr/>
        </p:nvSpPr>
        <p:spPr>
          <a:xfrm>
            <a:off x="8534400" y="3105150"/>
            <a:ext cx="2952750" cy="1123950"/>
          </a:xfrm>
          <a:prstGeom prst="rect">
            <a:avLst/>
          </a:prstGeom>
        </p:spPr>
        <p:txBody>
          <a:bodyPr wrap="square" lIns="0" tIns="0" rIns="0" bIns="0" anchor="t">
            <a:noAutofit/>
          </a:bodyPr>
          <a:lstStyle/>
          <a:p>
            <a:pPr algn="l">
              <a:buNone/>
              <a:defRPr sz="5250" b="1" i="0">
                <a:solidFill>
                  <a:srgbClr val="19395E"/>
                </a:solidFill>
                <a:latin typeface="Arial"/>
                <a:ea typeface="Arial"/>
                <a:cs typeface="Arial"/>
              </a:defRPr>
            </a:pPr>
            <a:r>
              <a:rPr sz="3600" b="1" i="0">
                <a:solidFill>
                  <a:srgbClr val="19395E"/>
                </a:solidFill>
                <a:latin typeface="Arial"/>
                <a:ea typeface="Arial"/>
                <a:cs typeface="Arial"/>
              </a:rPr>
              <a:t>COMPLETE</a:t>
            </a:r>
          </a:p>
        </p:txBody>
      </p:sp>
      <p:sp>
        <p:nvSpPr>
          <p:cNvPr id="15" name="Rectangle 14">
            <a:extLst>
              <a:ext uri="{FF2B5EF4-FFF2-40B4-BE49-F238E27FC236}">
                <a16:creationId xmlns:a16="http://schemas.microsoft.com/office/drawing/2014/main" id="{3932B8FA-ACCF-44BE-BC2D-5470B0BB5803}"/>
              </a:ext>
            </a:extLst>
          </p:cNvPr>
          <p:cNvSpPr>
            <a:spLocks noGrp="1"/>
          </p:cNvSpPr>
          <p:nvPr/>
        </p:nvSpPr>
        <p:spPr>
          <a:xfrm>
            <a:off x="8534400" y="4486275"/>
            <a:ext cx="2952750" cy="790575"/>
          </a:xfrm>
          <a:prstGeom prst="rect">
            <a:avLst/>
          </a:prstGeom>
        </p:spPr>
        <p:txBody>
          <a:bodyPr wrap="square" lIns="0" tIns="0" rIns="0" bIns="0" anchor="t">
            <a:noAutofit/>
          </a:bodyPr>
          <a:lstStyle/>
          <a:p>
            <a:pPr algn="l">
              <a:buNone/>
              <a:defRPr sz="1725" b="1" i="0">
                <a:solidFill>
                  <a:srgbClr val="101214"/>
                </a:solidFill>
                <a:latin typeface="Arial"/>
                <a:ea typeface="Arial"/>
                <a:cs typeface="Arial"/>
              </a:defRPr>
            </a:pPr>
            <a:r>
              <a:rPr sz="1725" b="1" i="0">
                <a:solidFill>
                  <a:srgbClr val="101214"/>
                </a:solidFill>
                <a:latin typeface="Arial"/>
                <a:ea typeface="Arial"/>
                <a:cs typeface="Arial"/>
              </a:rPr>
              <a:t>verification stage closed</a:t>
            </a:r>
          </a:p>
          <a:p>
            <a:pPr algn="l">
              <a:buNone/>
              <a:defRPr sz="1725" b="1" i="0">
                <a:solidFill>
                  <a:srgbClr val="101214"/>
                </a:solidFill>
                <a:latin typeface="Arial"/>
                <a:ea typeface="Arial"/>
                <a:cs typeface="Arial"/>
              </a:defRPr>
            </a:pPr>
            <a:r>
              <a:rPr sz="1725" b="1" i="0">
                <a:solidFill>
                  <a:srgbClr val="101214"/>
                </a:solidFill>
                <a:latin typeface="Arial"/>
                <a:ea typeface="Arial"/>
                <a:cs typeface="Arial"/>
              </a:rPr>
              <a:t>exceptions documented in the audit</a:t>
            </a:r>
          </a:p>
        </p:txBody>
      </p:sp>
    </p:spTree>
    <p:extLst>
      <p:ext uri="{BB962C8B-B14F-4D97-AF65-F5344CB8AC3E}">
        <p14:creationId xmlns:p14="http://schemas.microsoft.com/office/powerpoint/2010/main" val="10580182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section-5">
            <a:extLst>
              <a:ext uri="{FF2B5EF4-FFF2-40B4-BE49-F238E27FC236}">
                <a16:creationId xmlns:a16="http://schemas.microsoft.com/office/drawing/2014/main" id="{0960D41F-EC63-4ABE-AFE3-425F8DFA5B4E}"/>
              </a:ext>
            </a:extLst>
          </p:cNvPr>
          <p:cNvSpPr>
            <a:spLocks noGrp="1"/>
          </p:cNvSpPr>
          <p:nvPr/>
        </p:nvSpPr>
        <p:spPr>
          <a:xfrm>
            <a:off x="390525" y="295275"/>
            <a:ext cx="3238500" cy="209550"/>
          </a:xfrm>
          <a:prstGeom prst="rect">
            <a:avLst/>
          </a:prstGeom>
        </p:spPr>
        <p:txBody>
          <a:bodyPr wrap="square" lIns="0" tIns="0" rIns="0" bIns="0" anchor="t">
            <a:noAutofit/>
          </a:bodyPr>
          <a:lstStyle/>
          <a:p>
            <a:pPr algn="l">
              <a:buNone/>
              <a:defRPr sz="1050" b="1" i="0">
                <a:solidFill>
                  <a:srgbClr val="13847D"/>
                </a:solidFill>
                <a:latin typeface="Arial"/>
                <a:ea typeface="Arial"/>
                <a:cs typeface="Arial"/>
              </a:defRPr>
            </a:pPr>
            <a:r>
              <a:rPr sz="1050" b="1" i="0">
                <a:solidFill>
                  <a:srgbClr val="13847D"/>
                </a:solidFill>
                <a:latin typeface="Arial"/>
                <a:ea typeface="Arial"/>
                <a:cs typeface="Arial"/>
              </a:rPr>
              <a:t>PROJECT DIFFICULTIES</a:t>
            </a:r>
          </a:p>
        </p:txBody>
      </p:sp>
      <p:sp>
        <p:nvSpPr>
          <p:cNvPr id="2" name="title-5">
            <a:extLst>
              <a:ext uri="{FF2B5EF4-FFF2-40B4-BE49-F238E27FC236}">
                <a16:creationId xmlns:a16="http://schemas.microsoft.com/office/drawing/2014/main" id="{5BA237F5-339E-4AA4-8436-EC69C3F2D4D1}"/>
              </a:ext>
            </a:extLst>
          </p:cNvPr>
          <p:cNvSpPr>
            <a:spLocks noGrp="1"/>
          </p:cNvSpPr>
          <p:nvPr/>
        </p:nvSpPr>
        <p:spPr>
          <a:xfrm>
            <a:off x="390525" y="581025"/>
            <a:ext cx="11401425" cy="666750"/>
          </a:xfrm>
          <a:prstGeom prst="rect">
            <a:avLst/>
          </a:prstGeom>
        </p:spPr>
        <p:txBody>
          <a:bodyPr wrap="square" lIns="0" tIns="0" rIns="0" bIns="0" anchor="t">
            <a:noAutofit/>
          </a:bodyPr>
          <a:lstStyle/>
          <a:p>
            <a:pPr algn="l">
              <a:buNone/>
              <a:defRPr sz="3450" b="1" i="0">
                <a:solidFill>
                  <a:srgbClr val="101214"/>
                </a:solidFill>
                <a:latin typeface="Arial"/>
                <a:ea typeface="Arial"/>
                <a:cs typeface="Arial"/>
              </a:defRPr>
            </a:pPr>
            <a:r>
              <a:rPr sz="3300" b="1" i="0">
                <a:solidFill>
                  <a:srgbClr val="101214"/>
                </a:solidFill>
                <a:latin typeface="Arial"/>
                <a:ea typeface="Arial"/>
                <a:cs typeface="Arial"/>
              </a:rPr>
              <a:t>Verification was the hardest part of the project</a:t>
            </a:r>
          </a:p>
        </p:txBody>
      </p:sp>
      <p:sp>
        <p:nvSpPr>
          <p:cNvPr id="3" name="Rectangle 2">
            <a:extLst>
              <a:ext uri="{FF2B5EF4-FFF2-40B4-BE49-F238E27FC236}">
                <a16:creationId xmlns:a16="http://schemas.microsoft.com/office/drawing/2014/main" id="{2F5FE55A-6A64-467F-AAFD-3AA975776A66}"/>
              </a:ext>
            </a:extLst>
          </p:cNvPr>
          <p:cNvSpPr>
            <a:spLocks noGrp="1"/>
          </p:cNvSpPr>
          <p:nvPr/>
        </p:nvSpPr>
        <p:spPr>
          <a:xfrm>
            <a:off x="390525" y="1352550"/>
            <a:ext cx="11401425" cy="9525"/>
          </a:xfrm>
          <a:prstGeom prst="rect">
            <a:avLst/>
          </a:prstGeom>
          <a:solidFill>
            <a:srgbClr val="B8BCC4"/>
          </a:solidFill>
          <a:ln w="0">
            <a:solidFill>
              <a:srgbClr val="B8BCC4"/>
            </a:solidFill>
            <a:prstDash val="solid"/>
          </a:ln>
        </p:spPr>
      </p:sp>
      <p:sp>
        <p:nvSpPr>
          <p:cNvPr id="5" name="page-5">
            <a:extLst>
              <a:ext uri="{FF2B5EF4-FFF2-40B4-BE49-F238E27FC236}">
                <a16:creationId xmlns:a16="http://schemas.microsoft.com/office/drawing/2014/main" id="{194EB16A-23AA-4A42-80E0-F0CADAB0C222}"/>
              </a:ext>
            </a:extLst>
          </p:cNvPr>
          <p:cNvSpPr>
            <a:spLocks noGrp="1"/>
          </p:cNvSpPr>
          <p:nvPr/>
        </p:nvSpPr>
        <p:spPr>
          <a:xfrm>
            <a:off x="11201400" y="6305550"/>
            <a:ext cx="590550" cy="238125"/>
          </a:xfrm>
          <a:prstGeom prst="rect">
            <a:avLst/>
          </a:prstGeom>
        </p:spPr>
        <p:txBody>
          <a:bodyPr wrap="square" lIns="0" tIns="0" rIns="0" bIns="0" anchor="t">
            <a:noAutofit/>
          </a:bodyPr>
          <a:lstStyle/>
          <a:p>
            <a:pPr algn="r">
              <a:buNone/>
              <a:defRPr sz="975" b="0" i="0">
                <a:solidFill>
                  <a:srgbClr val="5F6873"/>
                </a:solidFill>
                <a:latin typeface="Arial"/>
                <a:ea typeface="Arial"/>
                <a:cs typeface="Arial"/>
              </a:defRPr>
            </a:pPr>
            <a:r>
              <a:rPr sz="975" b="0" i="0">
                <a:solidFill>
                  <a:srgbClr val="5F6873"/>
                </a:solidFill>
                <a:latin typeface="Arial"/>
                <a:ea typeface="Arial"/>
                <a:cs typeface="Arial"/>
              </a:rPr>
              <a:t>05</a:t>
            </a:r>
          </a:p>
        </p:txBody>
      </p:sp>
      <p:sp>
        <p:nvSpPr>
          <p:cNvPr id="6" name="Rectangle 5">
            <a:extLst>
              <a:ext uri="{FF2B5EF4-FFF2-40B4-BE49-F238E27FC236}">
                <a16:creationId xmlns:a16="http://schemas.microsoft.com/office/drawing/2014/main" id="{9BD12FC2-BDD4-426C-B15D-DB7216974189}"/>
              </a:ext>
            </a:extLst>
          </p:cNvPr>
          <p:cNvSpPr>
            <a:spLocks noGrp="1"/>
          </p:cNvSpPr>
          <p:nvPr/>
        </p:nvSpPr>
        <p:spPr>
          <a:xfrm>
            <a:off x="390525" y="1581150"/>
            <a:ext cx="5048250" cy="419100"/>
          </a:xfrm>
          <a:prstGeom prst="rect">
            <a:avLst/>
          </a:prstGeom>
        </p:spPr>
        <p:txBody>
          <a:bodyPr wrap="square" lIns="0" tIns="0" rIns="0" bIns="0" anchor="t">
            <a:noAutofit/>
          </a:bodyPr>
          <a:lstStyle/>
          <a:p>
            <a:pPr algn="l">
              <a:buNone/>
              <a:defRPr sz="1800" b="0" i="0">
                <a:solidFill>
                  <a:srgbClr val="5F6873"/>
                </a:solidFill>
                <a:latin typeface="Arial"/>
                <a:ea typeface="Arial"/>
                <a:cs typeface="Arial"/>
              </a:defRPr>
            </a:pPr>
            <a:r>
              <a:rPr sz="1763" b="0" i="0">
                <a:solidFill>
                  <a:srgbClr val="5F6873"/>
                </a:solidFill>
                <a:latin typeface="Arial"/>
                <a:ea typeface="Arial"/>
                <a:cs typeface="Arial"/>
              </a:rPr>
              <a:t>The challenge was defining comparable evidence.</a:t>
            </a:r>
          </a:p>
        </p:txBody>
      </p:sp>
      <p:sp>
        <p:nvSpPr>
          <p:cNvPr id="7" name="Rectangle 6">
            <a:extLst>
              <a:ext uri="{FF2B5EF4-FFF2-40B4-BE49-F238E27FC236}">
                <a16:creationId xmlns:a16="http://schemas.microsoft.com/office/drawing/2014/main" id="{202E004F-3EED-4422-8DB0-E10186EDD79D}"/>
              </a:ext>
            </a:extLst>
          </p:cNvPr>
          <p:cNvSpPr>
            <a:spLocks noGrp="1"/>
          </p:cNvSpPr>
          <p:nvPr/>
        </p:nvSpPr>
        <p:spPr>
          <a:xfrm>
            <a:off x="476250" y="2314575"/>
            <a:ext cx="514350" cy="352425"/>
          </a:xfrm>
          <a:prstGeom prst="rect">
            <a:avLst/>
          </a:prstGeom>
        </p:spPr>
        <p:txBody>
          <a:bodyPr wrap="square" lIns="0" tIns="0" rIns="0" bIns="0" anchor="t">
            <a:noAutofit/>
          </a:bodyPr>
          <a:lstStyle/>
          <a:p>
            <a:pPr algn="l">
              <a:buNone/>
              <a:defRPr sz="1500" b="1" i="0">
                <a:solidFill>
                  <a:srgbClr val="13847D"/>
                </a:solidFill>
                <a:latin typeface="Arial"/>
                <a:ea typeface="Arial"/>
                <a:cs typeface="Arial"/>
              </a:defRPr>
            </a:pPr>
            <a:r>
              <a:rPr sz="1500" b="1" i="0">
                <a:solidFill>
                  <a:srgbClr val="13847D"/>
                </a:solidFill>
                <a:latin typeface="Arial"/>
                <a:ea typeface="Arial"/>
                <a:cs typeface="Arial"/>
              </a:rPr>
              <a:t>01</a:t>
            </a:r>
          </a:p>
        </p:txBody>
      </p:sp>
      <p:sp>
        <p:nvSpPr>
          <p:cNvPr id="8" name="Rectangle 7">
            <a:extLst>
              <a:ext uri="{FF2B5EF4-FFF2-40B4-BE49-F238E27FC236}">
                <a16:creationId xmlns:a16="http://schemas.microsoft.com/office/drawing/2014/main" id="{302F2B1F-658A-4A54-BDD2-34F64C88ACCD}"/>
              </a:ext>
            </a:extLst>
          </p:cNvPr>
          <p:cNvSpPr>
            <a:spLocks noGrp="1"/>
          </p:cNvSpPr>
          <p:nvPr/>
        </p:nvSpPr>
        <p:spPr>
          <a:xfrm>
            <a:off x="1133475" y="2266950"/>
            <a:ext cx="4476750" cy="400050"/>
          </a:xfrm>
          <a:prstGeom prst="rect">
            <a:avLst/>
          </a:prstGeom>
        </p:spPr>
        <p:txBody>
          <a:bodyPr wrap="square" lIns="0" tIns="0" rIns="0" bIns="0" anchor="t">
            <a:noAutofit/>
          </a:bodyPr>
          <a:lstStyle/>
          <a:p>
            <a:pPr algn="l">
              <a:buNone/>
              <a:defRPr sz="2025" b="1" i="0">
                <a:solidFill>
                  <a:srgbClr val="101214"/>
                </a:solidFill>
                <a:latin typeface="Arial"/>
                <a:ea typeface="Arial"/>
                <a:cs typeface="Arial"/>
              </a:defRPr>
            </a:pPr>
            <a:r>
              <a:rPr sz="2025" b="1" i="0">
                <a:solidFill>
                  <a:srgbClr val="101214"/>
                </a:solidFill>
                <a:latin typeface="Arial"/>
                <a:ea typeface="Arial"/>
                <a:cs typeface="Arial"/>
              </a:rPr>
              <a:t>Inconsistent official pages</a:t>
            </a:r>
          </a:p>
        </p:txBody>
      </p:sp>
      <p:sp>
        <p:nvSpPr>
          <p:cNvPr id="9" name="Rectangle 8">
            <a:extLst>
              <a:ext uri="{FF2B5EF4-FFF2-40B4-BE49-F238E27FC236}">
                <a16:creationId xmlns:a16="http://schemas.microsoft.com/office/drawing/2014/main" id="{905F46BF-2BB6-4CC1-89A6-0F7867B5BAFA}"/>
              </a:ext>
            </a:extLst>
          </p:cNvPr>
          <p:cNvSpPr>
            <a:spLocks noGrp="1"/>
          </p:cNvSpPr>
          <p:nvPr/>
        </p:nvSpPr>
        <p:spPr>
          <a:xfrm>
            <a:off x="1133475" y="2686050"/>
            <a:ext cx="4476750" cy="381000"/>
          </a:xfrm>
          <a:prstGeom prst="rect">
            <a:avLst/>
          </a:prstGeom>
        </p:spPr>
        <p:txBody>
          <a:bodyPr wrap="square" lIns="0" tIns="0" rIns="0" bIns="0" anchor="t">
            <a:noAutofit/>
          </a:bodyPr>
          <a:lstStyle/>
          <a:p>
            <a:pPr algn="l">
              <a:buNone/>
              <a:defRPr sz="1350" b="0" i="0">
                <a:solidFill>
                  <a:srgbClr val="5F6873"/>
                </a:solidFill>
                <a:latin typeface="Arial"/>
                <a:ea typeface="Arial"/>
                <a:cs typeface="Arial"/>
              </a:defRPr>
            </a:pPr>
            <a:r>
              <a:rPr sz="1275" b="0" i="0">
                <a:solidFill>
                  <a:srgbClr val="5F6873"/>
                </a:solidFill>
                <a:latin typeface="Arial"/>
                <a:ea typeface="Arial"/>
                <a:cs typeface="Arial"/>
              </a:rPr>
              <a:t>Dynamic pages and changing labels required manual review.</a:t>
            </a:r>
          </a:p>
        </p:txBody>
      </p:sp>
      <p:sp>
        <p:nvSpPr>
          <p:cNvPr id="10" name="Rectangle 9">
            <a:extLst>
              <a:ext uri="{FF2B5EF4-FFF2-40B4-BE49-F238E27FC236}">
                <a16:creationId xmlns:a16="http://schemas.microsoft.com/office/drawing/2014/main" id="{9C47337A-6DE7-44E6-B3CB-0FBB6056588A}"/>
              </a:ext>
            </a:extLst>
          </p:cNvPr>
          <p:cNvSpPr>
            <a:spLocks noGrp="1"/>
          </p:cNvSpPr>
          <p:nvPr/>
        </p:nvSpPr>
        <p:spPr>
          <a:xfrm>
            <a:off x="476250" y="3238500"/>
            <a:ext cx="5238750" cy="9525"/>
          </a:xfrm>
          <a:prstGeom prst="rect">
            <a:avLst/>
          </a:prstGeom>
          <a:solidFill>
            <a:srgbClr val="B8BCC4"/>
          </a:solidFill>
          <a:ln w="0">
            <a:solidFill>
              <a:srgbClr val="B8BCC4"/>
            </a:solidFill>
            <a:prstDash val="solid"/>
          </a:ln>
        </p:spPr>
      </p:sp>
      <p:sp>
        <p:nvSpPr>
          <p:cNvPr id="11" name="Rectangle 10">
            <a:extLst>
              <a:ext uri="{FF2B5EF4-FFF2-40B4-BE49-F238E27FC236}">
                <a16:creationId xmlns:a16="http://schemas.microsoft.com/office/drawing/2014/main" id="{00E0FF8F-418B-4F18-90EB-DE04D737BBC4}"/>
              </a:ext>
            </a:extLst>
          </p:cNvPr>
          <p:cNvSpPr>
            <a:spLocks noGrp="1"/>
          </p:cNvSpPr>
          <p:nvPr/>
        </p:nvSpPr>
        <p:spPr>
          <a:xfrm>
            <a:off x="476250" y="3514725"/>
            <a:ext cx="514350" cy="352425"/>
          </a:xfrm>
          <a:prstGeom prst="rect">
            <a:avLst/>
          </a:prstGeom>
        </p:spPr>
        <p:txBody>
          <a:bodyPr wrap="square" lIns="0" tIns="0" rIns="0" bIns="0" anchor="t">
            <a:noAutofit/>
          </a:bodyPr>
          <a:lstStyle/>
          <a:p>
            <a:pPr algn="l">
              <a:buNone/>
              <a:defRPr sz="1500" b="1" i="0">
                <a:solidFill>
                  <a:srgbClr val="13847D"/>
                </a:solidFill>
                <a:latin typeface="Arial"/>
                <a:ea typeface="Arial"/>
                <a:cs typeface="Arial"/>
              </a:defRPr>
            </a:pPr>
            <a:r>
              <a:rPr sz="1500" b="1" i="0">
                <a:solidFill>
                  <a:srgbClr val="13847D"/>
                </a:solidFill>
                <a:latin typeface="Arial"/>
                <a:ea typeface="Arial"/>
                <a:cs typeface="Arial"/>
              </a:rPr>
              <a:t>02</a:t>
            </a:r>
          </a:p>
        </p:txBody>
      </p:sp>
      <p:sp>
        <p:nvSpPr>
          <p:cNvPr id="12" name="Rectangle 11">
            <a:extLst>
              <a:ext uri="{FF2B5EF4-FFF2-40B4-BE49-F238E27FC236}">
                <a16:creationId xmlns:a16="http://schemas.microsoft.com/office/drawing/2014/main" id="{BA48BF8C-7042-48B4-ADDE-F7F654A689FA}"/>
              </a:ext>
            </a:extLst>
          </p:cNvPr>
          <p:cNvSpPr>
            <a:spLocks noGrp="1"/>
          </p:cNvSpPr>
          <p:nvPr/>
        </p:nvSpPr>
        <p:spPr>
          <a:xfrm>
            <a:off x="1133475" y="3467100"/>
            <a:ext cx="4667250" cy="400050"/>
          </a:xfrm>
          <a:prstGeom prst="rect">
            <a:avLst/>
          </a:prstGeom>
        </p:spPr>
        <p:txBody>
          <a:bodyPr wrap="square" lIns="0" tIns="0" rIns="0" bIns="0" anchor="t">
            <a:noAutofit/>
          </a:bodyPr>
          <a:lstStyle/>
          <a:p>
            <a:pPr algn="l">
              <a:buNone/>
              <a:defRPr sz="2025" b="1" i="0">
                <a:solidFill>
                  <a:srgbClr val="101214"/>
                </a:solidFill>
                <a:latin typeface="Arial"/>
                <a:ea typeface="Arial"/>
                <a:cs typeface="Arial"/>
              </a:defRPr>
            </a:pPr>
            <a:r>
              <a:rPr sz="2025" b="1" i="0">
                <a:solidFill>
                  <a:srgbClr val="101214"/>
                </a:solidFill>
                <a:latin typeface="Arial"/>
                <a:ea typeface="Arial"/>
                <a:cs typeface="Arial"/>
              </a:rPr>
              <a:t>Scope and identity ambiguity</a:t>
            </a:r>
          </a:p>
        </p:txBody>
      </p:sp>
      <p:sp>
        <p:nvSpPr>
          <p:cNvPr id="13" name="Rectangle 12">
            <a:extLst>
              <a:ext uri="{FF2B5EF4-FFF2-40B4-BE49-F238E27FC236}">
                <a16:creationId xmlns:a16="http://schemas.microsoft.com/office/drawing/2014/main" id="{C40D2431-9282-4707-B97B-7E7E1938FC7B}"/>
              </a:ext>
            </a:extLst>
          </p:cNvPr>
          <p:cNvSpPr>
            <a:spLocks noGrp="1"/>
          </p:cNvSpPr>
          <p:nvPr/>
        </p:nvSpPr>
        <p:spPr>
          <a:xfrm>
            <a:off x="1133475" y="3886200"/>
            <a:ext cx="4667250" cy="381000"/>
          </a:xfrm>
          <a:prstGeom prst="rect">
            <a:avLst/>
          </a:prstGeom>
        </p:spPr>
        <p:txBody>
          <a:bodyPr wrap="square" lIns="0" tIns="0" rIns="0" bIns="0" anchor="t">
            <a:noAutofit/>
          </a:bodyPr>
          <a:lstStyle/>
          <a:p>
            <a:pPr algn="l">
              <a:buNone/>
              <a:defRPr sz="1350" b="0" i="0">
                <a:solidFill>
                  <a:srgbClr val="5F6873"/>
                </a:solidFill>
                <a:latin typeface="Arial"/>
                <a:ea typeface="Arial"/>
                <a:cs typeface="Arial"/>
              </a:defRPr>
            </a:pPr>
            <a:r>
              <a:rPr sz="1238" b="0" i="0">
                <a:solidFill>
                  <a:srgbClr val="5F6873"/>
                </a:solidFill>
                <a:latin typeface="Arial"/>
                <a:ea typeface="Arial"/>
                <a:cs typeface="Arial"/>
              </a:rPr>
              <a:t>Campus, school, and institution evidence needed separate checks.</a:t>
            </a:r>
          </a:p>
        </p:txBody>
      </p:sp>
      <p:sp>
        <p:nvSpPr>
          <p:cNvPr id="14" name="Rectangle 13">
            <a:extLst>
              <a:ext uri="{FF2B5EF4-FFF2-40B4-BE49-F238E27FC236}">
                <a16:creationId xmlns:a16="http://schemas.microsoft.com/office/drawing/2014/main" id="{1DE5B4C2-3BFB-44D4-8B85-923D80781CED}"/>
              </a:ext>
            </a:extLst>
          </p:cNvPr>
          <p:cNvSpPr>
            <a:spLocks noGrp="1"/>
          </p:cNvSpPr>
          <p:nvPr/>
        </p:nvSpPr>
        <p:spPr>
          <a:xfrm>
            <a:off x="476250" y="4438650"/>
            <a:ext cx="5238750" cy="9525"/>
          </a:xfrm>
          <a:prstGeom prst="rect">
            <a:avLst/>
          </a:prstGeom>
          <a:solidFill>
            <a:srgbClr val="B8BCC4"/>
          </a:solidFill>
          <a:ln w="0">
            <a:solidFill>
              <a:srgbClr val="B8BCC4"/>
            </a:solidFill>
            <a:prstDash val="solid"/>
          </a:ln>
        </p:spPr>
      </p:sp>
      <p:sp>
        <p:nvSpPr>
          <p:cNvPr id="15" name="Rectangle 14">
            <a:extLst>
              <a:ext uri="{FF2B5EF4-FFF2-40B4-BE49-F238E27FC236}">
                <a16:creationId xmlns:a16="http://schemas.microsoft.com/office/drawing/2014/main" id="{259424C3-4697-4420-AE65-BE5715261856}"/>
              </a:ext>
            </a:extLst>
          </p:cNvPr>
          <p:cNvSpPr>
            <a:spLocks noGrp="1"/>
          </p:cNvSpPr>
          <p:nvPr/>
        </p:nvSpPr>
        <p:spPr>
          <a:xfrm>
            <a:off x="476250" y="4714875"/>
            <a:ext cx="514350" cy="352425"/>
          </a:xfrm>
          <a:prstGeom prst="rect">
            <a:avLst/>
          </a:prstGeom>
        </p:spPr>
        <p:txBody>
          <a:bodyPr wrap="square" lIns="0" tIns="0" rIns="0" bIns="0" anchor="t">
            <a:noAutofit/>
          </a:bodyPr>
          <a:lstStyle/>
          <a:p>
            <a:pPr algn="l">
              <a:buNone/>
              <a:defRPr sz="1500" b="1" i="0">
                <a:solidFill>
                  <a:srgbClr val="13847D"/>
                </a:solidFill>
                <a:latin typeface="Arial"/>
                <a:ea typeface="Arial"/>
                <a:cs typeface="Arial"/>
              </a:defRPr>
            </a:pPr>
            <a:r>
              <a:rPr sz="1500" b="1" i="0">
                <a:solidFill>
                  <a:srgbClr val="13847D"/>
                </a:solidFill>
                <a:latin typeface="Arial"/>
                <a:ea typeface="Arial"/>
                <a:cs typeface="Arial"/>
              </a:rPr>
              <a:t>03</a:t>
            </a:r>
          </a:p>
        </p:txBody>
      </p:sp>
      <p:sp>
        <p:nvSpPr>
          <p:cNvPr id="16" name="Rectangle 15">
            <a:extLst>
              <a:ext uri="{FF2B5EF4-FFF2-40B4-BE49-F238E27FC236}">
                <a16:creationId xmlns:a16="http://schemas.microsoft.com/office/drawing/2014/main" id="{4560D0E7-8E48-4716-BFD8-FD5A824EF2CE}"/>
              </a:ext>
            </a:extLst>
          </p:cNvPr>
          <p:cNvSpPr>
            <a:spLocks noGrp="1"/>
          </p:cNvSpPr>
          <p:nvPr/>
        </p:nvSpPr>
        <p:spPr>
          <a:xfrm>
            <a:off x="1133475" y="4667250"/>
            <a:ext cx="4476750" cy="400050"/>
          </a:xfrm>
          <a:prstGeom prst="rect">
            <a:avLst/>
          </a:prstGeom>
        </p:spPr>
        <p:txBody>
          <a:bodyPr wrap="square" lIns="0" tIns="0" rIns="0" bIns="0" anchor="t">
            <a:noAutofit/>
          </a:bodyPr>
          <a:lstStyle/>
          <a:p>
            <a:pPr algn="l">
              <a:buNone/>
              <a:defRPr sz="2025" b="1" i="0">
                <a:solidFill>
                  <a:srgbClr val="101214"/>
                </a:solidFill>
                <a:latin typeface="Arial"/>
                <a:ea typeface="Arial"/>
                <a:cs typeface="Arial"/>
              </a:defRPr>
            </a:pPr>
            <a:r>
              <a:rPr sz="2025" b="1" i="0">
                <a:solidFill>
                  <a:srgbClr val="101214"/>
                </a:solidFill>
                <a:latin typeface="Arial"/>
                <a:ea typeface="Arial"/>
                <a:cs typeface="Arial"/>
              </a:rPr>
              <a:t>Missing did not mean zero</a:t>
            </a:r>
          </a:p>
        </p:txBody>
      </p:sp>
      <p:sp>
        <p:nvSpPr>
          <p:cNvPr id="17" name="Rectangle 16">
            <a:extLst>
              <a:ext uri="{FF2B5EF4-FFF2-40B4-BE49-F238E27FC236}">
                <a16:creationId xmlns:a16="http://schemas.microsoft.com/office/drawing/2014/main" id="{A3F67271-7E00-4DB7-A456-D06EE6BFFCB9}"/>
              </a:ext>
            </a:extLst>
          </p:cNvPr>
          <p:cNvSpPr>
            <a:spLocks noGrp="1"/>
          </p:cNvSpPr>
          <p:nvPr/>
        </p:nvSpPr>
        <p:spPr>
          <a:xfrm>
            <a:off x="1133475" y="5086350"/>
            <a:ext cx="4667250" cy="495300"/>
          </a:xfrm>
          <a:prstGeom prst="rect">
            <a:avLst/>
          </a:prstGeom>
        </p:spPr>
        <p:txBody>
          <a:bodyPr wrap="square" lIns="0" tIns="0" rIns="0" bIns="0" anchor="t">
            <a:noAutofit/>
          </a:bodyPr>
          <a:lstStyle/>
          <a:p>
            <a:pPr algn="l">
              <a:buNone/>
              <a:defRPr sz="1350" b="0" i="0">
                <a:solidFill>
                  <a:srgbClr val="5F6873"/>
                </a:solidFill>
                <a:latin typeface="Arial"/>
                <a:ea typeface="Arial"/>
                <a:cs typeface="Arial"/>
              </a:defRPr>
            </a:pPr>
            <a:r>
              <a:rPr sz="1350" b="0" i="0">
                <a:solidFill>
                  <a:srgbClr val="5F6873"/>
                </a:solidFill>
                <a:latin typeface="Arial"/>
                <a:ea typeface="Arial"/>
                <a:cs typeface="Arial"/>
              </a:rPr>
              <a:t>NR, N/P, 200+, blocked, and uncollected values required distinct states.</a:t>
            </a:r>
          </a:p>
        </p:txBody>
      </p:sp>
      <p:sp>
        <p:nvSpPr>
          <p:cNvPr id="18" name="Rectangle 17">
            <a:extLst>
              <a:ext uri="{FF2B5EF4-FFF2-40B4-BE49-F238E27FC236}">
                <a16:creationId xmlns:a16="http://schemas.microsoft.com/office/drawing/2014/main" id="{BC4A8088-D141-43E3-8E9C-0E43F9558058}"/>
              </a:ext>
            </a:extLst>
          </p:cNvPr>
          <p:cNvSpPr>
            <a:spLocks noGrp="1"/>
          </p:cNvSpPr>
          <p:nvPr/>
        </p:nvSpPr>
        <p:spPr>
          <a:xfrm>
            <a:off x="6286500" y="1724025"/>
            <a:ext cx="5505450" cy="4114800"/>
          </a:xfrm>
          <a:prstGeom prst="rect">
            <a:avLst/>
          </a:prstGeom>
          <a:solidFill>
            <a:srgbClr val="EAF5FB"/>
          </a:solidFill>
          <a:ln w="0">
            <a:solidFill>
              <a:srgbClr val="EAF5FB"/>
            </a:solidFill>
            <a:prstDash val="solid"/>
          </a:ln>
        </p:spPr>
      </p:sp>
      <p:sp>
        <p:nvSpPr>
          <p:cNvPr id="19" name="Rectangle 18">
            <a:extLst>
              <a:ext uri="{FF2B5EF4-FFF2-40B4-BE49-F238E27FC236}">
                <a16:creationId xmlns:a16="http://schemas.microsoft.com/office/drawing/2014/main" id="{D98D1DAC-A1E7-46F5-9BB0-10845DC10A0D}"/>
              </a:ext>
            </a:extLst>
          </p:cNvPr>
          <p:cNvSpPr>
            <a:spLocks noGrp="1"/>
          </p:cNvSpPr>
          <p:nvPr/>
        </p:nvSpPr>
        <p:spPr>
          <a:xfrm>
            <a:off x="6657975" y="2105025"/>
            <a:ext cx="514350" cy="352425"/>
          </a:xfrm>
          <a:prstGeom prst="rect">
            <a:avLst/>
          </a:prstGeom>
        </p:spPr>
        <p:txBody>
          <a:bodyPr wrap="square" lIns="0" tIns="0" rIns="0" bIns="0" anchor="t">
            <a:noAutofit/>
          </a:bodyPr>
          <a:lstStyle/>
          <a:p>
            <a:pPr algn="l">
              <a:buNone/>
              <a:defRPr sz="1500" b="1" i="0">
                <a:solidFill>
                  <a:srgbClr val="3D8DFF"/>
                </a:solidFill>
                <a:latin typeface="Arial"/>
                <a:ea typeface="Arial"/>
                <a:cs typeface="Arial"/>
              </a:defRPr>
            </a:pPr>
            <a:r>
              <a:rPr sz="1500" b="1" i="0">
                <a:solidFill>
                  <a:srgbClr val="3D8DFF"/>
                </a:solidFill>
                <a:latin typeface="Arial"/>
                <a:ea typeface="Arial"/>
                <a:cs typeface="Arial"/>
              </a:rPr>
              <a:t>04</a:t>
            </a:r>
          </a:p>
        </p:txBody>
      </p:sp>
      <p:sp>
        <p:nvSpPr>
          <p:cNvPr id="20" name="Rectangle 19">
            <a:extLst>
              <a:ext uri="{FF2B5EF4-FFF2-40B4-BE49-F238E27FC236}">
                <a16:creationId xmlns:a16="http://schemas.microsoft.com/office/drawing/2014/main" id="{DDFE0B80-D316-4236-A7B9-CBF5E1ADCC36}"/>
              </a:ext>
            </a:extLst>
          </p:cNvPr>
          <p:cNvSpPr>
            <a:spLocks noGrp="1"/>
          </p:cNvSpPr>
          <p:nvPr/>
        </p:nvSpPr>
        <p:spPr>
          <a:xfrm>
            <a:off x="7315200" y="2057400"/>
            <a:ext cx="3905250" cy="400050"/>
          </a:xfrm>
          <a:prstGeom prst="rect">
            <a:avLst/>
          </a:prstGeom>
        </p:spPr>
        <p:txBody>
          <a:bodyPr wrap="square" lIns="0" tIns="0" rIns="0" bIns="0" anchor="t">
            <a:noAutofit/>
          </a:bodyPr>
          <a:lstStyle/>
          <a:p>
            <a:pPr algn="l">
              <a:buNone/>
              <a:defRPr sz="2025" b="1" i="0">
                <a:solidFill>
                  <a:srgbClr val="101214"/>
                </a:solidFill>
                <a:latin typeface="Arial"/>
                <a:ea typeface="Arial"/>
                <a:cs typeface="Arial"/>
              </a:defRPr>
            </a:pPr>
            <a:r>
              <a:rPr sz="2025" b="1" i="0">
                <a:solidFill>
                  <a:srgbClr val="101214"/>
                </a:solidFill>
                <a:latin typeface="Arial"/>
                <a:ea typeface="Arial"/>
                <a:cs typeface="Arial"/>
              </a:rPr>
              <a:t>Name and route matching</a:t>
            </a:r>
          </a:p>
        </p:txBody>
      </p:sp>
      <p:sp>
        <p:nvSpPr>
          <p:cNvPr id="21" name="Rectangle 20">
            <a:extLst>
              <a:ext uri="{FF2B5EF4-FFF2-40B4-BE49-F238E27FC236}">
                <a16:creationId xmlns:a16="http://schemas.microsoft.com/office/drawing/2014/main" id="{D28C9F83-61B3-488B-A350-41B749AB0EB7}"/>
              </a:ext>
            </a:extLst>
          </p:cNvPr>
          <p:cNvSpPr>
            <a:spLocks noGrp="1"/>
          </p:cNvSpPr>
          <p:nvPr/>
        </p:nvSpPr>
        <p:spPr>
          <a:xfrm>
            <a:off x="7315200" y="2495550"/>
            <a:ext cx="3905250" cy="685800"/>
          </a:xfrm>
          <a:prstGeom prst="rect">
            <a:avLst/>
          </a:prstGeom>
        </p:spPr>
        <p:txBody>
          <a:bodyPr wrap="square" lIns="0" tIns="0" rIns="0" bIns="0" anchor="t">
            <a:noAutofit/>
          </a:bodyPr>
          <a:lstStyle/>
          <a:p>
            <a:pPr algn="l">
              <a:buNone/>
              <a:defRPr sz="1425" b="0" i="0">
                <a:solidFill>
                  <a:srgbClr val="19395E"/>
                </a:solidFill>
                <a:latin typeface="Arial"/>
                <a:ea typeface="Arial"/>
                <a:cs typeface="Arial"/>
              </a:defRPr>
            </a:pPr>
            <a:r>
              <a:rPr sz="1425" b="0" i="0">
                <a:solidFill>
                  <a:srgbClr val="19395E"/>
                </a:solidFill>
                <a:latin typeface="Arial"/>
                <a:ea typeface="Arial"/>
                <a:cs typeface="Arial"/>
              </a:rPr>
              <a:t>Aliases, translated titles, and research/taught routes needed human judgment.</a:t>
            </a:r>
          </a:p>
        </p:txBody>
      </p:sp>
      <p:sp>
        <p:nvSpPr>
          <p:cNvPr id="22" name="Rectangle 21">
            <a:extLst>
              <a:ext uri="{FF2B5EF4-FFF2-40B4-BE49-F238E27FC236}">
                <a16:creationId xmlns:a16="http://schemas.microsoft.com/office/drawing/2014/main" id="{2B8D6343-D488-47E3-A048-26A8022350CA}"/>
              </a:ext>
            </a:extLst>
          </p:cNvPr>
          <p:cNvSpPr>
            <a:spLocks noGrp="1"/>
          </p:cNvSpPr>
          <p:nvPr/>
        </p:nvSpPr>
        <p:spPr>
          <a:xfrm>
            <a:off x="6657975" y="3457575"/>
            <a:ext cx="4667250" cy="9525"/>
          </a:xfrm>
          <a:prstGeom prst="rect">
            <a:avLst/>
          </a:prstGeom>
          <a:solidFill>
            <a:srgbClr val="A6C9DC"/>
          </a:solidFill>
          <a:ln w="0">
            <a:solidFill>
              <a:srgbClr val="A6C9DC"/>
            </a:solidFill>
            <a:prstDash val="solid"/>
          </a:ln>
        </p:spPr>
      </p:sp>
      <p:sp>
        <p:nvSpPr>
          <p:cNvPr id="23" name="Rectangle 22">
            <a:extLst>
              <a:ext uri="{FF2B5EF4-FFF2-40B4-BE49-F238E27FC236}">
                <a16:creationId xmlns:a16="http://schemas.microsoft.com/office/drawing/2014/main" id="{3AAE8420-04A4-4D7F-97C7-E5D0802EE90F}"/>
              </a:ext>
            </a:extLst>
          </p:cNvPr>
          <p:cNvSpPr>
            <a:spLocks noGrp="1"/>
          </p:cNvSpPr>
          <p:nvPr/>
        </p:nvSpPr>
        <p:spPr>
          <a:xfrm>
            <a:off x="6657975" y="3781425"/>
            <a:ext cx="514350" cy="352425"/>
          </a:xfrm>
          <a:prstGeom prst="rect">
            <a:avLst/>
          </a:prstGeom>
        </p:spPr>
        <p:txBody>
          <a:bodyPr wrap="square" lIns="0" tIns="0" rIns="0" bIns="0" anchor="t">
            <a:noAutofit/>
          </a:bodyPr>
          <a:lstStyle/>
          <a:p>
            <a:pPr algn="l">
              <a:buNone/>
              <a:defRPr sz="1500" b="1" i="0">
                <a:solidFill>
                  <a:srgbClr val="3D8DFF"/>
                </a:solidFill>
                <a:latin typeface="Arial"/>
                <a:ea typeface="Arial"/>
                <a:cs typeface="Arial"/>
              </a:defRPr>
            </a:pPr>
            <a:r>
              <a:rPr sz="1500" b="1" i="0">
                <a:solidFill>
                  <a:srgbClr val="3D8DFF"/>
                </a:solidFill>
                <a:latin typeface="Arial"/>
                <a:ea typeface="Arial"/>
                <a:cs typeface="Arial"/>
              </a:rPr>
              <a:t>05</a:t>
            </a:r>
          </a:p>
        </p:txBody>
      </p:sp>
      <p:sp>
        <p:nvSpPr>
          <p:cNvPr id="24" name="Rectangle 23">
            <a:extLst>
              <a:ext uri="{FF2B5EF4-FFF2-40B4-BE49-F238E27FC236}">
                <a16:creationId xmlns:a16="http://schemas.microsoft.com/office/drawing/2014/main" id="{F1CA42B1-FE0C-4128-BEDE-C9A376E5133B}"/>
              </a:ext>
            </a:extLst>
          </p:cNvPr>
          <p:cNvSpPr>
            <a:spLocks noGrp="1"/>
          </p:cNvSpPr>
          <p:nvPr/>
        </p:nvSpPr>
        <p:spPr>
          <a:xfrm>
            <a:off x="7315200" y="3733800"/>
            <a:ext cx="3905250" cy="685800"/>
          </a:xfrm>
          <a:prstGeom prst="rect">
            <a:avLst/>
          </a:prstGeom>
        </p:spPr>
        <p:txBody>
          <a:bodyPr wrap="square" lIns="0" tIns="0" rIns="0" bIns="0" anchor="t">
            <a:noAutofit/>
          </a:bodyPr>
          <a:lstStyle/>
          <a:p>
            <a:pPr algn="l">
              <a:buNone/>
              <a:defRPr sz="2025" b="1" i="0">
                <a:solidFill>
                  <a:srgbClr val="101214"/>
                </a:solidFill>
                <a:latin typeface="Arial"/>
                <a:ea typeface="Arial"/>
                <a:cs typeface="Arial"/>
              </a:defRPr>
            </a:pPr>
            <a:r>
              <a:rPr sz="2025" b="1" i="0">
                <a:solidFill>
                  <a:srgbClr val="101214"/>
                </a:solidFill>
                <a:latin typeface="Arial"/>
                <a:ea typeface="Arial"/>
                <a:cs typeface="Arial"/>
              </a:rPr>
              <a:t>Coverage was uneven</a:t>
            </a:r>
          </a:p>
        </p:txBody>
      </p:sp>
      <p:sp>
        <p:nvSpPr>
          <p:cNvPr id="25" name="Rectangle 24">
            <a:extLst>
              <a:ext uri="{FF2B5EF4-FFF2-40B4-BE49-F238E27FC236}">
                <a16:creationId xmlns:a16="http://schemas.microsoft.com/office/drawing/2014/main" id="{75BA9816-913A-437B-95DC-967ED13C1060}"/>
              </a:ext>
            </a:extLst>
          </p:cNvPr>
          <p:cNvSpPr>
            <a:spLocks noGrp="1"/>
          </p:cNvSpPr>
          <p:nvPr/>
        </p:nvSpPr>
        <p:spPr>
          <a:xfrm>
            <a:off x="7315200" y="4495800"/>
            <a:ext cx="3905250" cy="685800"/>
          </a:xfrm>
          <a:prstGeom prst="rect">
            <a:avLst/>
          </a:prstGeom>
        </p:spPr>
        <p:txBody>
          <a:bodyPr wrap="square" lIns="0" tIns="0" rIns="0" bIns="0" anchor="t">
            <a:noAutofit/>
          </a:bodyPr>
          <a:lstStyle/>
          <a:p>
            <a:pPr algn="l">
              <a:buNone/>
              <a:defRPr sz="1425" b="0" i="0">
                <a:solidFill>
                  <a:srgbClr val="19395E"/>
                </a:solidFill>
                <a:latin typeface="Arial"/>
                <a:ea typeface="Arial"/>
                <a:cs typeface="Arial"/>
              </a:defRPr>
            </a:pPr>
            <a:r>
              <a:rPr sz="1425" b="0" i="0">
                <a:solidFill>
                  <a:srgbClr val="19395E"/>
                </a:solidFill>
                <a:latin typeface="Arial"/>
                <a:ea typeface="Arial"/>
                <a:cs typeface="Arial"/>
              </a:rPr>
              <a:t>OpenAlex limits and sparse Reddit discussion reduced automation for some schools.</a:t>
            </a:r>
          </a:p>
        </p:txBody>
      </p:sp>
    </p:spTree>
    <p:extLst>
      <p:ext uri="{BB962C8B-B14F-4D97-AF65-F5344CB8AC3E}">
        <p14:creationId xmlns:p14="http://schemas.microsoft.com/office/powerpoint/2010/main" val="701217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section-6">
            <a:extLst>
              <a:ext uri="{FF2B5EF4-FFF2-40B4-BE49-F238E27FC236}">
                <a16:creationId xmlns:a16="http://schemas.microsoft.com/office/drawing/2014/main" id="{F0854E8A-D6E4-401B-872E-1B9BB8A383F3}"/>
              </a:ext>
            </a:extLst>
          </p:cNvPr>
          <p:cNvSpPr>
            <a:spLocks noGrp="1"/>
          </p:cNvSpPr>
          <p:nvPr/>
        </p:nvSpPr>
        <p:spPr>
          <a:xfrm>
            <a:off x="390525" y="295275"/>
            <a:ext cx="3238500" cy="209550"/>
          </a:xfrm>
          <a:prstGeom prst="rect">
            <a:avLst/>
          </a:prstGeom>
        </p:spPr>
        <p:txBody>
          <a:bodyPr wrap="square" lIns="0" tIns="0" rIns="0" bIns="0" anchor="t">
            <a:noAutofit/>
          </a:bodyPr>
          <a:lstStyle/>
          <a:p>
            <a:pPr algn="l">
              <a:buNone/>
              <a:defRPr sz="1050" b="1" i="0">
                <a:solidFill>
                  <a:srgbClr val="13847D"/>
                </a:solidFill>
                <a:latin typeface="Arial"/>
                <a:ea typeface="Arial"/>
                <a:cs typeface="Arial"/>
              </a:defRPr>
            </a:pPr>
            <a:r>
              <a:rPr sz="1050" b="1" i="0">
                <a:solidFill>
                  <a:srgbClr val="13847D"/>
                </a:solidFill>
                <a:latin typeface="Arial"/>
                <a:ea typeface="Arial"/>
                <a:cs typeface="Arial"/>
              </a:rPr>
              <a:t>DATA COLLECTION</a:t>
            </a:r>
          </a:p>
        </p:txBody>
      </p:sp>
      <p:sp>
        <p:nvSpPr>
          <p:cNvPr id="2" name="title-6">
            <a:extLst>
              <a:ext uri="{FF2B5EF4-FFF2-40B4-BE49-F238E27FC236}">
                <a16:creationId xmlns:a16="http://schemas.microsoft.com/office/drawing/2014/main" id="{CA219891-9E3E-4075-B1AC-D3D3CEB365E8}"/>
              </a:ext>
            </a:extLst>
          </p:cNvPr>
          <p:cNvSpPr>
            <a:spLocks noGrp="1"/>
          </p:cNvSpPr>
          <p:nvPr/>
        </p:nvSpPr>
        <p:spPr>
          <a:xfrm>
            <a:off x="390525" y="581025"/>
            <a:ext cx="11401425" cy="666750"/>
          </a:xfrm>
          <a:prstGeom prst="rect">
            <a:avLst/>
          </a:prstGeom>
        </p:spPr>
        <p:txBody>
          <a:bodyPr wrap="square" lIns="0" tIns="0" rIns="0" bIns="0" anchor="t">
            <a:noAutofit/>
          </a:bodyPr>
          <a:lstStyle/>
          <a:p>
            <a:pPr algn="l">
              <a:buNone/>
              <a:defRPr sz="3450" b="1" i="0">
                <a:solidFill>
                  <a:srgbClr val="101214"/>
                </a:solidFill>
                <a:latin typeface="Arial"/>
                <a:ea typeface="Arial"/>
                <a:cs typeface="Arial"/>
              </a:defRPr>
            </a:pPr>
            <a:r>
              <a:rPr sz="3038" b="1" i="0">
                <a:solidFill>
                  <a:srgbClr val="101214"/>
                </a:solidFill>
                <a:latin typeface="Arial"/>
                <a:ea typeface="Arial"/>
                <a:cs typeface="Arial"/>
              </a:rPr>
              <a:t>The pipeline turns fragmented sources into auditable outputs</a:t>
            </a:r>
          </a:p>
        </p:txBody>
      </p:sp>
      <p:sp>
        <p:nvSpPr>
          <p:cNvPr id="3" name="Rectangle 2">
            <a:extLst>
              <a:ext uri="{FF2B5EF4-FFF2-40B4-BE49-F238E27FC236}">
                <a16:creationId xmlns:a16="http://schemas.microsoft.com/office/drawing/2014/main" id="{E838F9A6-EBCA-4EEC-91AE-47D223E8BBC7}"/>
              </a:ext>
            </a:extLst>
          </p:cNvPr>
          <p:cNvSpPr>
            <a:spLocks noGrp="1"/>
          </p:cNvSpPr>
          <p:nvPr/>
        </p:nvSpPr>
        <p:spPr>
          <a:xfrm>
            <a:off x="390525" y="1352550"/>
            <a:ext cx="11401425" cy="9525"/>
          </a:xfrm>
          <a:prstGeom prst="rect">
            <a:avLst/>
          </a:prstGeom>
          <a:solidFill>
            <a:srgbClr val="B8BCC4"/>
          </a:solidFill>
          <a:ln w="0">
            <a:solidFill>
              <a:srgbClr val="B8BCC4"/>
            </a:solidFill>
            <a:prstDash val="solid"/>
          </a:ln>
        </p:spPr>
      </p:sp>
      <p:sp>
        <p:nvSpPr>
          <p:cNvPr id="4" name="source-6">
            <a:extLst>
              <a:ext uri="{FF2B5EF4-FFF2-40B4-BE49-F238E27FC236}">
                <a16:creationId xmlns:a16="http://schemas.microsoft.com/office/drawing/2014/main" id="{5AAEE504-60C9-4283-A390-6942F82C863B}"/>
              </a:ext>
            </a:extLst>
          </p:cNvPr>
          <p:cNvSpPr>
            <a:spLocks noGrp="1"/>
          </p:cNvSpPr>
          <p:nvPr/>
        </p:nvSpPr>
        <p:spPr>
          <a:xfrm>
            <a:off x="390525" y="6372225"/>
            <a:ext cx="10096500" cy="171450"/>
          </a:xfrm>
          <a:prstGeom prst="rect">
            <a:avLst/>
          </a:prstGeom>
        </p:spPr>
        <p:txBody>
          <a:bodyPr wrap="square" lIns="0" tIns="0" rIns="0" bIns="0" anchor="t">
            <a:noAutofit/>
          </a:bodyPr>
          <a:lstStyle/>
          <a:p>
            <a:pPr algn="l">
              <a:buNone/>
              <a:defRPr sz="825" b="0" i="0">
                <a:solidFill>
                  <a:srgbClr val="5F6873"/>
                </a:solidFill>
                <a:latin typeface="Arial"/>
                <a:ea typeface="Arial"/>
                <a:cs typeface="Arial"/>
              </a:defRPr>
            </a:pPr>
            <a:r>
              <a:rPr sz="825" b="0" i="0" dirty="0">
                <a:solidFill>
                  <a:srgbClr val="5F6873"/>
                </a:solidFill>
                <a:latin typeface="Arial"/>
                <a:ea typeface="Arial"/>
                <a:cs typeface="Arial"/>
              </a:rPr>
              <a:t>Source: project build scripts and output packages</a:t>
            </a:r>
          </a:p>
        </p:txBody>
      </p:sp>
      <p:sp>
        <p:nvSpPr>
          <p:cNvPr id="5" name="page-6">
            <a:extLst>
              <a:ext uri="{FF2B5EF4-FFF2-40B4-BE49-F238E27FC236}">
                <a16:creationId xmlns:a16="http://schemas.microsoft.com/office/drawing/2014/main" id="{4CAE7110-AFFA-4886-BE97-BCC0AAF9049F}"/>
              </a:ext>
            </a:extLst>
          </p:cNvPr>
          <p:cNvSpPr>
            <a:spLocks noGrp="1"/>
          </p:cNvSpPr>
          <p:nvPr/>
        </p:nvSpPr>
        <p:spPr>
          <a:xfrm>
            <a:off x="11201400" y="6305550"/>
            <a:ext cx="590550" cy="238125"/>
          </a:xfrm>
          <a:prstGeom prst="rect">
            <a:avLst/>
          </a:prstGeom>
        </p:spPr>
        <p:txBody>
          <a:bodyPr wrap="square" lIns="0" tIns="0" rIns="0" bIns="0" anchor="t">
            <a:noAutofit/>
          </a:bodyPr>
          <a:lstStyle/>
          <a:p>
            <a:pPr algn="r">
              <a:buNone/>
              <a:defRPr sz="975" b="0" i="0">
                <a:solidFill>
                  <a:srgbClr val="5F6873"/>
                </a:solidFill>
                <a:latin typeface="Arial"/>
                <a:ea typeface="Arial"/>
                <a:cs typeface="Arial"/>
              </a:defRPr>
            </a:pPr>
            <a:r>
              <a:rPr sz="975" b="0" i="0">
                <a:solidFill>
                  <a:srgbClr val="5F6873"/>
                </a:solidFill>
                <a:latin typeface="Arial"/>
                <a:ea typeface="Arial"/>
                <a:cs typeface="Arial"/>
              </a:rPr>
              <a:t>06</a:t>
            </a:r>
          </a:p>
        </p:txBody>
      </p:sp>
      <p:sp>
        <p:nvSpPr>
          <p:cNvPr id="6" name="Arrow: Right 5">
            <a:extLst>
              <a:ext uri="{FF2B5EF4-FFF2-40B4-BE49-F238E27FC236}">
                <a16:creationId xmlns:a16="http://schemas.microsoft.com/office/drawing/2014/main" id="{EA769144-7F91-44A0-B215-2771ACCBF707}"/>
              </a:ext>
            </a:extLst>
          </p:cNvPr>
          <p:cNvSpPr>
            <a:spLocks noGrp="1"/>
          </p:cNvSpPr>
          <p:nvPr/>
        </p:nvSpPr>
        <p:spPr>
          <a:xfrm>
            <a:off x="2352675" y="3228975"/>
            <a:ext cx="419100" cy="228600"/>
          </a:xfrm>
          <a:prstGeom prst="rightArrow">
            <a:avLst/>
          </a:prstGeom>
          <a:solidFill>
            <a:srgbClr val="6DCBF4"/>
          </a:solidFill>
          <a:ln w="0">
            <a:solidFill>
              <a:srgbClr val="6DCBF4"/>
            </a:solidFill>
            <a:prstDash val="solid"/>
          </a:ln>
        </p:spPr>
      </p:sp>
      <p:sp>
        <p:nvSpPr>
          <p:cNvPr id="7" name="Arrow: Right 6">
            <a:extLst>
              <a:ext uri="{FF2B5EF4-FFF2-40B4-BE49-F238E27FC236}">
                <a16:creationId xmlns:a16="http://schemas.microsoft.com/office/drawing/2014/main" id="{DD9278AB-E7D8-47E6-8BB8-C8C45947CB53}"/>
              </a:ext>
            </a:extLst>
          </p:cNvPr>
          <p:cNvSpPr>
            <a:spLocks noGrp="1"/>
          </p:cNvSpPr>
          <p:nvPr/>
        </p:nvSpPr>
        <p:spPr>
          <a:xfrm>
            <a:off x="4657725" y="3228975"/>
            <a:ext cx="419100" cy="228600"/>
          </a:xfrm>
          <a:prstGeom prst="rightArrow">
            <a:avLst/>
          </a:prstGeom>
          <a:solidFill>
            <a:srgbClr val="6DCBF4"/>
          </a:solidFill>
          <a:ln w="0">
            <a:solidFill>
              <a:srgbClr val="6DCBF4"/>
            </a:solidFill>
            <a:prstDash val="solid"/>
          </a:ln>
        </p:spPr>
      </p:sp>
      <p:sp>
        <p:nvSpPr>
          <p:cNvPr id="8" name="Arrow: Right 7">
            <a:extLst>
              <a:ext uri="{FF2B5EF4-FFF2-40B4-BE49-F238E27FC236}">
                <a16:creationId xmlns:a16="http://schemas.microsoft.com/office/drawing/2014/main" id="{A5EF96B4-C235-48C2-BE70-F32E8E8802C8}"/>
              </a:ext>
            </a:extLst>
          </p:cNvPr>
          <p:cNvSpPr>
            <a:spLocks noGrp="1"/>
          </p:cNvSpPr>
          <p:nvPr/>
        </p:nvSpPr>
        <p:spPr>
          <a:xfrm>
            <a:off x="6962775" y="3228975"/>
            <a:ext cx="419100" cy="228600"/>
          </a:xfrm>
          <a:prstGeom prst="rightArrow">
            <a:avLst/>
          </a:prstGeom>
          <a:solidFill>
            <a:srgbClr val="6DCBF4"/>
          </a:solidFill>
          <a:ln w="0">
            <a:solidFill>
              <a:srgbClr val="6DCBF4"/>
            </a:solidFill>
            <a:prstDash val="solid"/>
          </a:ln>
        </p:spPr>
      </p:sp>
      <p:sp>
        <p:nvSpPr>
          <p:cNvPr id="9" name="Arrow: Right 8">
            <a:extLst>
              <a:ext uri="{FF2B5EF4-FFF2-40B4-BE49-F238E27FC236}">
                <a16:creationId xmlns:a16="http://schemas.microsoft.com/office/drawing/2014/main" id="{DB96C7B8-9D8E-4C5A-AED1-26336236EC06}"/>
              </a:ext>
            </a:extLst>
          </p:cNvPr>
          <p:cNvSpPr>
            <a:spLocks noGrp="1"/>
          </p:cNvSpPr>
          <p:nvPr/>
        </p:nvSpPr>
        <p:spPr>
          <a:xfrm>
            <a:off x="9267825" y="3228975"/>
            <a:ext cx="419100" cy="228600"/>
          </a:xfrm>
          <a:prstGeom prst="rightArrow">
            <a:avLst/>
          </a:prstGeom>
          <a:solidFill>
            <a:srgbClr val="6DCBF4"/>
          </a:solidFill>
          <a:ln w="0">
            <a:solidFill>
              <a:srgbClr val="6DCBF4"/>
            </a:solidFill>
            <a:prstDash val="solid"/>
          </a:ln>
        </p:spPr>
      </p:sp>
      <p:sp>
        <p:nvSpPr>
          <p:cNvPr id="10" name="Rectangle 9">
            <a:extLst>
              <a:ext uri="{FF2B5EF4-FFF2-40B4-BE49-F238E27FC236}">
                <a16:creationId xmlns:a16="http://schemas.microsoft.com/office/drawing/2014/main" id="{E9BC683F-6625-4823-9A44-51E8D7FA911B}"/>
              </a:ext>
            </a:extLst>
          </p:cNvPr>
          <p:cNvSpPr>
            <a:spLocks noGrp="1"/>
          </p:cNvSpPr>
          <p:nvPr/>
        </p:nvSpPr>
        <p:spPr>
          <a:xfrm>
            <a:off x="390525" y="2057400"/>
            <a:ext cx="1962150" cy="2733675"/>
          </a:xfrm>
          <a:prstGeom prst="rect">
            <a:avLst/>
          </a:prstGeom>
          <a:solidFill>
            <a:srgbClr val="F2F2F2"/>
          </a:solidFill>
          <a:ln w="0">
            <a:solidFill>
              <a:srgbClr val="F2F2F2"/>
            </a:solidFill>
            <a:prstDash val="solid"/>
          </a:ln>
        </p:spPr>
      </p:sp>
      <p:sp>
        <p:nvSpPr>
          <p:cNvPr id="11" name="Rectangle 10">
            <a:extLst>
              <a:ext uri="{FF2B5EF4-FFF2-40B4-BE49-F238E27FC236}">
                <a16:creationId xmlns:a16="http://schemas.microsoft.com/office/drawing/2014/main" id="{6E476BA8-C96E-41FA-98B6-0B1FF8C3665E}"/>
              </a:ext>
            </a:extLst>
          </p:cNvPr>
          <p:cNvSpPr>
            <a:spLocks noGrp="1"/>
          </p:cNvSpPr>
          <p:nvPr/>
        </p:nvSpPr>
        <p:spPr>
          <a:xfrm>
            <a:off x="2695575" y="2057400"/>
            <a:ext cx="1962150" cy="2733675"/>
          </a:xfrm>
          <a:prstGeom prst="rect">
            <a:avLst/>
          </a:prstGeom>
          <a:solidFill>
            <a:srgbClr val="EAF5FB"/>
          </a:solidFill>
          <a:ln w="0">
            <a:solidFill>
              <a:srgbClr val="EAF5FB"/>
            </a:solidFill>
            <a:prstDash val="solid"/>
          </a:ln>
        </p:spPr>
      </p:sp>
      <p:sp>
        <p:nvSpPr>
          <p:cNvPr id="12" name="Rectangle 11">
            <a:extLst>
              <a:ext uri="{FF2B5EF4-FFF2-40B4-BE49-F238E27FC236}">
                <a16:creationId xmlns:a16="http://schemas.microsoft.com/office/drawing/2014/main" id="{0A39021D-755D-43A8-B657-387A91E5ABC7}"/>
              </a:ext>
            </a:extLst>
          </p:cNvPr>
          <p:cNvSpPr>
            <a:spLocks noGrp="1"/>
          </p:cNvSpPr>
          <p:nvPr/>
        </p:nvSpPr>
        <p:spPr>
          <a:xfrm>
            <a:off x="5000625" y="2057400"/>
            <a:ext cx="1962150" cy="2733675"/>
          </a:xfrm>
          <a:prstGeom prst="rect">
            <a:avLst/>
          </a:prstGeom>
          <a:solidFill>
            <a:srgbClr val="F2F2F2"/>
          </a:solidFill>
          <a:ln w="0">
            <a:solidFill>
              <a:srgbClr val="F2F2F2"/>
            </a:solidFill>
            <a:prstDash val="solid"/>
          </a:ln>
        </p:spPr>
      </p:sp>
      <p:sp>
        <p:nvSpPr>
          <p:cNvPr id="13" name="Rectangle 12">
            <a:extLst>
              <a:ext uri="{FF2B5EF4-FFF2-40B4-BE49-F238E27FC236}">
                <a16:creationId xmlns:a16="http://schemas.microsoft.com/office/drawing/2014/main" id="{F639B72B-D1E7-4EB4-8F75-60D3929C76BF}"/>
              </a:ext>
            </a:extLst>
          </p:cNvPr>
          <p:cNvSpPr>
            <a:spLocks noGrp="1"/>
          </p:cNvSpPr>
          <p:nvPr/>
        </p:nvSpPr>
        <p:spPr>
          <a:xfrm>
            <a:off x="7305675" y="2057400"/>
            <a:ext cx="1962150" cy="2733675"/>
          </a:xfrm>
          <a:prstGeom prst="rect">
            <a:avLst/>
          </a:prstGeom>
          <a:solidFill>
            <a:srgbClr val="EAF5FB"/>
          </a:solidFill>
          <a:ln w="0">
            <a:solidFill>
              <a:srgbClr val="EAF5FB"/>
            </a:solidFill>
            <a:prstDash val="solid"/>
          </a:ln>
        </p:spPr>
      </p:sp>
      <p:sp>
        <p:nvSpPr>
          <p:cNvPr id="14" name="Rectangle 13">
            <a:extLst>
              <a:ext uri="{FF2B5EF4-FFF2-40B4-BE49-F238E27FC236}">
                <a16:creationId xmlns:a16="http://schemas.microsoft.com/office/drawing/2014/main" id="{E1C85C08-8A58-421E-9E94-21E7DF6F2F9C}"/>
              </a:ext>
            </a:extLst>
          </p:cNvPr>
          <p:cNvSpPr>
            <a:spLocks noGrp="1"/>
          </p:cNvSpPr>
          <p:nvPr/>
        </p:nvSpPr>
        <p:spPr>
          <a:xfrm>
            <a:off x="9610725" y="2057400"/>
            <a:ext cx="2181225" cy="2733675"/>
          </a:xfrm>
          <a:prstGeom prst="rect">
            <a:avLst/>
          </a:prstGeom>
          <a:solidFill>
            <a:srgbClr val="F2F2F2"/>
          </a:solidFill>
          <a:ln w="0">
            <a:solidFill>
              <a:srgbClr val="F2F2F2"/>
            </a:solidFill>
            <a:prstDash val="solid"/>
          </a:ln>
        </p:spPr>
      </p:sp>
      <p:sp>
        <p:nvSpPr>
          <p:cNvPr id="15" name="Rectangle 14">
            <a:extLst>
              <a:ext uri="{FF2B5EF4-FFF2-40B4-BE49-F238E27FC236}">
                <a16:creationId xmlns:a16="http://schemas.microsoft.com/office/drawing/2014/main" id="{EA22EA55-87E9-4DD2-B3C8-BB0F9033B336}"/>
              </a:ext>
            </a:extLst>
          </p:cNvPr>
          <p:cNvSpPr>
            <a:spLocks noGrp="1"/>
          </p:cNvSpPr>
          <p:nvPr/>
        </p:nvSpPr>
        <p:spPr>
          <a:xfrm>
            <a:off x="619125" y="2295525"/>
            <a:ext cx="476250" cy="314325"/>
          </a:xfrm>
          <a:prstGeom prst="rect">
            <a:avLst/>
          </a:prstGeom>
        </p:spPr>
        <p:txBody>
          <a:bodyPr wrap="square" lIns="0" tIns="0" rIns="0" bIns="0" anchor="t">
            <a:noAutofit/>
          </a:bodyPr>
          <a:lstStyle/>
          <a:p>
            <a:pPr algn="l">
              <a:buNone/>
              <a:defRPr sz="1350" b="1" i="0">
                <a:solidFill>
                  <a:srgbClr val="13847D"/>
                </a:solidFill>
                <a:latin typeface="Arial"/>
                <a:ea typeface="Arial"/>
                <a:cs typeface="Arial"/>
              </a:defRPr>
            </a:pPr>
            <a:r>
              <a:rPr sz="1350" b="1" i="0">
                <a:solidFill>
                  <a:srgbClr val="13847D"/>
                </a:solidFill>
                <a:latin typeface="Arial"/>
                <a:ea typeface="Arial"/>
                <a:cs typeface="Arial"/>
              </a:rPr>
              <a:t>01</a:t>
            </a:r>
          </a:p>
        </p:txBody>
      </p:sp>
      <p:sp>
        <p:nvSpPr>
          <p:cNvPr id="16" name="Rectangle 15">
            <a:extLst>
              <a:ext uri="{FF2B5EF4-FFF2-40B4-BE49-F238E27FC236}">
                <a16:creationId xmlns:a16="http://schemas.microsoft.com/office/drawing/2014/main" id="{B00BA8C1-E76C-4D5C-A7C3-76B2F789FDA4}"/>
              </a:ext>
            </a:extLst>
          </p:cNvPr>
          <p:cNvSpPr>
            <a:spLocks noGrp="1"/>
          </p:cNvSpPr>
          <p:nvPr/>
        </p:nvSpPr>
        <p:spPr>
          <a:xfrm>
            <a:off x="619125" y="2714625"/>
            <a:ext cx="1428750" cy="381000"/>
          </a:xfrm>
          <a:prstGeom prst="rect">
            <a:avLst/>
          </a:prstGeom>
        </p:spPr>
        <p:txBody>
          <a:bodyPr wrap="square" lIns="0" tIns="0" rIns="0" bIns="0" anchor="t">
            <a:noAutofit/>
          </a:bodyPr>
          <a:lstStyle/>
          <a:p>
            <a:pPr algn="l">
              <a:buNone/>
              <a:defRPr sz="2175" b="1" i="0">
                <a:solidFill>
                  <a:srgbClr val="101214"/>
                </a:solidFill>
                <a:latin typeface="Arial"/>
                <a:ea typeface="Arial"/>
                <a:cs typeface="Arial"/>
              </a:defRPr>
            </a:pPr>
            <a:r>
              <a:rPr sz="2175" b="1" i="0">
                <a:solidFill>
                  <a:srgbClr val="101214"/>
                </a:solidFill>
                <a:latin typeface="Arial"/>
                <a:ea typeface="Arial"/>
                <a:cs typeface="Arial"/>
              </a:rPr>
              <a:t>Select</a:t>
            </a:r>
          </a:p>
        </p:txBody>
      </p:sp>
      <p:sp>
        <p:nvSpPr>
          <p:cNvPr id="17" name="Rectangle 16">
            <a:extLst>
              <a:ext uri="{FF2B5EF4-FFF2-40B4-BE49-F238E27FC236}">
                <a16:creationId xmlns:a16="http://schemas.microsoft.com/office/drawing/2014/main" id="{052AF884-D7C5-4F3E-867B-A2F098CAAFE8}"/>
              </a:ext>
            </a:extLst>
          </p:cNvPr>
          <p:cNvSpPr>
            <a:spLocks noGrp="1"/>
          </p:cNvSpPr>
          <p:nvPr/>
        </p:nvSpPr>
        <p:spPr>
          <a:xfrm>
            <a:off x="619125" y="3314700"/>
            <a:ext cx="1476375" cy="914400"/>
          </a:xfrm>
          <a:prstGeom prst="rect">
            <a:avLst/>
          </a:prstGeom>
        </p:spPr>
        <p:txBody>
          <a:bodyPr wrap="square" lIns="0" tIns="0" rIns="0" bIns="0" anchor="t">
            <a:noAutofit/>
          </a:bodyPr>
          <a:lstStyle/>
          <a:p>
            <a:pPr algn="l">
              <a:buNone/>
              <a:defRPr sz="1425" b="0" i="0">
                <a:solidFill>
                  <a:srgbClr val="5F6873"/>
                </a:solidFill>
                <a:latin typeface="Arial"/>
                <a:ea typeface="Arial"/>
                <a:cs typeface="Arial"/>
              </a:defRPr>
            </a:pPr>
            <a:r>
              <a:rPr sz="1425" b="0" i="0">
                <a:solidFill>
                  <a:srgbClr val="5F6873"/>
                </a:solidFill>
                <a:latin typeface="Arial"/>
                <a:ea typeface="Arial"/>
                <a:cs typeface="Arial"/>
              </a:rPr>
              <a:t>QS / THE candidates
Fixed 60-program universe</a:t>
            </a:r>
          </a:p>
        </p:txBody>
      </p:sp>
      <p:sp>
        <p:nvSpPr>
          <p:cNvPr id="18" name="Rectangle 17">
            <a:extLst>
              <a:ext uri="{FF2B5EF4-FFF2-40B4-BE49-F238E27FC236}">
                <a16:creationId xmlns:a16="http://schemas.microsoft.com/office/drawing/2014/main" id="{E09148EC-016C-4455-AE0B-C91C9185D79A}"/>
              </a:ext>
            </a:extLst>
          </p:cNvPr>
          <p:cNvSpPr>
            <a:spLocks noGrp="1"/>
          </p:cNvSpPr>
          <p:nvPr/>
        </p:nvSpPr>
        <p:spPr>
          <a:xfrm>
            <a:off x="2924175" y="2295525"/>
            <a:ext cx="476250" cy="314325"/>
          </a:xfrm>
          <a:prstGeom prst="rect">
            <a:avLst/>
          </a:prstGeom>
        </p:spPr>
        <p:txBody>
          <a:bodyPr wrap="square" lIns="0" tIns="0" rIns="0" bIns="0" anchor="t">
            <a:noAutofit/>
          </a:bodyPr>
          <a:lstStyle/>
          <a:p>
            <a:pPr algn="l">
              <a:buNone/>
              <a:defRPr sz="1350" b="1" i="0">
                <a:solidFill>
                  <a:srgbClr val="13847D"/>
                </a:solidFill>
                <a:latin typeface="Arial"/>
                <a:ea typeface="Arial"/>
                <a:cs typeface="Arial"/>
              </a:defRPr>
            </a:pPr>
            <a:r>
              <a:rPr sz="1350" b="1" i="0">
                <a:solidFill>
                  <a:srgbClr val="13847D"/>
                </a:solidFill>
                <a:latin typeface="Arial"/>
                <a:ea typeface="Arial"/>
                <a:cs typeface="Arial"/>
              </a:rPr>
              <a:t>02</a:t>
            </a:r>
          </a:p>
        </p:txBody>
      </p:sp>
      <p:sp>
        <p:nvSpPr>
          <p:cNvPr id="19" name="Rectangle 18">
            <a:extLst>
              <a:ext uri="{FF2B5EF4-FFF2-40B4-BE49-F238E27FC236}">
                <a16:creationId xmlns:a16="http://schemas.microsoft.com/office/drawing/2014/main" id="{A1BBB27E-80DB-44CF-9666-84BA7F06192D}"/>
              </a:ext>
            </a:extLst>
          </p:cNvPr>
          <p:cNvSpPr>
            <a:spLocks noGrp="1"/>
          </p:cNvSpPr>
          <p:nvPr/>
        </p:nvSpPr>
        <p:spPr>
          <a:xfrm>
            <a:off x="2924175" y="2714625"/>
            <a:ext cx="1524000" cy="381000"/>
          </a:xfrm>
          <a:prstGeom prst="rect">
            <a:avLst/>
          </a:prstGeom>
        </p:spPr>
        <p:txBody>
          <a:bodyPr wrap="square" lIns="0" tIns="0" rIns="0" bIns="0" anchor="t">
            <a:noAutofit/>
          </a:bodyPr>
          <a:lstStyle/>
          <a:p>
            <a:pPr algn="l">
              <a:buNone/>
              <a:defRPr sz="2175" b="1" i="0">
                <a:solidFill>
                  <a:srgbClr val="101214"/>
                </a:solidFill>
                <a:latin typeface="Arial"/>
                <a:ea typeface="Arial"/>
                <a:cs typeface="Arial"/>
              </a:defRPr>
            </a:pPr>
            <a:r>
              <a:rPr sz="2175" b="1" i="0">
                <a:solidFill>
                  <a:srgbClr val="101214"/>
                </a:solidFill>
                <a:latin typeface="Arial"/>
                <a:ea typeface="Arial"/>
                <a:cs typeface="Arial"/>
              </a:rPr>
              <a:t>Collect</a:t>
            </a:r>
          </a:p>
        </p:txBody>
      </p:sp>
      <p:sp>
        <p:nvSpPr>
          <p:cNvPr id="20" name="Rectangle 19">
            <a:extLst>
              <a:ext uri="{FF2B5EF4-FFF2-40B4-BE49-F238E27FC236}">
                <a16:creationId xmlns:a16="http://schemas.microsoft.com/office/drawing/2014/main" id="{A949CA97-5706-4E76-A8C3-4730312C1F91}"/>
              </a:ext>
            </a:extLst>
          </p:cNvPr>
          <p:cNvSpPr>
            <a:spLocks noGrp="1"/>
          </p:cNvSpPr>
          <p:nvPr/>
        </p:nvSpPr>
        <p:spPr>
          <a:xfrm>
            <a:off x="2924175" y="3314700"/>
            <a:ext cx="1476375" cy="1066800"/>
          </a:xfrm>
          <a:prstGeom prst="rect">
            <a:avLst/>
          </a:prstGeom>
        </p:spPr>
        <p:txBody>
          <a:bodyPr wrap="square" lIns="0" tIns="0" rIns="0" bIns="0" anchor="t">
            <a:noAutofit/>
          </a:bodyPr>
          <a:lstStyle/>
          <a:p>
            <a:pPr algn="l">
              <a:buNone/>
              <a:defRPr sz="1425" b="0" i="0">
                <a:solidFill>
                  <a:srgbClr val="19395E"/>
                </a:solidFill>
                <a:latin typeface="Arial"/>
                <a:ea typeface="Arial"/>
                <a:cs typeface="Arial"/>
              </a:defRPr>
            </a:pPr>
            <a:r>
              <a:rPr sz="1425" b="0" i="0">
                <a:solidFill>
                  <a:srgbClr val="19395E"/>
                </a:solidFill>
                <a:latin typeface="Arial"/>
                <a:ea typeface="Arial"/>
                <a:cs typeface="Arial"/>
              </a:rPr>
              <a:t>Official pages
Rankings &amp; sustainability
OpenAlex · Reddit</a:t>
            </a:r>
          </a:p>
        </p:txBody>
      </p:sp>
      <p:sp>
        <p:nvSpPr>
          <p:cNvPr id="21" name="Rectangle 20">
            <a:extLst>
              <a:ext uri="{FF2B5EF4-FFF2-40B4-BE49-F238E27FC236}">
                <a16:creationId xmlns:a16="http://schemas.microsoft.com/office/drawing/2014/main" id="{849FD699-DC46-448B-A240-E6654B402DF9}"/>
              </a:ext>
            </a:extLst>
          </p:cNvPr>
          <p:cNvSpPr>
            <a:spLocks noGrp="1"/>
          </p:cNvSpPr>
          <p:nvPr/>
        </p:nvSpPr>
        <p:spPr>
          <a:xfrm>
            <a:off x="5229225" y="2295525"/>
            <a:ext cx="476250" cy="314325"/>
          </a:xfrm>
          <a:prstGeom prst="rect">
            <a:avLst/>
          </a:prstGeom>
        </p:spPr>
        <p:txBody>
          <a:bodyPr wrap="square" lIns="0" tIns="0" rIns="0" bIns="0" anchor="t">
            <a:noAutofit/>
          </a:bodyPr>
          <a:lstStyle/>
          <a:p>
            <a:pPr algn="l">
              <a:buNone/>
              <a:defRPr sz="1350" b="1" i="0">
                <a:solidFill>
                  <a:srgbClr val="13847D"/>
                </a:solidFill>
                <a:latin typeface="Arial"/>
                <a:ea typeface="Arial"/>
                <a:cs typeface="Arial"/>
              </a:defRPr>
            </a:pPr>
            <a:r>
              <a:rPr sz="1350" b="1" i="0">
                <a:solidFill>
                  <a:srgbClr val="13847D"/>
                </a:solidFill>
                <a:latin typeface="Arial"/>
                <a:ea typeface="Arial"/>
                <a:cs typeface="Arial"/>
              </a:rPr>
              <a:t>03</a:t>
            </a:r>
          </a:p>
        </p:txBody>
      </p:sp>
      <p:sp>
        <p:nvSpPr>
          <p:cNvPr id="22" name="Rectangle 21">
            <a:extLst>
              <a:ext uri="{FF2B5EF4-FFF2-40B4-BE49-F238E27FC236}">
                <a16:creationId xmlns:a16="http://schemas.microsoft.com/office/drawing/2014/main" id="{DA66F086-EACC-4B47-B268-9EC4D0EA55AD}"/>
              </a:ext>
            </a:extLst>
          </p:cNvPr>
          <p:cNvSpPr>
            <a:spLocks noGrp="1"/>
          </p:cNvSpPr>
          <p:nvPr/>
        </p:nvSpPr>
        <p:spPr>
          <a:xfrm>
            <a:off x="5229225" y="2714625"/>
            <a:ext cx="1524000" cy="381000"/>
          </a:xfrm>
          <a:prstGeom prst="rect">
            <a:avLst/>
          </a:prstGeom>
        </p:spPr>
        <p:txBody>
          <a:bodyPr wrap="square" lIns="0" tIns="0" rIns="0" bIns="0" anchor="t">
            <a:noAutofit/>
          </a:bodyPr>
          <a:lstStyle/>
          <a:p>
            <a:pPr algn="l">
              <a:buNone/>
              <a:defRPr sz="2175" b="1" i="0">
                <a:solidFill>
                  <a:srgbClr val="101214"/>
                </a:solidFill>
                <a:latin typeface="Arial"/>
                <a:ea typeface="Arial"/>
                <a:cs typeface="Arial"/>
              </a:defRPr>
            </a:pPr>
            <a:r>
              <a:rPr sz="2175" b="1" i="0">
                <a:solidFill>
                  <a:srgbClr val="101214"/>
                </a:solidFill>
                <a:latin typeface="Arial"/>
                <a:ea typeface="Arial"/>
                <a:cs typeface="Arial"/>
              </a:rPr>
              <a:t>Normalize</a:t>
            </a:r>
          </a:p>
        </p:txBody>
      </p:sp>
      <p:sp>
        <p:nvSpPr>
          <p:cNvPr id="23" name="Rectangle 22">
            <a:extLst>
              <a:ext uri="{FF2B5EF4-FFF2-40B4-BE49-F238E27FC236}">
                <a16:creationId xmlns:a16="http://schemas.microsoft.com/office/drawing/2014/main" id="{89E7B0A0-D8E4-4C37-983E-3517F8C78745}"/>
              </a:ext>
            </a:extLst>
          </p:cNvPr>
          <p:cNvSpPr>
            <a:spLocks noGrp="1"/>
          </p:cNvSpPr>
          <p:nvPr/>
        </p:nvSpPr>
        <p:spPr>
          <a:xfrm>
            <a:off x="5229225" y="3314700"/>
            <a:ext cx="1476375" cy="1066800"/>
          </a:xfrm>
          <a:prstGeom prst="rect">
            <a:avLst/>
          </a:prstGeom>
        </p:spPr>
        <p:txBody>
          <a:bodyPr wrap="square" lIns="0" tIns="0" rIns="0" bIns="0" anchor="t">
            <a:noAutofit/>
          </a:bodyPr>
          <a:lstStyle/>
          <a:p>
            <a:pPr algn="l">
              <a:buNone/>
              <a:defRPr sz="1425" b="0" i="0">
                <a:solidFill>
                  <a:srgbClr val="5F6873"/>
                </a:solidFill>
                <a:latin typeface="Arial"/>
                <a:ea typeface="Arial"/>
                <a:cs typeface="Arial"/>
              </a:defRPr>
            </a:pPr>
            <a:r>
              <a:rPr sz="1388" b="0" i="0">
                <a:solidFill>
                  <a:srgbClr val="5F6873"/>
                </a:solidFill>
                <a:latin typeface="Arial"/>
                <a:ea typeface="Arial"/>
                <a:cs typeface="Arial"/>
              </a:rPr>
              <a:t>IDs and aliases
Units and categories
Missing-data states</a:t>
            </a:r>
          </a:p>
        </p:txBody>
      </p:sp>
      <p:sp>
        <p:nvSpPr>
          <p:cNvPr id="24" name="Rectangle 23">
            <a:extLst>
              <a:ext uri="{FF2B5EF4-FFF2-40B4-BE49-F238E27FC236}">
                <a16:creationId xmlns:a16="http://schemas.microsoft.com/office/drawing/2014/main" id="{E148F25D-524B-4226-BF8D-C9698B0B7C7C}"/>
              </a:ext>
            </a:extLst>
          </p:cNvPr>
          <p:cNvSpPr>
            <a:spLocks noGrp="1"/>
          </p:cNvSpPr>
          <p:nvPr/>
        </p:nvSpPr>
        <p:spPr>
          <a:xfrm>
            <a:off x="7534275" y="2295525"/>
            <a:ext cx="476250" cy="314325"/>
          </a:xfrm>
          <a:prstGeom prst="rect">
            <a:avLst/>
          </a:prstGeom>
        </p:spPr>
        <p:txBody>
          <a:bodyPr wrap="square" lIns="0" tIns="0" rIns="0" bIns="0" anchor="t">
            <a:noAutofit/>
          </a:bodyPr>
          <a:lstStyle/>
          <a:p>
            <a:pPr algn="l">
              <a:buNone/>
              <a:defRPr sz="1350" b="1" i="0">
                <a:solidFill>
                  <a:srgbClr val="3D8DFF"/>
                </a:solidFill>
                <a:latin typeface="Arial"/>
                <a:ea typeface="Arial"/>
                <a:cs typeface="Arial"/>
              </a:defRPr>
            </a:pPr>
            <a:r>
              <a:rPr sz="1350" b="1" i="0">
                <a:solidFill>
                  <a:srgbClr val="3D8DFF"/>
                </a:solidFill>
                <a:latin typeface="Arial"/>
                <a:ea typeface="Arial"/>
                <a:cs typeface="Arial"/>
              </a:rPr>
              <a:t>04</a:t>
            </a:r>
          </a:p>
        </p:txBody>
      </p:sp>
      <p:sp>
        <p:nvSpPr>
          <p:cNvPr id="25" name="Rectangle 24">
            <a:extLst>
              <a:ext uri="{FF2B5EF4-FFF2-40B4-BE49-F238E27FC236}">
                <a16:creationId xmlns:a16="http://schemas.microsoft.com/office/drawing/2014/main" id="{7924C4FB-ED2C-4E52-975D-E6A3556C894E}"/>
              </a:ext>
            </a:extLst>
          </p:cNvPr>
          <p:cNvSpPr>
            <a:spLocks noGrp="1"/>
          </p:cNvSpPr>
          <p:nvPr/>
        </p:nvSpPr>
        <p:spPr>
          <a:xfrm>
            <a:off x="7534275" y="2714625"/>
            <a:ext cx="1524000" cy="381000"/>
          </a:xfrm>
          <a:prstGeom prst="rect">
            <a:avLst/>
          </a:prstGeom>
        </p:spPr>
        <p:txBody>
          <a:bodyPr wrap="square" lIns="0" tIns="0" rIns="0" bIns="0" anchor="t">
            <a:noAutofit/>
          </a:bodyPr>
          <a:lstStyle/>
          <a:p>
            <a:pPr algn="l">
              <a:buNone/>
              <a:defRPr sz="2175" b="1" i="0">
                <a:solidFill>
                  <a:srgbClr val="101214"/>
                </a:solidFill>
                <a:latin typeface="Arial"/>
                <a:ea typeface="Arial"/>
                <a:cs typeface="Arial"/>
              </a:defRPr>
            </a:pPr>
            <a:r>
              <a:rPr sz="2175" b="1" i="0">
                <a:solidFill>
                  <a:srgbClr val="101214"/>
                </a:solidFill>
                <a:latin typeface="Arial"/>
                <a:ea typeface="Arial"/>
                <a:cs typeface="Arial"/>
              </a:rPr>
              <a:t>Analyze</a:t>
            </a:r>
          </a:p>
        </p:txBody>
      </p:sp>
      <p:sp>
        <p:nvSpPr>
          <p:cNvPr id="26" name="Rectangle 25">
            <a:extLst>
              <a:ext uri="{FF2B5EF4-FFF2-40B4-BE49-F238E27FC236}">
                <a16:creationId xmlns:a16="http://schemas.microsoft.com/office/drawing/2014/main" id="{0CBF4EE3-4EF4-4746-9096-D6208C357250}"/>
              </a:ext>
            </a:extLst>
          </p:cNvPr>
          <p:cNvSpPr>
            <a:spLocks noGrp="1"/>
          </p:cNvSpPr>
          <p:nvPr/>
        </p:nvSpPr>
        <p:spPr>
          <a:xfrm>
            <a:off x="7534275" y="3314700"/>
            <a:ext cx="1476375" cy="1066800"/>
          </a:xfrm>
          <a:prstGeom prst="rect">
            <a:avLst/>
          </a:prstGeom>
        </p:spPr>
        <p:txBody>
          <a:bodyPr wrap="square" lIns="0" tIns="0" rIns="0" bIns="0" anchor="t">
            <a:noAutofit/>
          </a:bodyPr>
          <a:lstStyle/>
          <a:p>
            <a:pPr algn="l">
              <a:buNone/>
              <a:defRPr sz="1425" b="0" i="0">
                <a:solidFill>
                  <a:srgbClr val="19395E"/>
                </a:solidFill>
                <a:latin typeface="Arial"/>
                <a:ea typeface="Arial"/>
                <a:cs typeface="Arial"/>
              </a:defRPr>
            </a:pPr>
            <a:r>
              <a:rPr sz="1388" b="0" i="0">
                <a:solidFill>
                  <a:srgbClr val="19395E"/>
                </a:solidFill>
                <a:latin typeface="Arial"/>
                <a:ea typeface="Arial"/>
                <a:cs typeface="Arial"/>
              </a:rPr>
              <a:t>Five-year rankings
Sentiment &amp; topics
Score components</a:t>
            </a:r>
          </a:p>
        </p:txBody>
      </p:sp>
      <p:sp>
        <p:nvSpPr>
          <p:cNvPr id="27" name="Rectangle 26">
            <a:extLst>
              <a:ext uri="{FF2B5EF4-FFF2-40B4-BE49-F238E27FC236}">
                <a16:creationId xmlns:a16="http://schemas.microsoft.com/office/drawing/2014/main" id="{430B25DC-A5EF-42E3-9B55-BA4FEDD55A31}"/>
              </a:ext>
            </a:extLst>
          </p:cNvPr>
          <p:cNvSpPr>
            <a:spLocks noGrp="1"/>
          </p:cNvSpPr>
          <p:nvPr/>
        </p:nvSpPr>
        <p:spPr>
          <a:xfrm>
            <a:off x="9839325" y="2295525"/>
            <a:ext cx="476250" cy="314325"/>
          </a:xfrm>
          <a:prstGeom prst="rect">
            <a:avLst/>
          </a:prstGeom>
        </p:spPr>
        <p:txBody>
          <a:bodyPr wrap="square" lIns="0" tIns="0" rIns="0" bIns="0" anchor="t">
            <a:noAutofit/>
          </a:bodyPr>
          <a:lstStyle/>
          <a:p>
            <a:pPr algn="l">
              <a:buNone/>
              <a:defRPr sz="1350" b="1" i="0">
                <a:solidFill>
                  <a:srgbClr val="3D8DFF"/>
                </a:solidFill>
                <a:latin typeface="Arial"/>
                <a:ea typeface="Arial"/>
                <a:cs typeface="Arial"/>
              </a:defRPr>
            </a:pPr>
            <a:r>
              <a:rPr sz="1350" b="1" i="0">
                <a:solidFill>
                  <a:srgbClr val="3D8DFF"/>
                </a:solidFill>
                <a:latin typeface="Arial"/>
                <a:ea typeface="Arial"/>
                <a:cs typeface="Arial"/>
              </a:rPr>
              <a:t>05</a:t>
            </a:r>
          </a:p>
        </p:txBody>
      </p:sp>
      <p:sp>
        <p:nvSpPr>
          <p:cNvPr id="28" name="Rectangle 27">
            <a:extLst>
              <a:ext uri="{FF2B5EF4-FFF2-40B4-BE49-F238E27FC236}">
                <a16:creationId xmlns:a16="http://schemas.microsoft.com/office/drawing/2014/main" id="{A1117A66-ACEB-4928-A20F-29A2128FE893}"/>
              </a:ext>
            </a:extLst>
          </p:cNvPr>
          <p:cNvSpPr>
            <a:spLocks noGrp="1"/>
          </p:cNvSpPr>
          <p:nvPr/>
        </p:nvSpPr>
        <p:spPr>
          <a:xfrm>
            <a:off x="9839325" y="2714625"/>
            <a:ext cx="1666875" cy="381000"/>
          </a:xfrm>
          <a:prstGeom prst="rect">
            <a:avLst/>
          </a:prstGeom>
        </p:spPr>
        <p:txBody>
          <a:bodyPr wrap="square" lIns="0" tIns="0" rIns="0" bIns="0" anchor="t">
            <a:noAutofit/>
          </a:bodyPr>
          <a:lstStyle/>
          <a:p>
            <a:pPr algn="l">
              <a:buNone/>
              <a:defRPr sz="2175" b="1" i="0">
                <a:solidFill>
                  <a:srgbClr val="101214"/>
                </a:solidFill>
                <a:latin typeface="Arial"/>
                <a:ea typeface="Arial"/>
                <a:cs typeface="Arial"/>
              </a:defRPr>
            </a:pPr>
            <a:r>
              <a:rPr sz="2175" b="1" i="0">
                <a:solidFill>
                  <a:srgbClr val="101214"/>
                </a:solidFill>
                <a:latin typeface="Arial"/>
                <a:ea typeface="Arial"/>
                <a:cs typeface="Arial"/>
              </a:rPr>
              <a:t>Package</a:t>
            </a:r>
          </a:p>
        </p:txBody>
      </p:sp>
      <p:sp>
        <p:nvSpPr>
          <p:cNvPr id="29" name="Rectangle 28">
            <a:extLst>
              <a:ext uri="{FF2B5EF4-FFF2-40B4-BE49-F238E27FC236}">
                <a16:creationId xmlns:a16="http://schemas.microsoft.com/office/drawing/2014/main" id="{434CDB14-AE40-4DF8-86FC-185CB9F2BBC6}"/>
              </a:ext>
            </a:extLst>
          </p:cNvPr>
          <p:cNvSpPr>
            <a:spLocks noGrp="1"/>
          </p:cNvSpPr>
          <p:nvPr/>
        </p:nvSpPr>
        <p:spPr>
          <a:xfrm>
            <a:off x="9839325" y="3314700"/>
            <a:ext cx="1666875" cy="1066800"/>
          </a:xfrm>
          <a:prstGeom prst="rect">
            <a:avLst/>
          </a:prstGeom>
        </p:spPr>
        <p:txBody>
          <a:bodyPr wrap="square" lIns="0" tIns="0" rIns="0" bIns="0" anchor="t">
            <a:noAutofit/>
          </a:bodyPr>
          <a:lstStyle/>
          <a:p>
            <a:pPr algn="l">
              <a:buNone/>
              <a:defRPr sz="1425" b="0" i="0">
                <a:solidFill>
                  <a:srgbClr val="5F6873"/>
                </a:solidFill>
                <a:latin typeface="Arial"/>
                <a:ea typeface="Arial"/>
                <a:cs typeface="Arial"/>
              </a:defRPr>
            </a:pPr>
            <a:r>
              <a:rPr sz="1425" b="0" i="0">
                <a:solidFill>
                  <a:srgbClr val="5F6873"/>
                </a:solidFill>
                <a:latin typeface="Arial"/>
                <a:ea typeface="Arial"/>
                <a:cs typeface="Arial"/>
              </a:rPr>
              <a:t>Verified workbooks
QA and audit files
Frontend-ready JSON</a:t>
            </a:r>
          </a:p>
        </p:txBody>
      </p:sp>
      <p:sp>
        <p:nvSpPr>
          <p:cNvPr id="30" name="Rectangle 29">
            <a:extLst>
              <a:ext uri="{FF2B5EF4-FFF2-40B4-BE49-F238E27FC236}">
                <a16:creationId xmlns:a16="http://schemas.microsoft.com/office/drawing/2014/main" id="{859763D8-3EED-42A8-935F-78C4B349C517}"/>
              </a:ext>
            </a:extLst>
          </p:cNvPr>
          <p:cNvSpPr>
            <a:spLocks noGrp="1"/>
          </p:cNvSpPr>
          <p:nvPr/>
        </p:nvSpPr>
        <p:spPr>
          <a:xfrm>
            <a:off x="390525" y="5172075"/>
            <a:ext cx="11401425" cy="685800"/>
          </a:xfrm>
          <a:prstGeom prst="rect">
            <a:avLst/>
          </a:prstGeom>
          <a:solidFill>
            <a:srgbClr val="19395E"/>
          </a:solidFill>
          <a:ln w="0">
            <a:solidFill>
              <a:srgbClr val="19395E"/>
            </a:solidFill>
            <a:prstDash val="solid"/>
          </a:ln>
        </p:spPr>
      </p:sp>
      <p:sp>
        <p:nvSpPr>
          <p:cNvPr id="31" name="Rectangle 30">
            <a:extLst>
              <a:ext uri="{FF2B5EF4-FFF2-40B4-BE49-F238E27FC236}">
                <a16:creationId xmlns:a16="http://schemas.microsoft.com/office/drawing/2014/main" id="{FB009137-CE40-428B-B54E-CA2206EA4952}"/>
              </a:ext>
            </a:extLst>
          </p:cNvPr>
          <p:cNvSpPr>
            <a:spLocks noGrp="1"/>
          </p:cNvSpPr>
          <p:nvPr/>
        </p:nvSpPr>
        <p:spPr>
          <a:xfrm>
            <a:off x="666750" y="5343525"/>
            <a:ext cx="10858500" cy="400050"/>
          </a:xfrm>
          <a:prstGeom prst="rect">
            <a:avLst/>
          </a:prstGeom>
        </p:spPr>
        <p:txBody>
          <a:bodyPr wrap="square" lIns="0" tIns="0" rIns="0" bIns="0" anchor="t">
            <a:noAutofit/>
          </a:bodyPr>
          <a:lstStyle/>
          <a:p>
            <a:pPr algn="l">
              <a:buNone/>
              <a:defRPr sz="1725" b="1" i="0">
                <a:solidFill>
                  <a:srgbClr val="FFFFFF"/>
                </a:solidFill>
                <a:latin typeface="Arial"/>
                <a:ea typeface="Arial"/>
                <a:cs typeface="Arial"/>
              </a:defRPr>
            </a:pPr>
            <a:r>
              <a:rPr sz="1725" b="1" i="0">
                <a:solidFill>
                  <a:srgbClr val="FFFFFF"/>
                </a:solidFill>
                <a:latin typeface="Arial"/>
                <a:ea typeface="Arial"/>
                <a:cs typeface="Arial"/>
              </a:rPr>
              <a:t>Reproducibility is part of the product: every stage leaves a source, status, and validation trail.</a:t>
            </a:r>
          </a:p>
        </p:txBody>
      </p:sp>
    </p:spTree>
    <p:extLst>
      <p:ext uri="{BB962C8B-B14F-4D97-AF65-F5344CB8AC3E}">
        <p14:creationId xmlns:p14="http://schemas.microsoft.com/office/powerpoint/2010/main" val="9985462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section-7">
            <a:extLst>
              <a:ext uri="{FF2B5EF4-FFF2-40B4-BE49-F238E27FC236}">
                <a16:creationId xmlns:a16="http://schemas.microsoft.com/office/drawing/2014/main" id="{E305F23E-9EC8-46E9-AD58-1CFC3315FA6D}"/>
              </a:ext>
            </a:extLst>
          </p:cNvPr>
          <p:cNvSpPr>
            <a:spLocks noGrp="1"/>
          </p:cNvSpPr>
          <p:nvPr/>
        </p:nvSpPr>
        <p:spPr>
          <a:xfrm>
            <a:off x="390525" y="295275"/>
            <a:ext cx="3238500" cy="209550"/>
          </a:xfrm>
          <a:prstGeom prst="rect">
            <a:avLst/>
          </a:prstGeom>
        </p:spPr>
        <p:txBody>
          <a:bodyPr wrap="square" lIns="0" tIns="0" rIns="0" bIns="0" anchor="t">
            <a:noAutofit/>
          </a:bodyPr>
          <a:lstStyle/>
          <a:p>
            <a:pPr algn="l">
              <a:buNone/>
              <a:defRPr sz="1050" b="1" i="0">
                <a:solidFill>
                  <a:srgbClr val="13847D"/>
                </a:solidFill>
                <a:latin typeface="Arial"/>
                <a:ea typeface="Arial"/>
                <a:cs typeface="Arial"/>
              </a:defRPr>
            </a:pPr>
            <a:r>
              <a:rPr sz="1050" b="1" i="0">
                <a:solidFill>
                  <a:srgbClr val="13847D"/>
                </a:solidFill>
                <a:latin typeface="Arial"/>
                <a:ea typeface="Arial"/>
                <a:cs typeface="Arial"/>
              </a:rPr>
              <a:t>WHAT WE COLLECTED</a:t>
            </a:r>
          </a:p>
        </p:txBody>
      </p:sp>
      <p:sp>
        <p:nvSpPr>
          <p:cNvPr id="2" name="title-7">
            <a:extLst>
              <a:ext uri="{FF2B5EF4-FFF2-40B4-BE49-F238E27FC236}">
                <a16:creationId xmlns:a16="http://schemas.microsoft.com/office/drawing/2014/main" id="{7156420A-9C70-4A7B-B0EB-C90DBF3DD772}"/>
              </a:ext>
            </a:extLst>
          </p:cNvPr>
          <p:cNvSpPr>
            <a:spLocks noGrp="1"/>
          </p:cNvSpPr>
          <p:nvPr/>
        </p:nvSpPr>
        <p:spPr>
          <a:xfrm>
            <a:off x="390525" y="581025"/>
            <a:ext cx="11401425" cy="666750"/>
          </a:xfrm>
          <a:prstGeom prst="rect">
            <a:avLst/>
          </a:prstGeom>
        </p:spPr>
        <p:txBody>
          <a:bodyPr wrap="square" lIns="0" tIns="0" rIns="0" bIns="0" anchor="t">
            <a:noAutofit/>
          </a:bodyPr>
          <a:lstStyle/>
          <a:p>
            <a:pPr algn="l">
              <a:buNone/>
              <a:defRPr sz="3450" b="1" i="0">
                <a:solidFill>
                  <a:srgbClr val="101214"/>
                </a:solidFill>
                <a:latin typeface="Arial"/>
                <a:ea typeface="Arial"/>
                <a:cs typeface="Arial"/>
              </a:defRPr>
            </a:pPr>
            <a:r>
              <a:rPr sz="2813" b="1" i="0">
                <a:solidFill>
                  <a:srgbClr val="101214"/>
                </a:solidFill>
                <a:latin typeface="Arial"/>
                <a:ea typeface="Arial"/>
                <a:cs typeface="Arial"/>
              </a:rPr>
              <a:t>The evidence base combines breadth with source-level verification</a:t>
            </a:r>
          </a:p>
        </p:txBody>
      </p:sp>
      <p:sp>
        <p:nvSpPr>
          <p:cNvPr id="3" name="Rectangle 2">
            <a:extLst>
              <a:ext uri="{FF2B5EF4-FFF2-40B4-BE49-F238E27FC236}">
                <a16:creationId xmlns:a16="http://schemas.microsoft.com/office/drawing/2014/main" id="{611E1931-35B6-4BE5-AD00-E3EC19EFDCF7}"/>
              </a:ext>
            </a:extLst>
          </p:cNvPr>
          <p:cNvSpPr>
            <a:spLocks noGrp="1"/>
          </p:cNvSpPr>
          <p:nvPr/>
        </p:nvSpPr>
        <p:spPr>
          <a:xfrm>
            <a:off x="390525" y="1352550"/>
            <a:ext cx="11401425" cy="9525"/>
          </a:xfrm>
          <a:prstGeom prst="rect">
            <a:avLst/>
          </a:prstGeom>
          <a:solidFill>
            <a:srgbClr val="B8BCC4"/>
          </a:solidFill>
          <a:ln w="0">
            <a:solidFill>
              <a:srgbClr val="B8BCC4"/>
            </a:solidFill>
            <a:prstDash val="solid"/>
          </a:ln>
        </p:spPr>
      </p:sp>
      <p:sp>
        <p:nvSpPr>
          <p:cNvPr id="5" name="page-7">
            <a:extLst>
              <a:ext uri="{FF2B5EF4-FFF2-40B4-BE49-F238E27FC236}">
                <a16:creationId xmlns:a16="http://schemas.microsoft.com/office/drawing/2014/main" id="{9A482980-2FE3-4FB8-BC19-3808CD1EBFCB}"/>
              </a:ext>
            </a:extLst>
          </p:cNvPr>
          <p:cNvSpPr>
            <a:spLocks noGrp="1"/>
          </p:cNvSpPr>
          <p:nvPr/>
        </p:nvSpPr>
        <p:spPr>
          <a:xfrm>
            <a:off x="11201400" y="6305550"/>
            <a:ext cx="590550" cy="238125"/>
          </a:xfrm>
          <a:prstGeom prst="rect">
            <a:avLst/>
          </a:prstGeom>
        </p:spPr>
        <p:txBody>
          <a:bodyPr wrap="square" lIns="0" tIns="0" rIns="0" bIns="0" anchor="t">
            <a:noAutofit/>
          </a:bodyPr>
          <a:lstStyle/>
          <a:p>
            <a:pPr algn="r">
              <a:buNone/>
              <a:defRPr sz="975" b="0" i="0">
                <a:solidFill>
                  <a:srgbClr val="5F6873"/>
                </a:solidFill>
                <a:latin typeface="Arial"/>
                <a:ea typeface="Arial"/>
                <a:cs typeface="Arial"/>
              </a:defRPr>
            </a:pPr>
            <a:r>
              <a:rPr sz="975" b="0" i="0">
                <a:solidFill>
                  <a:srgbClr val="5F6873"/>
                </a:solidFill>
                <a:latin typeface="Arial"/>
                <a:ea typeface="Arial"/>
                <a:cs typeface="Arial"/>
              </a:rPr>
              <a:t>07</a:t>
            </a:r>
          </a:p>
        </p:txBody>
      </p:sp>
      <p:sp>
        <p:nvSpPr>
          <p:cNvPr id="6" name="Rectangle 5">
            <a:extLst>
              <a:ext uri="{FF2B5EF4-FFF2-40B4-BE49-F238E27FC236}">
                <a16:creationId xmlns:a16="http://schemas.microsoft.com/office/drawing/2014/main" id="{40E82665-FF38-45CB-9B7A-450CE17D3004}"/>
              </a:ext>
            </a:extLst>
          </p:cNvPr>
          <p:cNvSpPr>
            <a:spLocks noGrp="1"/>
          </p:cNvSpPr>
          <p:nvPr/>
        </p:nvSpPr>
        <p:spPr>
          <a:xfrm>
            <a:off x="390525" y="1714500"/>
            <a:ext cx="4762500" cy="295275"/>
          </a:xfrm>
          <a:prstGeom prst="rect">
            <a:avLst/>
          </a:prstGeom>
        </p:spPr>
        <p:txBody>
          <a:bodyPr wrap="square" lIns="0" tIns="0" rIns="0" bIns="0" anchor="t">
            <a:noAutofit/>
          </a:bodyPr>
          <a:lstStyle/>
          <a:p>
            <a:pPr algn="l">
              <a:buNone/>
              <a:defRPr sz="1275" b="1" i="0">
                <a:solidFill>
                  <a:srgbClr val="13847D"/>
                </a:solidFill>
                <a:latin typeface="Arial"/>
                <a:ea typeface="Arial"/>
                <a:cs typeface="Arial"/>
              </a:defRPr>
            </a:pPr>
            <a:r>
              <a:rPr sz="1275" b="1" i="0">
                <a:solidFill>
                  <a:srgbClr val="13847D"/>
                </a:solidFill>
                <a:latin typeface="Arial"/>
                <a:ea typeface="Arial"/>
                <a:cs typeface="Arial"/>
              </a:rPr>
              <a:t>OFFICIAL PROGRAM EVIDENCE</a:t>
            </a:r>
          </a:p>
        </p:txBody>
      </p:sp>
      <p:sp>
        <p:nvSpPr>
          <p:cNvPr id="7" name="Rectangle 6">
            <a:extLst>
              <a:ext uri="{FF2B5EF4-FFF2-40B4-BE49-F238E27FC236}">
                <a16:creationId xmlns:a16="http://schemas.microsoft.com/office/drawing/2014/main" id="{E04A13C1-BF12-4EA2-8442-BC0EF1EDA6CA}"/>
              </a:ext>
            </a:extLst>
          </p:cNvPr>
          <p:cNvSpPr>
            <a:spLocks noGrp="1"/>
          </p:cNvSpPr>
          <p:nvPr/>
        </p:nvSpPr>
        <p:spPr>
          <a:xfrm>
            <a:off x="390525" y="2066925"/>
            <a:ext cx="1619250" cy="876300"/>
          </a:xfrm>
          <a:prstGeom prst="rect">
            <a:avLst/>
          </a:prstGeom>
        </p:spPr>
        <p:txBody>
          <a:bodyPr wrap="square" lIns="0" tIns="0" rIns="0" bIns="0" anchor="t">
            <a:noAutofit/>
          </a:bodyPr>
          <a:lstStyle/>
          <a:p>
            <a:pPr algn="l">
              <a:buNone/>
              <a:defRPr sz="4950" b="1" i="0">
                <a:solidFill>
                  <a:srgbClr val="19395E"/>
                </a:solidFill>
                <a:latin typeface="Arial"/>
                <a:ea typeface="Arial"/>
                <a:cs typeface="Arial"/>
              </a:defRPr>
            </a:pPr>
            <a:r>
              <a:rPr sz="4950" b="1" i="0">
                <a:solidFill>
                  <a:srgbClr val="19395E"/>
                </a:solidFill>
                <a:latin typeface="Arial"/>
                <a:ea typeface="Arial"/>
                <a:cs typeface="Arial"/>
              </a:rPr>
              <a:t>60</a:t>
            </a:r>
          </a:p>
        </p:txBody>
      </p:sp>
      <p:sp>
        <p:nvSpPr>
          <p:cNvPr id="8" name="Rectangle 7">
            <a:extLst>
              <a:ext uri="{FF2B5EF4-FFF2-40B4-BE49-F238E27FC236}">
                <a16:creationId xmlns:a16="http://schemas.microsoft.com/office/drawing/2014/main" id="{4A74E0EC-B5CF-4811-811C-BD1A7E63DFA9}"/>
              </a:ext>
            </a:extLst>
          </p:cNvPr>
          <p:cNvSpPr>
            <a:spLocks noGrp="1"/>
          </p:cNvSpPr>
          <p:nvPr/>
        </p:nvSpPr>
        <p:spPr>
          <a:xfrm>
            <a:off x="1743075" y="2381250"/>
            <a:ext cx="3238500" cy="381000"/>
          </a:xfrm>
          <a:prstGeom prst="rect">
            <a:avLst/>
          </a:prstGeom>
        </p:spPr>
        <p:txBody>
          <a:bodyPr wrap="square" lIns="0" tIns="0" rIns="0" bIns="0" anchor="t">
            <a:noAutofit/>
          </a:bodyPr>
          <a:lstStyle/>
          <a:p>
            <a:pPr algn="l">
              <a:buNone/>
              <a:defRPr sz="1875" b="1" i="0">
                <a:solidFill>
                  <a:srgbClr val="101214"/>
                </a:solidFill>
                <a:latin typeface="Arial"/>
                <a:ea typeface="Arial"/>
                <a:cs typeface="Arial"/>
              </a:defRPr>
            </a:pPr>
            <a:r>
              <a:rPr sz="1875" b="1" i="0">
                <a:solidFill>
                  <a:srgbClr val="101214"/>
                </a:solidFill>
                <a:latin typeface="Arial"/>
                <a:ea typeface="Arial"/>
                <a:cs typeface="Arial"/>
              </a:rPr>
              <a:t>program detail rows</a:t>
            </a:r>
          </a:p>
        </p:txBody>
      </p:sp>
      <p:sp>
        <p:nvSpPr>
          <p:cNvPr id="9" name="Rectangle 8">
            <a:extLst>
              <a:ext uri="{FF2B5EF4-FFF2-40B4-BE49-F238E27FC236}">
                <a16:creationId xmlns:a16="http://schemas.microsoft.com/office/drawing/2014/main" id="{D539AF41-55FA-4B8F-9E15-93911C03EF5A}"/>
              </a:ext>
            </a:extLst>
          </p:cNvPr>
          <p:cNvSpPr>
            <a:spLocks noGrp="1"/>
          </p:cNvSpPr>
          <p:nvPr/>
        </p:nvSpPr>
        <p:spPr>
          <a:xfrm>
            <a:off x="390525" y="3048000"/>
            <a:ext cx="5000625" cy="581025"/>
          </a:xfrm>
          <a:prstGeom prst="rect">
            <a:avLst/>
          </a:prstGeom>
        </p:spPr>
        <p:txBody>
          <a:bodyPr wrap="square" lIns="0" tIns="0" rIns="0" bIns="0" anchor="t">
            <a:noAutofit/>
          </a:bodyPr>
          <a:lstStyle/>
          <a:p>
            <a:pPr algn="l">
              <a:buNone/>
              <a:defRPr sz="1500" b="0" i="0">
                <a:solidFill>
                  <a:srgbClr val="5F6873"/>
                </a:solidFill>
                <a:latin typeface="Arial"/>
                <a:ea typeface="Arial"/>
                <a:cs typeface="Arial"/>
              </a:defRPr>
            </a:pPr>
            <a:r>
              <a:rPr sz="1500" b="0" i="0">
                <a:solidFill>
                  <a:srgbClr val="5F6873"/>
                </a:solidFill>
                <a:latin typeface="Arial"/>
                <a:ea typeface="Arial"/>
                <a:cs typeface="Arial"/>
              </a:rPr>
              <a:t>53 URLs passed automated checks; 7 remain for manual opening.</a:t>
            </a:r>
          </a:p>
        </p:txBody>
      </p:sp>
      <p:sp>
        <p:nvSpPr>
          <p:cNvPr id="10" name="Rectangle 9">
            <a:extLst>
              <a:ext uri="{FF2B5EF4-FFF2-40B4-BE49-F238E27FC236}">
                <a16:creationId xmlns:a16="http://schemas.microsoft.com/office/drawing/2014/main" id="{29BA5EF9-DB44-4220-9758-400073ABD8E0}"/>
              </a:ext>
            </a:extLst>
          </p:cNvPr>
          <p:cNvSpPr>
            <a:spLocks noGrp="1"/>
          </p:cNvSpPr>
          <p:nvPr/>
        </p:nvSpPr>
        <p:spPr>
          <a:xfrm>
            <a:off x="390525" y="3867150"/>
            <a:ext cx="5105400" cy="9525"/>
          </a:xfrm>
          <a:prstGeom prst="rect">
            <a:avLst/>
          </a:prstGeom>
          <a:solidFill>
            <a:srgbClr val="B8BCC4"/>
          </a:solidFill>
          <a:ln w="0">
            <a:solidFill>
              <a:srgbClr val="B8BCC4"/>
            </a:solidFill>
            <a:prstDash val="solid"/>
          </a:ln>
        </p:spPr>
      </p:sp>
      <p:sp>
        <p:nvSpPr>
          <p:cNvPr id="11" name="Rectangle 10">
            <a:extLst>
              <a:ext uri="{FF2B5EF4-FFF2-40B4-BE49-F238E27FC236}">
                <a16:creationId xmlns:a16="http://schemas.microsoft.com/office/drawing/2014/main" id="{31CDF12B-964B-4785-8181-22E8566BC244}"/>
              </a:ext>
            </a:extLst>
          </p:cNvPr>
          <p:cNvSpPr>
            <a:spLocks noGrp="1"/>
          </p:cNvSpPr>
          <p:nvPr/>
        </p:nvSpPr>
        <p:spPr>
          <a:xfrm>
            <a:off x="390525" y="4105275"/>
            <a:ext cx="4762500" cy="295275"/>
          </a:xfrm>
          <a:prstGeom prst="rect">
            <a:avLst/>
          </a:prstGeom>
        </p:spPr>
        <p:txBody>
          <a:bodyPr wrap="square" lIns="0" tIns="0" rIns="0" bIns="0" anchor="t">
            <a:noAutofit/>
          </a:bodyPr>
          <a:lstStyle/>
          <a:p>
            <a:pPr algn="l">
              <a:buNone/>
              <a:defRPr sz="1275" b="1" i="0">
                <a:solidFill>
                  <a:srgbClr val="3D8DFF"/>
                </a:solidFill>
                <a:latin typeface="Arial"/>
                <a:ea typeface="Arial"/>
                <a:cs typeface="Arial"/>
              </a:defRPr>
            </a:pPr>
            <a:r>
              <a:rPr sz="1275" b="1" i="0">
                <a:solidFill>
                  <a:srgbClr val="3D8DFF"/>
                </a:solidFill>
                <a:latin typeface="Arial"/>
                <a:ea typeface="Arial"/>
                <a:cs typeface="Arial"/>
              </a:rPr>
              <a:t>INSTITUTIONAL CONTEXT</a:t>
            </a:r>
          </a:p>
        </p:txBody>
      </p:sp>
      <p:sp>
        <p:nvSpPr>
          <p:cNvPr id="12" name="Rectangle 11">
            <a:extLst>
              <a:ext uri="{FF2B5EF4-FFF2-40B4-BE49-F238E27FC236}">
                <a16:creationId xmlns:a16="http://schemas.microsoft.com/office/drawing/2014/main" id="{9C000422-9995-4BC7-982C-8CE1BC443BAD}"/>
              </a:ext>
            </a:extLst>
          </p:cNvPr>
          <p:cNvSpPr>
            <a:spLocks noGrp="1"/>
          </p:cNvSpPr>
          <p:nvPr/>
        </p:nvSpPr>
        <p:spPr>
          <a:xfrm>
            <a:off x="390525" y="4543425"/>
            <a:ext cx="5105400" cy="361950"/>
          </a:xfrm>
          <a:prstGeom prst="rect">
            <a:avLst/>
          </a:prstGeom>
        </p:spPr>
        <p:txBody>
          <a:bodyPr wrap="square" lIns="0" tIns="0" rIns="0" bIns="0" anchor="t">
            <a:noAutofit/>
          </a:bodyPr>
          <a:lstStyle/>
          <a:p>
            <a:pPr algn="l">
              <a:buNone/>
              <a:defRPr sz="1725" b="1" i="0">
                <a:solidFill>
                  <a:srgbClr val="101214"/>
                </a:solidFill>
                <a:latin typeface="Arial"/>
                <a:ea typeface="Arial"/>
                <a:cs typeface="Arial"/>
              </a:defRPr>
            </a:pPr>
            <a:r>
              <a:rPr sz="1725" b="1" i="0">
                <a:solidFill>
                  <a:srgbClr val="101214"/>
                </a:solidFill>
                <a:latin typeface="Arial"/>
                <a:ea typeface="Arial"/>
                <a:cs typeface="Arial"/>
              </a:rPr>
              <a:t>31 verified UN PRME signatories</a:t>
            </a:r>
          </a:p>
        </p:txBody>
      </p:sp>
      <p:sp>
        <p:nvSpPr>
          <p:cNvPr id="13" name="Rectangle 12">
            <a:extLst>
              <a:ext uri="{FF2B5EF4-FFF2-40B4-BE49-F238E27FC236}">
                <a16:creationId xmlns:a16="http://schemas.microsoft.com/office/drawing/2014/main" id="{B384AEF5-D236-432D-B3EF-76F219E2B8E2}"/>
              </a:ext>
            </a:extLst>
          </p:cNvPr>
          <p:cNvSpPr>
            <a:spLocks noGrp="1"/>
          </p:cNvSpPr>
          <p:nvPr/>
        </p:nvSpPr>
        <p:spPr>
          <a:xfrm>
            <a:off x="390525" y="4972050"/>
            <a:ext cx="5105400" cy="361950"/>
          </a:xfrm>
          <a:prstGeom prst="rect">
            <a:avLst/>
          </a:prstGeom>
        </p:spPr>
        <p:txBody>
          <a:bodyPr wrap="square" lIns="0" tIns="0" rIns="0" bIns="0" anchor="t">
            <a:noAutofit/>
          </a:bodyPr>
          <a:lstStyle/>
          <a:p>
            <a:pPr algn="l">
              <a:buNone/>
              <a:defRPr sz="1725" b="1" i="0">
                <a:solidFill>
                  <a:srgbClr val="101214"/>
                </a:solidFill>
                <a:latin typeface="Arial"/>
                <a:ea typeface="Arial"/>
                <a:cs typeface="Arial"/>
              </a:defRPr>
            </a:pPr>
            <a:r>
              <a:rPr sz="1725" b="1" i="0">
                <a:solidFill>
                  <a:srgbClr val="101214"/>
                </a:solidFill>
                <a:latin typeface="Arial"/>
                <a:ea typeface="Arial"/>
                <a:cs typeface="Arial"/>
              </a:rPr>
              <a:t>11 published AASHE ratings</a:t>
            </a:r>
          </a:p>
        </p:txBody>
      </p:sp>
      <p:sp>
        <p:nvSpPr>
          <p:cNvPr id="14" name="Rectangle 13">
            <a:extLst>
              <a:ext uri="{FF2B5EF4-FFF2-40B4-BE49-F238E27FC236}">
                <a16:creationId xmlns:a16="http://schemas.microsoft.com/office/drawing/2014/main" id="{9A2CCC9E-48FF-4912-81CA-CCAE348EE637}"/>
              </a:ext>
            </a:extLst>
          </p:cNvPr>
          <p:cNvSpPr>
            <a:spLocks noGrp="1"/>
          </p:cNvSpPr>
          <p:nvPr/>
        </p:nvSpPr>
        <p:spPr>
          <a:xfrm>
            <a:off x="390525" y="5400675"/>
            <a:ext cx="5105400" cy="361950"/>
          </a:xfrm>
          <a:prstGeom prst="rect">
            <a:avLst/>
          </a:prstGeom>
        </p:spPr>
        <p:txBody>
          <a:bodyPr wrap="square" lIns="0" tIns="0" rIns="0" bIns="0" anchor="t">
            <a:noAutofit/>
          </a:bodyPr>
          <a:lstStyle/>
          <a:p>
            <a:pPr algn="l">
              <a:buNone/>
              <a:defRPr sz="1725" b="1" i="0">
                <a:solidFill>
                  <a:srgbClr val="101214"/>
                </a:solidFill>
                <a:latin typeface="Arial"/>
                <a:ea typeface="Arial"/>
                <a:cs typeface="Arial"/>
              </a:defRPr>
            </a:pPr>
            <a:r>
              <a:rPr sz="1725" b="1" i="0">
                <a:solidFill>
                  <a:srgbClr val="101214"/>
                </a:solidFill>
                <a:latin typeface="Arial"/>
                <a:ea typeface="Arial"/>
                <a:cs typeface="Arial"/>
              </a:rPr>
              <a:t>28 collected OpenAlex institution matches</a:t>
            </a:r>
          </a:p>
        </p:txBody>
      </p:sp>
      <p:sp>
        <p:nvSpPr>
          <p:cNvPr id="15" name="Rectangle 14">
            <a:extLst>
              <a:ext uri="{FF2B5EF4-FFF2-40B4-BE49-F238E27FC236}">
                <a16:creationId xmlns:a16="http://schemas.microsoft.com/office/drawing/2014/main" id="{DD3B3B4F-DF5F-4E77-8814-8EA8AFEA5174}"/>
              </a:ext>
            </a:extLst>
          </p:cNvPr>
          <p:cNvSpPr>
            <a:spLocks noGrp="1"/>
          </p:cNvSpPr>
          <p:nvPr/>
        </p:nvSpPr>
        <p:spPr>
          <a:xfrm>
            <a:off x="6029325" y="1628775"/>
            <a:ext cx="5762625" cy="4295775"/>
          </a:xfrm>
          <a:prstGeom prst="rect">
            <a:avLst/>
          </a:prstGeom>
          <a:solidFill>
            <a:srgbClr val="EAF5FB"/>
          </a:solidFill>
          <a:ln w="9525">
            <a:solidFill>
              <a:srgbClr val="B8BCC4"/>
            </a:solidFill>
            <a:prstDash val="solid"/>
          </a:ln>
        </p:spPr>
      </p:sp>
      <p:sp>
        <p:nvSpPr>
          <p:cNvPr id="16" name="Rectangle 15">
            <a:extLst>
              <a:ext uri="{FF2B5EF4-FFF2-40B4-BE49-F238E27FC236}">
                <a16:creationId xmlns:a16="http://schemas.microsoft.com/office/drawing/2014/main" id="{FF11E4BB-9223-4ABD-826A-0014C5D9061F}"/>
              </a:ext>
            </a:extLst>
          </p:cNvPr>
          <p:cNvSpPr>
            <a:spLocks noGrp="1"/>
          </p:cNvSpPr>
          <p:nvPr/>
        </p:nvSpPr>
        <p:spPr>
          <a:xfrm>
            <a:off x="6305550" y="1771650"/>
            <a:ext cx="2857500" cy="228600"/>
          </a:xfrm>
          <a:prstGeom prst="rect">
            <a:avLst/>
          </a:prstGeom>
        </p:spPr>
        <p:txBody>
          <a:bodyPr wrap="square" lIns="0" tIns="0" rIns="0" bIns="0" anchor="t">
            <a:noAutofit/>
          </a:bodyPr>
          <a:lstStyle/>
          <a:p>
            <a:pPr algn="l">
              <a:buNone/>
              <a:defRPr sz="975" b="1" i="0">
                <a:solidFill>
                  <a:srgbClr val="5F6873"/>
                </a:solidFill>
                <a:latin typeface="Arial"/>
                <a:ea typeface="Arial"/>
                <a:cs typeface="Arial"/>
              </a:defRPr>
            </a:pPr>
            <a:r>
              <a:rPr sz="975" b="1" i="0">
                <a:solidFill>
                  <a:srgbClr val="5F6873"/>
                </a:solidFill>
                <a:latin typeface="Arial"/>
                <a:ea typeface="Arial"/>
                <a:cs typeface="Arial"/>
              </a:rPr>
              <a:t>SYNCHRONIZED WORKBOOK</a:t>
            </a:r>
          </a:p>
        </p:txBody>
      </p:sp>
      <p:pic>
        <p:nvPicPr>
          <p:cNvPr id="38" name="Picture 37"/>
          <p:cNvPicPr>
            <a:picLocks noChangeAspect="1"/>
          </p:cNvPicPr>
          <p:nvPr/>
        </p:nvPicPr>
        <p:blipFill>
          <a:blip r:embed="rId3"/>
          <a:stretch/>
        </p:blipFill>
        <p:spPr>
          <a:xfrm>
            <a:off x="6878239" y="2057400"/>
            <a:ext cx="4055272" cy="3686175"/>
          </a:xfrm>
          <a:prstGeom prst="rect">
            <a:avLst/>
          </a:prstGeom>
        </p:spPr>
      </p:pic>
      <p:sp>
        <p:nvSpPr>
          <p:cNvPr id="19" name="Rectangle 18">
            <a:extLst>
              <a:ext uri="{FF2B5EF4-FFF2-40B4-BE49-F238E27FC236}">
                <a16:creationId xmlns:a16="http://schemas.microsoft.com/office/drawing/2014/main" id="{E0DE6119-6989-42AD-9DDE-88B19EFAF547}"/>
              </a:ext>
            </a:extLst>
          </p:cNvPr>
          <p:cNvSpPr>
            <a:spLocks noGrp="1"/>
          </p:cNvSpPr>
          <p:nvPr/>
        </p:nvSpPr>
        <p:spPr>
          <a:xfrm>
            <a:off x="11201400" y="6305550"/>
            <a:ext cx="590550" cy="238125"/>
          </a:xfrm>
          <a:prstGeom prst="rect">
            <a:avLst/>
          </a:prstGeom>
        </p:spPr>
        <p:txBody>
          <a:bodyPr wrap="square" lIns="0" tIns="0" rIns="0" bIns="0" anchor="t">
            <a:noAutofit/>
          </a:bodyPr>
          <a:lstStyle/>
          <a:p>
            <a:pPr algn="r">
              <a:buNone/>
              <a:defRPr sz="975" b="0" i="0">
                <a:solidFill>
                  <a:srgbClr val="5F6873"/>
                </a:solidFill>
                <a:latin typeface="Arial"/>
                <a:ea typeface="Arial"/>
                <a:cs typeface="Arial"/>
              </a:defRPr>
            </a:pPr>
            <a:r>
              <a:rPr sz="975" b="0" i="0">
                <a:solidFill>
                  <a:srgbClr val="5F6873"/>
                </a:solidFill>
                <a:latin typeface="Arial"/>
                <a:ea typeface="Arial"/>
                <a:cs typeface="Arial"/>
              </a:rPr>
              <a:t>07</a:t>
            </a:r>
          </a:p>
        </p:txBody>
      </p:sp>
    </p:spTree>
    <p:extLst>
      <p:ext uri="{BB962C8B-B14F-4D97-AF65-F5344CB8AC3E}">
        <p14:creationId xmlns:p14="http://schemas.microsoft.com/office/powerpoint/2010/main" val="2771750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A027B20-5064-DA2C-87A1-262A5E82A019}"/>
              </a:ext>
            </a:extLst>
          </p:cNvPr>
          <p:cNvPicPr>
            <a:picLocks noChangeAspect="1"/>
          </p:cNvPicPr>
          <p:nvPr/>
        </p:nvPicPr>
        <p:blipFill>
          <a:blip r:embed="rId2"/>
          <a:stretch>
            <a:fillRect/>
          </a:stretch>
        </p:blipFill>
        <p:spPr>
          <a:xfrm>
            <a:off x="36786" y="26598"/>
            <a:ext cx="12165797" cy="683140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section-9">
            <a:extLst>
              <a:ext uri="{FF2B5EF4-FFF2-40B4-BE49-F238E27FC236}">
                <a16:creationId xmlns:a16="http://schemas.microsoft.com/office/drawing/2014/main" id="{F4DD436A-9673-4102-B9E3-EBCB403C1446}"/>
              </a:ext>
            </a:extLst>
          </p:cNvPr>
          <p:cNvSpPr>
            <a:spLocks noGrp="1"/>
          </p:cNvSpPr>
          <p:nvPr/>
        </p:nvSpPr>
        <p:spPr>
          <a:xfrm>
            <a:off x="390525" y="295275"/>
            <a:ext cx="3238500" cy="209550"/>
          </a:xfrm>
          <a:prstGeom prst="rect">
            <a:avLst/>
          </a:prstGeom>
        </p:spPr>
        <p:txBody>
          <a:bodyPr wrap="square" lIns="0" tIns="0" rIns="0" bIns="0" anchor="t">
            <a:noAutofit/>
          </a:bodyPr>
          <a:lstStyle/>
          <a:p>
            <a:pPr algn="l">
              <a:buNone/>
              <a:defRPr sz="1050" b="1" i="0">
                <a:solidFill>
                  <a:srgbClr val="13847D"/>
                </a:solidFill>
                <a:latin typeface="Arial"/>
                <a:ea typeface="Arial"/>
                <a:cs typeface="Arial"/>
              </a:defRPr>
            </a:pPr>
            <a:r>
              <a:rPr sz="1050" b="1" i="0">
                <a:solidFill>
                  <a:srgbClr val="13847D"/>
                </a:solidFill>
                <a:latin typeface="Arial"/>
                <a:ea typeface="Arial"/>
                <a:cs typeface="Arial"/>
              </a:rPr>
              <a:t>TEXT MODELING</a:t>
            </a:r>
          </a:p>
        </p:txBody>
      </p:sp>
      <p:sp>
        <p:nvSpPr>
          <p:cNvPr id="2" name="title-9">
            <a:extLst>
              <a:ext uri="{FF2B5EF4-FFF2-40B4-BE49-F238E27FC236}">
                <a16:creationId xmlns:a16="http://schemas.microsoft.com/office/drawing/2014/main" id="{C360A08D-A0E9-476D-AB87-F097102E38AC}"/>
              </a:ext>
            </a:extLst>
          </p:cNvPr>
          <p:cNvSpPr>
            <a:spLocks noGrp="1"/>
          </p:cNvSpPr>
          <p:nvPr/>
        </p:nvSpPr>
        <p:spPr>
          <a:xfrm>
            <a:off x="390525" y="581025"/>
            <a:ext cx="11401425" cy="666750"/>
          </a:xfrm>
          <a:prstGeom prst="rect">
            <a:avLst/>
          </a:prstGeom>
        </p:spPr>
        <p:txBody>
          <a:bodyPr wrap="square" lIns="0" tIns="0" rIns="0" bIns="0" anchor="t">
            <a:noAutofit/>
          </a:bodyPr>
          <a:lstStyle/>
          <a:p>
            <a:pPr algn="l">
              <a:buNone/>
              <a:defRPr sz="3450" b="1" i="0">
                <a:solidFill>
                  <a:srgbClr val="101214"/>
                </a:solidFill>
                <a:latin typeface="Arial"/>
                <a:ea typeface="Arial"/>
                <a:cs typeface="Arial"/>
              </a:defRPr>
            </a:pPr>
            <a:r>
              <a:rPr sz="3300" b="1" i="0">
                <a:solidFill>
                  <a:srgbClr val="101214"/>
                </a:solidFill>
                <a:latin typeface="Arial"/>
                <a:ea typeface="Arial"/>
                <a:cs typeface="Arial"/>
              </a:rPr>
              <a:t>Admissions dominates—so tone alone is not enough</a:t>
            </a:r>
          </a:p>
        </p:txBody>
      </p:sp>
      <p:sp>
        <p:nvSpPr>
          <p:cNvPr id="3" name="Rectangle 2">
            <a:extLst>
              <a:ext uri="{FF2B5EF4-FFF2-40B4-BE49-F238E27FC236}">
                <a16:creationId xmlns:a16="http://schemas.microsoft.com/office/drawing/2014/main" id="{64320EA5-CDEA-4934-8767-29C28A23061B}"/>
              </a:ext>
            </a:extLst>
          </p:cNvPr>
          <p:cNvSpPr>
            <a:spLocks noGrp="1"/>
          </p:cNvSpPr>
          <p:nvPr/>
        </p:nvSpPr>
        <p:spPr>
          <a:xfrm>
            <a:off x="390525" y="1352550"/>
            <a:ext cx="11401425" cy="9525"/>
          </a:xfrm>
          <a:prstGeom prst="rect">
            <a:avLst/>
          </a:prstGeom>
          <a:solidFill>
            <a:srgbClr val="B8BCC4"/>
          </a:solidFill>
          <a:ln w="0">
            <a:solidFill>
              <a:srgbClr val="B8BCC4"/>
            </a:solidFill>
            <a:prstDash val="solid"/>
          </a:ln>
        </p:spPr>
      </p:sp>
      <p:sp>
        <p:nvSpPr>
          <p:cNvPr id="5" name="page-9">
            <a:extLst>
              <a:ext uri="{FF2B5EF4-FFF2-40B4-BE49-F238E27FC236}">
                <a16:creationId xmlns:a16="http://schemas.microsoft.com/office/drawing/2014/main" id="{1C26D7AA-30FB-46F1-BCD7-20E752D59693}"/>
              </a:ext>
            </a:extLst>
          </p:cNvPr>
          <p:cNvSpPr>
            <a:spLocks noGrp="1"/>
          </p:cNvSpPr>
          <p:nvPr/>
        </p:nvSpPr>
        <p:spPr>
          <a:xfrm>
            <a:off x="11201400" y="6305550"/>
            <a:ext cx="590550" cy="238125"/>
          </a:xfrm>
          <a:prstGeom prst="rect">
            <a:avLst/>
          </a:prstGeom>
        </p:spPr>
        <p:txBody>
          <a:bodyPr wrap="square" lIns="0" tIns="0" rIns="0" bIns="0" anchor="t">
            <a:noAutofit/>
          </a:bodyPr>
          <a:lstStyle/>
          <a:p>
            <a:pPr algn="r">
              <a:buNone/>
              <a:defRPr sz="975" b="0" i="0">
                <a:solidFill>
                  <a:srgbClr val="5F6873"/>
                </a:solidFill>
                <a:latin typeface="Arial"/>
                <a:ea typeface="Arial"/>
                <a:cs typeface="Arial"/>
              </a:defRPr>
            </a:pPr>
            <a:r>
              <a:rPr sz="975" b="0" i="0">
                <a:solidFill>
                  <a:srgbClr val="5F6873"/>
                </a:solidFill>
                <a:latin typeface="Arial"/>
                <a:ea typeface="Arial"/>
                <a:cs typeface="Arial"/>
              </a:rPr>
              <a:t>09</a:t>
            </a:r>
          </a:p>
        </p:txBody>
      </p:sp>
      <p:sp>
        <p:nvSpPr>
          <p:cNvPr id="6" name="Rectangle 5">
            <a:extLst>
              <a:ext uri="{FF2B5EF4-FFF2-40B4-BE49-F238E27FC236}">
                <a16:creationId xmlns:a16="http://schemas.microsoft.com/office/drawing/2014/main" id="{8C4F42EB-F4BF-4EC2-A3A6-873902FFC3F6}"/>
              </a:ext>
            </a:extLst>
          </p:cNvPr>
          <p:cNvSpPr>
            <a:spLocks noGrp="1"/>
          </p:cNvSpPr>
          <p:nvPr/>
        </p:nvSpPr>
        <p:spPr>
          <a:xfrm>
            <a:off x="7429500" y="1666875"/>
            <a:ext cx="4362450" cy="1314450"/>
          </a:xfrm>
          <a:prstGeom prst="rect">
            <a:avLst/>
          </a:prstGeom>
          <a:solidFill>
            <a:srgbClr val="F2F2F2"/>
          </a:solidFill>
          <a:ln w="0">
            <a:solidFill>
              <a:srgbClr val="F2F2F2"/>
            </a:solidFill>
            <a:prstDash val="solid"/>
          </a:ln>
        </p:spPr>
      </p:sp>
      <p:sp>
        <p:nvSpPr>
          <p:cNvPr id="7" name="Rectangle 6">
            <a:extLst>
              <a:ext uri="{FF2B5EF4-FFF2-40B4-BE49-F238E27FC236}">
                <a16:creationId xmlns:a16="http://schemas.microsoft.com/office/drawing/2014/main" id="{CC379649-77A6-45FA-A077-15F5B65AD8CD}"/>
              </a:ext>
            </a:extLst>
          </p:cNvPr>
          <p:cNvSpPr>
            <a:spLocks noGrp="1"/>
          </p:cNvSpPr>
          <p:nvPr/>
        </p:nvSpPr>
        <p:spPr>
          <a:xfrm>
            <a:off x="7429500" y="3171825"/>
            <a:ext cx="4362450" cy="1314450"/>
          </a:xfrm>
          <a:prstGeom prst="rect">
            <a:avLst/>
          </a:prstGeom>
          <a:solidFill>
            <a:srgbClr val="EAF5FB"/>
          </a:solidFill>
          <a:ln w="0">
            <a:solidFill>
              <a:srgbClr val="EAF5FB"/>
            </a:solidFill>
            <a:prstDash val="solid"/>
          </a:ln>
        </p:spPr>
      </p:sp>
      <p:sp>
        <p:nvSpPr>
          <p:cNvPr id="8" name="Rectangle 7">
            <a:extLst>
              <a:ext uri="{FF2B5EF4-FFF2-40B4-BE49-F238E27FC236}">
                <a16:creationId xmlns:a16="http://schemas.microsoft.com/office/drawing/2014/main" id="{8E43D991-EB14-4CC9-87DB-A13B4551895D}"/>
              </a:ext>
            </a:extLst>
          </p:cNvPr>
          <p:cNvSpPr>
            <a:spLocks noGrp="1"/>
          </p:cNvSpPr>
          <p:nvPr/>
        </p:nvSpPr>
        <p:spPr>
          <a:xfrm>
            <a:off x="7429500" y="4676775"/>
            <a:ext cx="4362450" cy="1285875"/>
          </a:xfrm>
          <a:prstGeom prst="rect">
            <a:avLst/>
          </a:prstGeom>
          <a:solidFill>
            <a:srgbClr val="F2F2F2"/>
          </a:solidFill>
          <a:ln w="0">
            <a:solidFill>
              <a:srgbClr val="F2F2F2"/>
            </a:solidFill>
            <a:prstDash val="solid"/>
          </a:ln>
        </p:spPr>
      </p:sp>
      <p:sp>
        <p:nvSpPr>
          <p:cNvPr id="9" name="Rectangle 8">
            <a:extLst>
              <a:ext uri="{FF2B5EF4-FFF2-40B4-BE49-F238E27FC236}">
                <a16:creationId xmlns:a16="http://schemas.microsoft.com/office/drawing/2014/main" id="{78E085F2-F3CD-4AFC-B59C-6978200C82B5}"/>
              </a:ext>
            </a:extLst>
          </p:cNvPr>
          <p:cNvSpPr>
            <a:spLocks noGrp="1"/>
          </p:cNvSpPr>
          <p:nvPr/>
        </p:nvSpPr>
        <p:spPr>
          <a:xfrm>
            <a:off x="7715250" y="1857375"/>
            <a:ext cx="1524000" cy="238125"/>
          </a:xfrm>
          <a:prstGeom prst="rect">
            <a:avLst/>
          </a:prstGeom>
        </p:spPr>
        <p:txBody>
          <a:bodyPr wrap="square" lIns="0" tIns="0" rIns="0" bIns="0" anchor="t">
            <a:noAutofit/>
          </a:bodyPr>
          <a:lstStyle/>
          <a:p>
            <a:pPr algn="l">
              <a:buNone/>
              <a:defRPr sz="1125" b="1" i="0">
                <a:solidFill>
                  <a:srgbClr val="13847D"/>
                </a:solidFill>
                <a:latin typeface="Arial"/>
                <a:ea typeface="Arial"/>
                <a:cs typeface="Arial"/>
              </a:defRPr>
            </a:pPr>
            <a:r>
              <a:rPr sz="1125" b="1" i="0">
                <a:solidFill>
                  <a:srgbClr val="13847D"/>
                </a:solidFill>
                <a:latin typeface="Arial"/>
                <a:ea typeface="Arial"/>
                <a:cs typeface="Arial"/>
              </a:rPr>
              <a:t>OUTCOMES</a:t>
            </a:r>
          </a:p>
        </p:txBody>
      </p:sp>
      <p:sp>
        <p:nvSpPr>
          <p:cNvPr id="10" name="Rectangle 9">
            <a:extLst>
              <a:ext uri="{FF2B5EF4-FFF2-40B4-BE49-F238E27FC236}">
                <a16:creationId xmlns:a16="http://schemas.microsoft.com/office/drawing/2014/main" id="{18A6912D-A8AD-4C28-8C30-502BA7A722C5}"/>
              </a:ext>
            </a:extLst>
          </p:cNvPr>
          <p:cNvSpPr>
            <a:spLocks noGrp="1"/>
          </p:cNvSpPr>
          <p:nvPr/>
        </p:nvSpPr>
        <p:spPr>
          <a:xfrm>
            <a:off x="7715250" y="2209800"/>
            <a:ext cx="3714750" cy="323850"/>
          </a:xfrm>
          <a:prstGeom prst="rect">
            <a:avLst/>
          </a:prstGeom>
        </p:spPr>
        <p:txBody>
          <a:bodyPr wrap="square" lIns="0" tIns="0" rIns="0" bIns="0" anchor="t">
            <a:noAutofit/>
          </a:bodyPr>
          <a:lstStyle/>
          <a:p>
            <a:pPr algn="l">
              <a:buNone/>
              <a:defRPr sz="1800" b="1" i="0">
                <a:solidFill>
                  <a:srgbClr val="101214"/>
                </a:solidFill>
                <a:latin typeface="Arial"/>
                <a:ea typeface="Arial"/>
                <a:cs typeface="Arial"/>
              </a:defRPr>
            </a:pPr>
            <a:r>
              <a:rPr sz="1800" b="1" i="0">
                <a:solidFill>
                  <a:srgbClr val="101214"/>
                </a:solidFill>
                <a:latin typeface="Arial"/>
                <a:ea typeface="Arial"/>
                <a:cs typeface="Arial"/>
              </a:rPr>
              <a:t>873 accepted / offer mentions</a:t>
            </a:r>
          </a:p>
        </p:txBody>
      </p:sp>
      <p:sp>
        <p:nvSpPr>
          <p:cNvPr id="11" name="Rectangle 10">
            <a:extLst>
              <a:ext uri="{FF2B5EF4-FFF2-40B4-BE49-F238E27FC236}">
                <a16:creationId xmlns:a16="http://schemas.microsoft.com/office/drawing/2014/main" id="{08E04D3B-041E-4245-B8A7-058E68816199}"/>
              </a:ext>
            </a:extLst>
          </p:cNvPr>
          <p:cNvSpPr>
            <a:spLocks noGrp="1"/>
          </p:cNvSpPr>
          <p:nvPr/>
        </p:nvSpPr>
        <p:spPr>
          <a:xfrm>
            <a:off x="7715250" y="2590800"/>
            <a:ext cx="3714750" cy="266700"/>
          </a:xfrm>
          <a:prstGeom prst="rect">
            <a:avLst/>
          </a:prstGeom>
        </p:spPr>
        <p:txBody>
          <a:bodyPr wrap="square" lIns="0" tIns="0" rIns="0" bIns="0" anchor="t">
            <a:noAutofit/>
          </a:bodyPr>
          <a:lstStyle/>
          <a:p>
            <a:pPr algn="l">
              <a:buNone/>
              <a:defRPr sz="1200" b="0" i="0">
                <a:solidFill>
                  <a:srgbClr val="5F6873"/>
                </a:solidFill>
                <a:latin typeface="Arial"/>
                <a:ea typeface="Arial"/>
                <a:cs typeface="Arial"/>
              </a:defRPr>
            </a:pPr>
            <a:r>
              <a:rPr sz="1163" b="0" i="0">
                <a:solidFill>
                  <a:srgbClr val="5F6873"/>
                </a:solidFill>
                <a:latin typeface="Arial"/>
                <a:ea typeface="Arial"/>
                <a:cs typeface="Arial"/>
              </a:rPr>
              <a:t>Outcome labels are modeled separately from sentiment.</a:t>
            </a:r>
          </a:p>
        </p:txBody>
      </p:sp>
      <p:sp>
        <p:nvSpPr>
          <p:cNvPr id="12" name="Rectangle 11">
            <a:extLst>
              <a:ext uri="{FF2B5EF4-FFF2-40B4-BE49-F238E27FC236}">
                <a16:creationId xmlns:a16="http://schemas.microsoft.com/office/drawing/2014/main" id="{068D048E-1191-4980-A9CA-4311CE04BB76}"/>
              </a:ext>
            </a:extLst>
          </p:cNvPr>
          <p:cNvSpPr>
            <a:spLocks noGrp="1"/>
          </p:cNvSpPr>
          <p:nvPr/>
        </p:nvSpPr>
        <p:spPr>
          <a:xfrm>
            <a:off x="7715250" y="3362325"/>
            <a:ext cx="1524000" cy="238125"/>
          </a:xfrm>
          <a:prstGeom prst="rect">
            <a:avLst/>
          </a:prstGeom>
        </p:spPr>
        <p:txBody>
          <a:bodyPr wrap="square" lIns="0" tIns="0" rIns="0" bIns="0" anchor="t">
            <a:noAutofit/>
          </a:bodyPr>
          <a:lstStyle/>
          <a:p>
            <a:pPr algn="l">
              <a:buNone/>
              <a:defRPr sz="1125" b="1" i="0">
                <a:solidFill>
                  <a:srgbClr val="3D8DFF"/>
                </a:solidFill>
                <a:latin typeface="Arial"/>
                <a:ea typeface="Arial"/>
                <a:cs typeface="Arial"/>
              </a:defRPr>
            </a:pPr>
            <a:r>
              <a:rPr sz="1125" b="1" i="0">
                <a:solidFill>
                  <a:srgbClr val="3D8DFF"/>
                </a:solidFill>
                <a:latin typeface="Arial"/>
                <a:ea typeface="Arial"/>
                <a:cs typeface="Arial"/>
              </a:rPr>
              <a:t>CONCERNS</a:t>
            </a:r>
          </a:p>
        </p:txBody>
      </p:sp>
      <p:sp>
        <p:nvSpPr>
          <p:cNvPr id="13" name="Rectangle 12">
            <a:extLst>
              <a:ext uri="{FF2B5EF4-FFF2-40B4-BE49-F238E27FC236}">
                <a16:creationId xmlns:a16="http://schemas.microsoft.com/office/drawing/2014/main" id="{32767EBA-3FDD-40A2-9CF1-76E422615F20}"/>
              </a:ext>
            </a:extLst>
          </p:cNvPr>
          <p:cNvSpPr>
            <a:spLocks noGrp="1"/>
          </p:cNvSpPr>
          <p:nvPr/>
        </p:nvSpPr>
        <p:spPr>
          <a:xfrm>
            <a:off x="7715250" y="3714750"/>
            <a:ext cx="3714750" cy="323850"/>
          </a:xfrm>
          <a:prstGeom prst="rect">
            <a:avLst/>
          </a:prstGeom>
        </p:spPr>
        <p:txBody>
          <a:bodyPr wrap="square" lIns="0" tIns="0" rIns="0" bIns="0" anchor="t">
            <a:noAutofit/>
          </a:bodyPr>
          <a:lstStyle/>
          <a:p>
            <a:pPr algn="l">
              <a:buNone/>
              <a:defRPr sz="1800" b="1" i="0">
                <a:solidFill>
                  <a:srgbClr val="101214"/>
                </a:solidFill>
                <a:latin typeface="Arial"/>
                <a:ea typeface="Arial"/>
                <a:cs typeface="Arial"/>
              </a:defRPr>
            </a:pPr>
            <a:r>
              <a:rPr sz="1800" b="1" i="0">
                <a:solidFill>
                  <a:srgbClr val="101214"/>
                </a:solidFill>
                <a:latin typeface="Arial"/>
                <a:ea typeface="Arial"/>
                <a:cs typeface="Arial"/>
              </a:rPr>
              <a:t>682 cost · 586 anxiety</a:t>
            </a:r>
          </a:p>
        </p:txBody>
      </p:sp>
      <p:sp>
        <p:nvSpPr>
          <p:cNvPr id="14" name="Rectangle 13">
            <a:extLst>
              <a:ext uri="{FF2B5EF4-FFF2-40B4-BE49-F238E27FC236}">
                <a16:creationId xmlns:a16="http://schemas.microsoft.com/office/drawing/2014/main" id="{0AAF8F27-9499-42D5-84CA-C3FE6A181606}"/>
              </a:ext>
            </a:extLst>
          </p:cNvPr>
          <p:cNvSpPr>
            <a:spLocks noGrp="1"/>
          </p:cNvSpPr>
          <p:nvPr/>
        </p:nvSpPr>
        <p:spPr>
          <a:xfrm>
            <a:off x="7715250" y="4095750"/>
            <a:ext cx="3714750" cy="266700"/>
          </a:xfrm>
          <a:prstGeom prst="rect">
            <a:avLst/>
          </a:prstGeom>
        </p:spPr>
        <p:txBody>
          <a:bodyPr wrap="square" lIns="0" tIns="0" rIns="0" bIns="0" anchor="t">
            <a:noAutofit/>
          </a:bodyPr>
          <a:lstStyle/>
          <a:p>
            <a:pPr algn="l">
              <a:buNone/>
              <a:defRPr sz="1200" b="0" i="0">
                <a:solidFill>
                  <a:srgbClr val="5F6873"/>
                </a:solidFill>
                <a:latin typeface="Arial"/>
                <a:ea typeface="Arial"/>
                <a:cs typeface="Arial"/>
              </a:defRPr>
            </a:pPr>
            <a:r>
              <a:rPr sz="1013" b="0" i="0">
                <a:solidFill>
                  <a:srgbClr val="5F6873"/>
                </a:solidFill>
                <a:latin typeface="Arial"/>
                <a:ea typeface="Arial"/>
                <a:cs typeface="Arial"/>
              </a:rPr>
              <a:t>Concern flags capture context that can still use neutral language.</a:t>
            </a:r>
          </a:p>
        </p:txBody>
      </p:sp>
      <p:sp>
        <p:nvSpPr>
          <p:cNvPr id="15" name="Rectangle 14">
            <a:extLst>
              <a:ext uri="{FF2B5EF4-FFF2-40B4-BE49-F238E27FC236}">
                <a16:creationId xmlns:a16="http://schemas.microsoft.com/office/drawing/2014/main" id="{46DD9F1D-BC54-4DDC-B7CD-A0353E39682D}"/>
              </a:ext>
            </a:extLst>
          </p:cNvPr>
          <p:cNvSpPr>
            <a:spLocks noGrp="1"/>
          </p:cNvSpPr>
          <p:nvPr/>
        </p:nvSpPr>
        <p:spPr>
          <a:xfrm>
            <a:off x="7715250" y="4867275"/>
            <a:ext cx="1524000" cy="238125"/>
          </a:xfrm>
          <a:prstGeom prst="rect">
            <a:avLst/>
          </a:prstGeom>
        </p:spPr>
        <p:txBody>
          <a:bodyPr wrap="square" lIns="0" tIns="0" rIns="0" bIns="0" anchor="t">
            <a:noAutofit/>
          </a:bodyPr>
          <a:lstStyle/>
          <a:p>
            <a:pPr algn="l">
              <a:buNone/>
              <a:defRPr sz="1125" b="1" i="0">
                <a:solidFill>
                  <a:srgbClr val="19395E"/>
                </a:solidFill>
                <a:latin typeface="Arial"/>
                <a:ea typeface="Arial"/>
                <a:cs typeface="Arial"/>
              </a:defRPr>
            </a:pPr>
            <a:r>
              <a:rPr sz="1125" b="1" i="0">
                <a:solidFill>
                  <a:srgbClr val="19395E"/>
                </a:solidFill>
                <a:latin typeface="Arial"/>
                <a:ea typeface="Arial"/>
                <a:cs typeface="Arial"/>
              </a:rPr>
              <a:t>VALIDATION</a:t>
            </a:r>
          </a:p>
        </p:txBody>
      </p:sp>
      <p:sp>
        <p:nvSpPr>
          <p:cNvPr id="16" name="Rectangle 15">
            <a:extLst>
              <a:ext uri="{FF2B5EF4-FFF2-40B4-BE49-F238E27FC236}">
                <a16:creationId xmlns:a16="http://schemas.microsoft.com/office/drawing/2014/main" id="{AA30792B-DA9E-4992-B32C-F52A243A7CD8}"/>
              </a:ext>
            </a:extLst>
          </p:cNvPr>
          <p:cNvSpPr>
            <a:spLocks noGrp="1"/>
          </p:cNvSpPr>
          <p:nvPr/>
        </p:nvSpPr>
        <p:spPr>
          <a:xfrm>
            <a:off x="7715250" y="5219700"/>
            <a:ext cx="3714750" cy="323850"/>
          </a:xfrm>
          <a:prstGeom prst="rect">
            <a:avLst/>
          </a:prstGeom>
        </p:spPr>
        <p:txBody>
          <a:bodyPr wrap="square" lIns="0" tIns="0" rIns="0" bIns="0" anchor="t">
            <a:noAutofit/>
          </a:bodyPr>
          <a:lstStyle/>
          <a:p>
            <a:pPr algn="l">
              <a:buNone/>
              <a:defRPr sz="1800" b="1" i="0">
                <a:solidFill>
                  <a:srgbClr val="101214"/>
                </a:solidFill>
                <a:latin typeface="Arial"/>
                <a:ea typeface="Arial"/>
                <a:cs typeface="Arial"/>
              </a:defRPr>
            </a:pPr>
            <a:r>
              <a:rPr sz="1800" b="1" i="0">
                <a:solidFill>
                  <a:srgbClr val="101214"/>
                </a:solidFill>
                <a:latin typeface="Arial"/>
                <a:ea typeface="Arial"/>
                <a:cs typeface="Arial"/>
              </a:rPr>
              <a:t>120-row stratified calibration</a:t>
            </a:r>
          </a:p>
        </p:txBody>
      </p:sp>
      <p:sp>
        <p:nvSpPr>
          <p:cNvPr id="17" name="Rectangle 16">
            <a:extLst>
              <a:ext uri="{FF2B5EF4-FFF2-40B4-BE49-F238E27FC236}">
                <a16:creationId xmlns:a16="http://schemas.microsoft.com/office/drawing/2014/main" id="{DE800247-9268-4FCA-BC3D-096FA6873BB4}"/>
              </a:ext>
            </a:extLst>
          </p:cNvPr>
          <p:cNvSpPr>
            <a:spLocks noGrp="1"/>
          </p:cNvSpPr>
          <p:nvPr/>
        </p:nvSpPr>
        <p:spPr>
          <a:xfrm>
            <a:off x="7715250" y="5600700"/>
            <a:ext cx="3714750" cy="266700"/>
          </a:xfrm>
          <a:prstGeom prst="rect">
            <a:avLst/>
          </a:prstGeom>
        </p:spPr>
        <p:txBody>
          <a:bodyPr wrap="square" lIns="0" tIns="0" rIns="0" bIns="0" anchor="t">
            <a:noAutofit/>
          </a:bodyPr>
          <a:lstStyle/>
          <a:p>
            <a:pPr algn="l">
              <a:buNone/>
              <a:defRPr sz="1200" b="0" i="0">
                <a:solidFill>
                  <a:srgbClr val="5F6873"/>
                </a:solidFill>
                <a:latin typeface="Arial"/>
                <a:ea typeface="Arial"/>
                <a:cs typeface="Arial"/>
              </a:defRPr>
            </a:pPr>
            <a:r>
              <a:rPr sz="1125" b="0" i="0">
                <a:solidFill>
                  <a:srgbClr val="5F6873"/>
                </a:solidFill>
                <a:latin typeface="Arial"/>
                <a:ea typeface="Arial"/>
                <a:cs typeface="Arial"/>
              </a:rPr>
              <a:t>Manual review remains required before final model claims.</a:t>
            </a:r>
          </a:p>
        </p:txBody>
      </p:sp>
      <p:graphicFrame>
        <p:nvGraphicFramePr>
          <p:cNvPr id="38" name="Chart"/>
          <p:cNvGraphicFramePr/>
          <p:nvPr/>
        </p:nvGraphicFramePr>
        <p:xfrm>
          <a:off x="428625" y="1724025"/>
          <a:ext cx="6477000" cy="421957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8024242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 name="section-10">
            <a:extLst>
              <a:ext uri="{FF2B5EF4-FFF2-40B4-BE49-F238E27FC236}">
                <a16:creationId xmlns:a16="http://schemas.microsoft.com/office/drawing/2014/main" id="{31533309-FB1A-4B8F-8086-034E9AD9B885}"/>
              </a:ext>
            </a:extLst>
          </p:cNvPr>
          <p:cNvSpPr>
            <a:spLocks noGrp="1"/>
          </p:cNvSpPr>
          <p:nvPr/>
        </p:nvSpPr>
        <p:spPr>
          <a:xfrm>
            <a:off x="390525" y="295275"/>
            <a:ext cx="3238500" cy="209550"/>
          </a:xfrm>
          <a:prstGeom prst="rect">
            <a:avLst/>
          </a:prstGeom>
        </p:spPr>
        <p:txBody>
          <a:bodyPr wrap="square" lIns="0" tIns="0" rIns="0" bIns="0" anchor="t">
            <a:noAutofit/>
          </a:bodyPr>
          <a:lstStyle/>
          <a:p>
            <a:pPr algn="l">
              <a:buNone/>
              <a:defRPr sz="1050" b="1" i="0">
                <a:solidFill>
                  <a:srgbClr val="13847D"/>
                </a:solidFill>
                <a:latin typeface="Arial"/>
                <a:ea typeface="Arial"/>
                <a:cs typeface="Arial"/>
              </a:defRPr>
            </a:pPr>
            <a:r>
              <a:rPr sz="1050" b="1" i="0">
                <a:solidFill>
                  <a:srgbClr val="13847D"/>
                </a:solidFill>
                <a:latin typeface="Arial"/>
                <a:ea typeface="Arial"/>
                <a:cs typeface="Arial"/>
              </a:rPr>
              <a:t>SCORING MODEL</a:t>
            </a:r>
          </a:p>
        </p:txBody>
      </p:sp>
      <p:sp>
        <p:nvSpPr>
          <p:cNvPr id="2" name="title-10">
            <a:extLst>
              <a:ext uri="{FF2B5EF4-FFF2-40B4-BE49-F238E27FC236}">
                <a16:creationId xmlns:a16="http://schemas.microsoft.com/office/drawing/2014/main" id="{1AC0B407-2CBB-4398-9C84-DA96107EEE3D}"/>
              </a:ext>
            </a:extLst>
          </p:cNvPr>
          <p:cNvSpPr>
            <a:spLocks noGrp="1"/>
          </p:cNvSpPr>
          <p:nvPr/>
        </p:nvSpPr>
        <p:spPr>
          <a:xfrm>
            <a:off x="390525" y="581025"/>
            <a:ext cx="11401425" cy="666750"/>
          </a:xfrm>
          <a:prstGeom prst="rect">
            <a:avLst/>
          </a:prstGeom>
        </p:spPr>
        <p:txBody>
          <a:bodyPr wrap="square" lIns="0" tIns="0" rIns="0" bIns="0" anchor="t">
            <a:noAutofit/>
          </a:bodyPr>
          <a:lstStyle/>
          <a:p>
            <a:pPr algn="l">
              <a:buNone/>
              <a:defRPr sz="3450" b="1" i="0">
                <a:solidFill>
                  <a:srgbClr val="101214"/>
                </a:solidFill>
                <a:latin typeface="Arial"/>
                <a:ea typeface="Arial"/>
                <a:cs typeface="Arial"/>
              </a:defRPr>
            </a:pPr>
            <a:r>
              <a:rPr sz="3300" b="1" i="0">
                <a:solidFill>
                  <a:srgbClr val="101214"/>
                </a:solidFill>
                <a:latin typeface="Arial"/>
                <a:ea typeface="Arial"/>
                <a:cs typeface="Arial"/>
              </a:rPr>
              <a:t>The pipeline blocks ranks it cannot defend</a:t>
            </a:r>
          </a:p>
        </p:txBody>
      </p:sp>
      <p:sp>
        <p:nvSpPr>
          <p:cNvPr id="3" name="Rectangle 2">
            <a:extLst>
              <a:ext uri="{FF2B5EF4-FFF2-40B4-BE49-F238E27FC236}">
                <a16:creationId xmlns:a16="http://schemas.microsoft.com/office/drawing/2014/main" id="{AA113CF9-ED22-41E2-9DF8-79A80C5A215A}"/>
              </a:ext>
            </a:extLst>
          </p:cNvPr>
          <p:cNvSpPr>
            <a:spLocks noGrp="1"/>
          </p:cNvSpPr>
          <p:nvPr/>
        </p:nvSpPr>
        <p:spPr>
          <a:xfrm>
            <a:off x="390525" y="1352550"/>
            <a:ext cx="11401425" cy="9525"/>
          </a:xfrm>
          <a:prstGeom prst="rect">
            <a:avLst/>
          </a:prstGeom>
          <a:solidFill>
            <a:srgbClr val="B8BCC4"/>
          </a:solidFill>
          <a:ln w="0">
            <a:solidFill>
              <a:srgbClr val="B8BCC4"/>
            </a:solidFill>
            <a:prstDash val="solid"/>
          </a:ln>
        </p:spPr>
      </p:sp>
      <p:sp>
        <p:nvSpPr>
          <p:cNvPr id="5" name="page-10">
            <a:extLst>
              <a:ext uri="{FF2B5EF4-FFF2-40B4-BE49-F238E27FC236}">
                <a16:creationId xmlns:a16="http://schemas.microsoft.com/office/drawing/2014/main" id="{00FFEDBF-E2EF-4593-8BF2-2B938A57BF7F}"/>
              </a:ext>
            </a:extLst>
          </p:cNvPr>
          <p:cNvSpPr>
            <a:spLocks noGrp="1"/>
          </p:cNvSpPr>
          <p:nvPr/>
        </p:nvSpPr>
        <p:spPr>
          <a:xfrm>
            <a:off x="11201400" y="6305550"/>
            <a:ext cx="590550" cy="238125"/>
          </a:xfrm>
          <a:prstGeom prst="rect">
            <a:avLst/>
          </a:prstGeom>
        </p:spPr>
        <p:txBody>
          <a:bodyPr wrap="square" lIns="0" tIns="0" rIns="0" bIns="0" anchor="t">
            <a:noAutofit/>
          </a:bodyPr>
          <a:lstStyle/>
          <a:p>
            <a:pPr algn="r">
              <a:buNone/>
              <a:defRPr sz="975" b="0" i="0">
                <a:solidFill>
                  <a:srgbClr val="5F6873"/>
                </a:solidFill>
                <a:latin typeface="Arial"/>
                <a:ea typeface="Arial"/>
                <a:cs typeface="Arial"/>
              </a:defRPr>
            </a:pPr>
            <a:r>
              <a:rPr sz="975" b="0" i="0">
                <a:solidFill>
                  <a:srgbClr val="5F6873"/>
                </a:solidFill>
                <a:latin typeface="Arial"/>
                <a:ea typeface="Arial"/>
                <a:cs typeface="Arial"/>
              </a:rPr>
              <a:t>10</a:t>
            </a:r>
          </a:p>
        </p:txBody>
      </p:sp>
      <p:sp>
        <p:nvSpPr>
          <p:cNvPr id="6" name="Rectangle 5">
            <a:extLst>
              <a:ext uri="{FF2B5EF4-FFF2-40B4-BE49-F238E27FC236}">
                <a16:creationId xmlns:a16="http://schemas.microsoft.com/office/drawing/2014/main" id="{21992108-7A5D-4861-9B7C-00E7BCCEF5BB}"/>
              </a:ext>
            </a:extLst>
          </p:cNvPr>
          <p:cNvSpPr>
            <a:spLocks noGrp="1"/>
          </p:cNvSpPr>
          <p:nvPr/>
        </p:nvSpPr>
        <p:spPr>
          <a:xfrm>
            <a:off x="390525" y="1685925"/>
            <a:ext cx="3333750" cy="285750"/>
          </a:xfrm>
          <a:prstGeom prst="rect">
            <a:avLst/>
          </a:prstGeom>
        </p:spPr>
        <p:txBody>
          <a:bodyPr wrap="square" lIns="0" tIns="0" rIns="0" bIns="0" anchor="t">
            <a:noAutofit/>
          </a:bodyPr>
          <a:lstStyle/>
          <a:p>
            <a:pPr algn="l">
              <a:buNone/>
              <a:defRPr sz="1275" b="1" i="0">
                <a:solidFill>
                  <a:srgbClr val="13847D"/>
                </a:solidFill>
                <a:latin typeface="Arial"/>
                <a:ea typeface="Arial"/>
                <a:cs typeface="Arial"/>
              </a:defRPr>
            </a:pPr>
            <a:r>
              <a:rPr sz="1275" b="1" i="0">
                <a:solidFill>
                  <a:srgbClr val="13847D"/>
                </a:solidFill>
                <a:latin typeface="Arial"/>
                <a:ea typeface="Arial"/>
                <a:cs typeface="Arial"/>
              </a:rPr>
              <a:t>RESEARCH-ORIENTED</a:t>
            </a:r>
          </a:p>
        </p:txBody>
      </p:sp>
      <p:sp>
        <p:nvSpPr>
          <p:cNvPr id="7" name="Rectangle 6">
            <a:extLst>
              <a:ext uri="{FF2B5EF4-FFF2-40B4-BE49-F238E27FC236}">
                <a16:creationId xmlns:a16="http://schemas.microsoft.com/office/drawing/2014/main" id="{B4D26859-0C77-412B-BC14-4E04E25A3A7F}"/>
              </a:ext>
            </a:extLst>
          </p:cNvPr>
          <p:cNvSpPr>
            <a:spLocks noGrp="1"/>
          </p:cNvSpPr>
          <p:nvPr/>
        </p:nvSpPr>
        <p:spPr>
          <a:xfrm>
            <a:off x="390525" y="2133600"/>
            <a:ext cx="2524125" cy="295275"/>
          </a:xfrm>
          <a:prstGeom prst="rect">
            <a:avLst/>
          </a:prstGeom>
        </p:spPr>
        <p:txBody>
          <a:bodyPr wrap="square" lIns="0" tIns="0" rIns="0" bIns="0" anchor="t">
            <a:noAutofit/>
          </a:bodyPr>
          <a:lstStyle/>
          <a:p>
            <a:pPr algn="l">
              <a:buNone/>
              <a:defRPr sz="1500" b="1" i="0">
                <a:solidFill>
                  <a:srgbClr val="101214"/>
                </a:solidFill>
                <a:latin typeface="Arial"/>
                <a:ea typeface="Arial"/>
                <a:cs typeface="Arial"/>
              </a:defRPr>
            </a:pPr>
            <a:r>
              <a:rPr sz="1500" b="1" i="0">
                <a:solidFill>
                  <a:srgbClr val="101214"/>
                </a:solidFill>
                <a:latin typeface="Arial"/>
                <a:ea typeface="Arial"/>
                <a:cs typeface="Arial"/>
              </a:rPr>
              <a:t>Institution strength</a:t>
            </a:r>
          </a:p>
        </p:txBody>
      </p:sp>
      <p:sp>
        <p:nvSpPr>
          <p:cNvPr id="8" name="Rectangle 7">
            <a:extLst>
              <a:ext uri="{FF2B5EF4-FFF2-40B4-BE49-F238E27FC236}">
                <a16:creationId xmlns:a16="http://schemas.microsoft.com/office/drawing/2014/main" id="{3A201405-DA9B-403F-B024-6E63B36EDF22}"/>
              </a:ext>
            </a:extLst>
          </p:cNvPr>
          <p:cNvSpPr>
            <a:spLocks noGrp="1"/>
          </p:cNvSpPr>
          <p:nvPr/>
        </p:nvSpPr>
        <p:spPr>
          <a:xfrm>
            <a:off x="3105150" y="2133600"/>
            <a:ext cx="742950" cy="295275"/>
          </a:xfrm>
          <a:prstGeom prst="rect">
            <a:avLst/>
          </a:prstGeom>
        </p:spPr>
        <p:txBody>
          <a:bodyPr wrap="square" lIns="0" tIns="0" rIns="0" bIns="0" anchor="t">
            <a:noAutofit/>
          </a:bodyPr>
          <a:lstStyle/>
          <a:p>
            <a:pPr algn="r">
              <a:buNone/>
              <a:defRPr sz="1500" b="1" i="0">
                <a:solidFill>
                  <a:srgbClr val="101214"/>
                </a:solidFill>
                <a:latin typeface="Arial"/>
                <a:ea typeface="Arial"/>
                <a:cs typeface="Arial"/>
              </a:defRPr>
            </a:pPr>
            <a:r>
              <a:rPr sz="1500" b="1" i="0">
                <a:solidFill>
                  <a:srgbClr val="101214"/>
                </a:solidFill>
                <a:latin typeface="Arial"/>
                <a:ea typeface="Arial"/>
                <a:cs typeface="Arial"/>
              </a:rPr>
              <a:t>30%</a:t>
            </a:r>
          </a:p>
        </p:txBody>
      </p:sp>
      <p:sp>
        <p:nvSpPr>
          <p:cNvPr id="9" name="Rectangle 8">
            <a:extLst>
              <a:ext uri="{FF2B5EF4-FFF2-40B4-BE49-F238E27FC236}">
                <a16:creationId xmlns:a16="http://schemas.microsoft.com/office/drawing/2014/main" id="{6A279ED5-95D7-470F-8020-687ECF8F948B}"/>
              </a:ext>
            </a:extLst>
          </p:cNvPr>
          <p:cNvSpPr>
            <a:spLocks noGrp="1"/>
          </p:cNvSpPr>
          <p:nvPr/>
        </p:nvSpPr>
        <p:spPr>
          <a:xfrm>
            <a:off x="390525" y="2524125"/>
            <a:ext cx="2524125" cy="295275"/>
          </a:xfrm>
          <a:prstGeom prst="rect">
            <a:avLst/>
          </a:prstGeom>
        </p:spPr>
        <p:txBody>
          <a:bodyPr wrap="square" lIns="0" tIns="0" rIns="0" bIns="0" anchor="t">
            <a:noAutofit/>
          </a:bodyPr>
          <a:lstStyle/>
          <a:p>
            <a:pPr algn="l">
              <a:buNone/>
              <a:defRPr sz="1500" b="1" i="0">
                <a:solidFill>
                  <a:srgbClr val="101214"/>
                </a:solidFill>
                <a:latin typeface="Arial"/>
                <a:ea typeface="Arial"/>
                <a:cs typeface="Arial"/>
              </a:defRPr>
            </a:pPr>
            <a:r>
              <a:rPr sz="1500" b="1" i="0">
                <a:solidFill>
                  <a:srgbClr val="101214"/>
                </a:solidFill>
                <a:latin typeface="Arial"/>
                <a:ea typeface="Arial"/>
                <a:cs typeface="Arial"/>
              </a:rPr>
              <a:t>Research environment</a:t>
            </a:r>
          </a:p>
        </p:txBody>
      </p:sp>
      <p:sp>
        <p:nvSpPr>
          <p:cNvPr id="10" name="Rectangle 9">
            <a:extLst>
              <a:ext uri="{FF2B5EF4-FFF2-40B4-BE49-F238E27FC236}">
                <a16:creationId xmlns:a16="http://schemas.microsoft.com/office/drawing/2014/main" id="{EA153C68-F404-481B-B96A-DB8BD4B1E298}"/>
              </a:ext>
            </a:extLst>
          </p:cNvPr>
          <p:cNvSpPr>
            <a:spLocks noGrp="1"/>
          </p:cNvSpPr>
          <p:nvPr/>
        </p:nvSpPr>
        <p:spPr>
          <a:xfrm>
            <a:off x="3105150" y="2524125"/>
            <a:ext cx="742950" cy="295275"/>
          </a:xfrm>
          <a:prstGeom prst="rect">
            <a:avLst/>
          </a:prstGeom>
        </p:spPr>
        <p:txBody>
          <a:bodyPr wrap="square" lIns="0" tIns="0" rIns="0" bIns="0" anchor="t">
            <a:noAutofit/>
          </a:bodyPr>
          <a:lstStyle/>
          <a:p>
            <a:pPr algn="r">
              <a:buNone/>
              <a:defRPr sz="1500" b="1" i="0">
                <a:solidFill>
                  <a:srgbClr val="101214"/>
                </a:solidFill>
                <a:latin typeface="Arial"/>
                <a:ea typeface="Arial"/>
                <a:cs typeface="Arial"/>
              </a:defRPr>
            </a:pPr>
            <a:r>
              <a:rPr sz="1500" b="1" i="0">
                <a:solidFill>
                  <a:srgbClr val="101214"/>
                </a:solidFill>
                <a:latin typeface="Arial"/>
                <a:ea typeface="Arial"/>
                <a:cs typeface="Arial"/>
              </a:rPr>
              <a:t>25%</a:t>
            </a:r>
          </a:p>
        </p:txBody>
      </p:sp>
      <p:sp>
        <p:nvSpPr>
          <p:cNvPr id="11" name="Rectangle 10">
            <a:extLst>
              <a:ext uri="{FF2B5EF4-FFF2-40B4-BE49-F238E27FC236}">
                <a16:creationId xmlns:a16="http://schemas.microsoft.com/office/drawing/2014/main" id="{AD1DB368-2014-45B9-8315-1B4A5589D07C}"/>
              </a:ext>
            </a:extLst>
          </p:cNvPr>
          <p:cNvSpPr>
            <a:spLocks noGrp="1"/>
          </p:cNvSpPr>
          <p:nvPr/>
        </p:nvSpPr>
        <p:spPr>
          <a:xfrm>
            <a:off x="390525" y="2914650"/>
            <a:ext cx="2524125" cy="295275"/>
          </a:xfrm>
          <a:prstGeom prst="rect">
            <a:avLst/>
          </a:prstGeom>
        </p:spPr>
        <p:txBody>
          <a:bodyPr wrap="square" lIns="0" tIns="0" rIns="0" bIns="0" anchor="t">
            <a:noAutofit/>
          </a:bodyPr>
          <a:lstStyle/>
          <a:p>
            <a:pPr algn="l">
              <a:buNone/>
              <a:defRPr sz="1500" b="1" i="0">
                <a:solidFill>
                  <a:srgbClr val="101214"/>
                </a:solidFill>
                <a:latin typeface="Arial"/>
                <a:ea typeface="Arial"/>
                <a:cs typeface="Arial"/>
              </a:defRPr>
            </a:pPr>
            <a:r>
              <a:rPr sz="1500" b="1" i="0">
                <a:solidFill>
                  <a:srgbClr val="101214"/>
                </a:solidFill>
                <a:latin typeface="Arial"/>
                <a:ea typeface="Arial"/>
                <a:cs typeface="Arial"/>
              </a:rPr>
              <a:t>Program research design</a:t>
            </a:r>
          </a:p>
        </p:txBody>
      </p:sp>
      <p:sp>
        <p:nvSpPr>
          <p:cNvPr id="12" name="Rectangle 11">
            <a:extLst>
              <a:ext uri="{FF2B5EF4-FFF2-40B4-BE49-F238E27FC236}">
                <a16:creationId xmlns:a16="http://schemas.microsoft.com/office/drawing/2014/main" id="{1D34DB71-A037-4418-B118-91C30205C1FE}"/>
              </a:ext>
            </a:extLst>
          </p:cNvPr>
          <p:cNvSpPr>
            <a:spLocks noGrp="1"/>
          </p:cNvSpPr>
          <p:nvPr/>
        </p:nvSpPr>
        <p:spPr>
          <a:xfrm>
            <a:off x="3105150" y="2914650"/>
            <a:ext cx="742950" cy="295275"/>
          </a:xfrm>
          <a:prstGeom prst="rect">
            <a:avLst/>
          </a:prstGeom>
        </p:spPr>
        <p:txBody>
          <a:bodyPr wrap="square" lIns="0" tIns="0" rIns="0" bIns="0" anchor="t">
            <a:noAutofit/>
          </a:bodyPr>
          <a:lstStyle/>
          <a:p>
            <a:pPr algn="r">
              <a:buNone/>
              <a:defRPr sz="1500" b="1" i="0">
                <a:solidFill>
                  <a:srgbClr val="101214"/>
                </a:solidFill>
                <a:latin typeface="Arial"/>
                <a:ea typeface="Arial"/>
                <a:cs typeface="Arial"/>
              </a:defRPr>
            </a:pPr>
            <a:r>
              <a:rPr sz="1500" b="1" i="0">
                <a:solidFill>
                  <a:srgbClr val="101214"/>
                </a:solidFill>
                <a:latin typeface="Arial"/>
                <a:ea typeface="Arial"/>
                <a:cs typeface="Arial"/>
              </a:rPr>
              <a:t>15%</a:t>
            </a:r>
          </a:p>
        </p:txBody>
      </p:sp>
      <p:sp>
        <p:nvSpPr>
          <p:cNvPr id="13" name="Rectangle 12">
            <a:extLst>
              <a:ext uri="{FF2B5EF4-FFF2-40B4-BE49-F238E27FC236}">
                <a16:creationId xmlns:a16="http://schemas.microsoft.com/office/drawing/2014/main" id="{79BD6581-9B8F-4BBA-BC9D-191EB7A27229}"/>
              </a:ext>
            </a:extLst>
          </p:cNvPr>
          <p:cNvSpPr>
            <a:spLocks noGrp="1"/>
          </p:cNvSpPr>
          <p:nvPr/>
        </p:nvSpPr>
        <p:spPr>
          <a:xfrm>
            <a:off x="390525" y="3305175"/>
            <a:ext cx="2524125" cy="295275"/>
          </a:xfrm>
          <a:prstGeom prst="rect">
            <a:avLst/>
          </a:prstGeom>
        </p:spPr>
        <p:txBody>
          <a:bodyPr wrap="square" lIns="0" tIns="0" rIns="0" bIns="0" anchor="t">
            <a:noAutofit/>
          </a:bodyPr>
          <a:lstStyle/>
          <a:p>
            <a:pPr algn="l">
              <a:buNone/>
              <a:defRPr sz="1500" b="0" i="0">
                <a:solidFill>
                  <a:srgbClr val="5F6873"/>
                </a:solidFill>
                <a:latin typeface="Arial"/>
                <a:ea typeface="Arial"/>
                <a:cs typeface="Arial"/>
              </a:defRPr>
            </a:pPr>
            <a:r>
              <a:rPr sz="1500" b="0" i="0">
                <a:solidFill>
                  <a:srgbClr val="5F6873"/>
                </a:solidFill>
                <a:latin typeface="Arial"/>
                <a:ea typeface="Arial"/>
                <a:cs typeface="Arial"/>
              </a:rPr>
              <a:t>Entry + English</a:t>
            </a:r>
          </a:p>
        </p:txBody>
      </p:sp>
      <p:sp>
        <p:nvSpPr>
          <p:cNvPr id="14" name="Rectangle 13">
            <a:extLst>
              <a:ext uri="{FF2B5EF4-FFF2-40B4-BE49-F238E27FC236}">
                <a16:creationId xmlns:a16="http://schemas.microsoft.com/office/drawing/2014/main" id="{BD607161-4381-4AF0-8656-877869DBD858}"/>
              </a:ext>
            </a:extLst>
          </p:cNvPr>
          <p:cNvSpPr>
            <a:spLocks noGrp="1"/>
          </p:cNvSpPr>
          <p:nvPr/>
        </p:nvSpPr>
        <p:spPr>
          <a:xfrm>
            <a:off x="3105150" y="3305175"/>
            <a:ext cx="742950" cy="295275"/>
          </a:xfrm>
          <a:prstGeom prst="rect">
            <a:avLst/>
          </a:prstGeom>
        </p:spPr>
        <p:txBody>
          <a:bodyPr wrap="square" lIns="0" tIns="0" rIns="0" bIns="0" anchor="t">
            <a:noAutofit/>
          </a:bodyPr>
          <a:lstStyle/>
          <a:p>
            <a:pPr algn="r">
              <a:buNone/>
              <a:defRPr sz="1500" b="0" i="0">
                <a:solidFill>
                  <a:srgbClr val="5F6873"/>
                </a:solidFill>
                <a:latin typeface="Arial"/>
                <a:ea typeface="Arial"/>
                <a:cs typeface="Arial"/>
              </a:defRPr>
            </a:pPr>
            <a:r>
              <a:rPr sz="1500" b="0" i="0">
                <a:solidFill>
                  <a:srgbClr val="5F6873"/>
                </a:solidFill>
                <a:latin typeface="Arial"/>
                <a:ea typeface="Arial"/>
                <a:cs typeface="Arial"/>
              </a:rPr>
              <a:t>20%</a:t>
            </a:r>
          </a:p>
        </p:txBody>
      </p:sp>
      <p:sp>
        <p:nvSpPr>
          <p:cNvPr id="15" name="Rectangle 14">
            <a:extLst>
              <a:ext uri="{FF2B5EF4-FFF2-40B4-BE49-F238E27FC236}">
                <a16:creationId xmlns:a16="http://schemas.microsoft.com/office/drawing/2014/main" id="{0469142B-ECED-470A-BFEE-C2D8AC5CFBEE}"/>
              </a:ext>
            </a:extLst>
          </p:cNvPr>
          <p:cNvSpPr>
            <a:spLocks noGrp="1"/>
          </p:cNvSpPr>
          <p:nvPr/>
        </p:nvSpPr>
        <p:spPr>
          <a:xfrm>
            <a:off x="390525" y="3695700"/>
            <a:ext cx="2619375" cy="295275"/>
          </a:xfrm>
          <a:prstGeom prst="rect">
            <a:avLst/>
          </a:prstGeom>
        </p:spPr>
        <p:txBody>
          <a:bodyPr wrap="square" lIns="0" tIns="0" rIns="0" bIns="0" anchor="t">
            <a:noAutofit/>
          </a:bodyPr>
          <a:lstStyle/>
          <a:p>
            <a:pPr algn="l">
              <a:buNone/>
              <a:defRPr sz="1500" b="0" i="0">
                <a:solidFill>
                  <a:srgbClr val="5F6873"/>
                </a:solidFill>
                <a:latin typeface="Arial"/>
                <a:ea typeface="Arial"/>
                <a:cs typeface="Arial"/>
              </a:defRPr>
            </a:pPr>
            <a:r>
              <a:rPr sz="1500" b="0" i="0">
                <a:solidFill>
                  <a:srgbClr val="5F6873"/>
                </a:solidFill>
                <a:latin typeface="Arial"/>
                <a:ea typeface="Arial"/>
                <a:cs typeface="Arial"/>
              </a:rPr>
              <a:t>Sustainability engagement</a:t>
            </a:r>
          </a:p>
        </p:txBody>
      </p:sp>
      <p:sp>
        <p:nvSpPr>
          <p:cNvPr id="16" name="Rectangle 15">
            <a:extLst>
              <a:ext uri="{FF2B5EF4-FFF2-40B4-BE49-F238E27FC236}">
                <a16:creationId xmlns:a16="http://schemas.microsoft.com/office/drawing/2014/main" id="{61744DCD-0E1F-4DDE-9101-BBD861696EB8}"/>
              </a:ext>
            </a:extLst>
          </p:cNvPr>
          <p:cNvSpPr>
            <a:spLocks noGrp="1"/>
          </p:cNvSpPr>
          <p:nvPr/>
        </p:nvSpPr>
        <p:spPr>
          <a:xfrm>
            <a:off x="3105150" y="3695700"/>
            <a:ext cx="742950" cy="295275"/>
          </a:xfrm>
          <a:prstGeom prst="rect">
            <a:avLst/>
          </a:prstGeom>
        </p:spPr>
        <p:txBody>
          <a:bodyPr wrap="square" lIns="0" tIns="0" rIns="0" bIns="0" anchor="t">
            <a:noAutofit/>
          </a:bodyPr>
          <a:lstStyle/>
          <a:p>
            <a:pPr algn="r">
              <a:buNone/>
              <a:defRPr sz="1500" b="0" i="0">
                <a:solidFill>
                  <a:srgbClr val="5F6873"/>
                </a:solidFill>
                <a:latin typeface="Arial"/>
                <a:ea typeface="Arial"/>
                <a:cs typeface="Arial"/>
              </a:defRPr>
            </a:pPr>
            <a:r>
              <a:rPr sz="1500" b="0" i="0">
                <a:solidFill>
                  <a:srgbClr val="5F6873"/>
                </a:solidFill>
                <a:latin typeface="Arial"/>
                <a:ea typeface="Arial"/>
                <a:cs typeface="Arial"/>
              </a:rPr>
              <a:t>10%</a:t>
            </a:r>
          </a:p>
        </p:txBody>
      </p:sp>
      <p:sp>
        <p:nvSpPr>
          <p:cNvPr id="17" name="Rectangle 16">
            <a:extLst>
              <a:ext uri="{FF2B5EF4-FFF2-40B4-BE49-F238E27FC236}">
                <a16:creationId xmlns:a16="http://schemas.microsoft.com/office/drawing/2014/main" id="{7FA415DF-E6D8-42F7-8076-F90FC260BBC4}"/>
              </a:ext>
            </a:extLst>
          </p:cNvPr>
          <p:cNvSpPr>
            <a:spLocks noGrp="1"/>
          </p:cNvSpPr>
          <p:nvPr/>
        </p:nvSpPr>
        <p:spPr>
          <a:xfrm>
            <a:off x="4076700" y="1685925"/>
            <a:ext cx="9525" cy="2638425"/>
          </a:xfrm>
          <a:prstGeom prst="rect">
            <a:avLst/>
          </a:prstGeom>
          <a:solidFill>
            <a:srgbClr val="B8BCC4"/>
          </a:solidFill>
          <a:ln w="0">
            <a:solidFill>
              <a:srgbClr val="B8BCC4"/>
            </a:solidFill>
            <a:prstDash val="solid"/>
          </a:ln>
        </p:spPr>
      </p:sp>
      <p:sp>
        <p:nvSpPr>
          <p:cNvPr id="18" name="Rectangle 17">
            <a:extLst>
              <a:ext uri="{FF2B5EF4-FFF2-40B4-BE49-F238E27FC236}">
                <a16:creationId xmlns:a16="http://schemas.microsoft.com/office/drawing/2014/main" id="{365D4D40-3CBC-49AE-B04C-5022FB5213DF}"/>
              </a:ext>
            </a:extLst>
          </p:cNvPr>
          <p:cNvSpPr>
            <a:spLocks noGrp="1"/>
          </p:cNvSpPr>
          <p:nvPr/>
        </p:nvSpPr>
        <p:spPr>
          <a:xfrm>
            <a:off x="4400550" y="1685925"/>
            <a:ext cx="3286125" cy="285750"/>
          </a:xfrm>
          <a:prstGeom prst="rect">
            <a:avLst/>
          </a:prstGeom>
        </p:spPr>
        <p:txBody>
          <a:bodyPr wrap="square" lIns="0" tIns="0" rIns="0" bIns="0" anchor="t">
            <a:noAutofit/>
          </a:bodyPr>
          <a:lstStyle/>
          <a:p>
            <a:pPr algn="l">
              <a:buNone/>
              <a:defRPr sz="1275" b="1" i="0">
                <a:solidFill>
                  <a:srgbClr val="3D8DFF"/>
                </a:solidFill>
                <a:latin typeface="Arial"/>
                <a:ea typeface="Arial"/>
                <a:cs typeface="Arial"/>
              </a:defRPr>
            </a:pPr>
            <a:r>
              <a:rPr sz="1275" b="1" i="0">
                <a:solidFill>
                  <a:srgbClr val="3D8DFF"/>
                </a:solidFill>
                <a:latin typeface="Arial"/>
                <a:ea typeface="Arial"/>
                <a:cs typeface="Arial"/>
              </a:rPr>
              <a:t>TAUGHT / PROFESSIONAL</a:t>
            </a:r>
          </a:p>
        </p:txBody>
      </p:sp>
      <p:sp>
        <p:nvSpPr>
          <p:cNvPr id="19" name="Rectangle 18">
            <a:extLst>
              <a:ext uri="{FF2B5EF4-FFF2-40B4-BE49-F238E27FC236}">
                <a16:creationId xmlns:a16="http://schemas.microsoft.com/office/drawing/2014/main" id="{4F6511D2-26BB-4DC2-AF88-18A52681F48C}"/>
              </a:ext>
            </a:extLst>
          </p:cNvPr>
          <p:cNvSpPr>
            <a:spLocks noGrp="1"/>
          </p:cNvSpPr>
          <p:nvPr/>
        </p:nvSpPr>
        <p:spPr>
          <a:xfrm>
            <a:off x="4400550" y="2133600"/>
            <a:ext cx="2524125" cy="295275"/>
          </a:xfrm>
          <a:prstGeom prst="rect">
            <a:avLst/>
          </a:prstGeom>
        </p:spPr>
        <p:txBody>
          <a:bodyPr wrap="square" lIns="0" tIns="0" rIns="0" bIns="0" anchor="t">
            <a:noAutofit/>
          </a:bodyPr>
          <a:lstStyle/>
          <a:p>
            <a:pPr algn="l">
              <a:buNone/>
              <a:defRPr sz="1500" b="1" i="0">
                <a:solidFill>
                  <a:srgbClr val="101214"/>
                </a:solidFill>
                <a:latin typeface="Arial"/>
                <a:ea typeface="Arial"/>
                <a:cs typeface="Arial"/>
              </a:defRPr>
            </a:pPr>
            <a:r>
              <a:rPr sz="1500" b="1" i="0">
                <a:solidFill>
                  <a:srgbClr val="101214"/>
                </a:solidFill>
                <a:latin typeface="Arial"/>
                <a:ea typeface="Arial"/>
                <a:cs typeface="Arial"/>
              </a:rPr>
              <a:t>Institution strength</a:t>
            </a:r>
          </a:p>
        </p:txBody>
      </p:sp>
      <p:sp>
        <p:nvSpPr>
          <p:cNvPr id="20" name="Rectangle 19">
            <a:extLst>
              <a:ext uri="{FF2B5EF4-FFF2-40B4-BE49-F238E27FC236}">
                <a16:creationId xmlns:a16="http://schemas.microsoft.com/office/drawing/2014/main" id="{8B5E7A59-D835-4909-B0AC-3DA31492F47F}"/>
              </a:ext>
            </a:extLst>
          </p:cNvPr>
          <p:cNvSpPr>
            <a:spLocks noGrp="1"/>
          </p:cNvSpPr>
          <p:nvPr/>
        </p:nvSpPr>
        <p:spPr>
          <a:xfrm>
            <a:off x="7124700" y="2133600"/>
            <a:ext cx="742950" cy="295275"/>
          </a:xfrm>
          <a:prstGeom prst="rect">
            <a:avLst/>
          </a:prstGeom>
        </p:spPr>
        <p:txBody>
          <a:bodyPr wrap="square" lIns="0" tIns="0" rIns="0" bIns="0" anchor="t">
            <a:noAutofit/>
          </a:bodyPr>
          <a:lstStyle/>
          <a:p>
            <a:pPr algn="r">
              <a:buNone/>
              <a:defRPr sz="1500" b="1" i="0">
                <a:solidFill>
                  <a:srgbClr val="101214"/>
                </a:solidFill>
                <a:latin typeface="Arial"/>
                <a:ea typeface="Arial"/>
                <a:cs typeface="Arial"/>
              </a:defRPr>
            </a:pPr>
            <a:r>
              <a:rPr sz="1500" b="1" i="0">
                <a:solidFill>
                  <a:srgbClr val="101214"/>
                </a:solidFill>
                <a:latin typeface="Arial"/>
                <a:ea typeface="Arial"/>
                <a:cs typeface="Arial"/>
              </a:rPr>
              <a:t>30%</a:t>
            </a:r>
          </a:p>
        </p:txBody>
      </p:sp>
      <p:sp>
        <p:nvSpPr>
          <p:cNvPr id="21" name="Rectangle 20">
            <a:extLst>
              <a:ext uri="{FF2B5EF4-FFF2-40B4-BE49-F238E27FC236}">
                <a16:creationId xmlns:a16="http://schemas.microsoft.com/office/drawing/2014/main" id="{5E12F261-6723-4ED9-A36E-017953A50690}"/>
              </a:ext>
            </a:extLst>
          </p:cNvPr>
          <p:cNvSpPr>
            <a:spLocks noGrp="1"/>
          </p:cNvSpPr>
          <p:nvPr/>
        </p:nvSpPr>
        <p:spPr>
          <a:xfrm>
            <a:off x="4400550" y="2524125"/>
            <a:ext cx="2524125" cy="295275"/>
          </a:xfrm>
          <a:prstGeom prst="rect">
            <a:avLst/>
          </a:prstGeom>
        </p:spPr>
        <p:txBody>
          <a:bodyPr wrap="square" lIns="0" tIns="0" rIns="0" bIns="0" anchor="t">
            <a:noAutofit/>
          </a:bodyPr>
          <a:lstStyle/>
          <a:p>
            <a:pPr algn="l">
              <a:buNone/>
              <a:defRPr sz="1500" b="1" i="0">
                <a:solidFill>
                  <a:srgbClr val="101214"/>
                </a:solidFill>
                <a:latin typeface="Arial"/>
                <a:ea typeface="Arial"/>
                <a:cs typeface="Arial"/>
              </a:defRPr>
            </a:pPr>
            <a:r>
              <a:rPr sz="1500" b="1" i="0">
                <a:solidFill>
                  <a:srgbClr val="101214"/>
                </a:solidFill>
                <a:latin typeface="Arial"/>
                <a:ea typeface="Arial"/>
                <a:cs typeface="Arial"/>
              </a:rPr>
              <a:t>Curriculum relevance</a:t>
            </a:r>
          </a:p>
        </p:txBody>
      </p:sp>
      <p:sp>
        <p:nvSpPr>
          <p:cNvPr id="22" name="Rectangle 21">
            <a:extLst>
              <a:ext uri="{FF2B5EF4-FFF2-40B4-BE49-F238E27FC236}">
                <a16:creationId xmlns:a16="http://schemas.microsoft.com/office/drawing/2014/main" id="{CD14C640-F6AD-40FF-AC54-25A00DEA763F}"/>
              </a:ext>
            </a:extLst>
          </p:cNvPr>
          <p:cNvSpPr>
            <a:spLocks noGrp="1"/>
          </p:cNvSpPr>
          <p:nvPr/>
        </p:nvSpPr>
        <p:spPr>
          <a:xfrm>
            <a:off x="7124700" y="2524125"/>
            <a:ext cx="742950" cy="295275"/>
          </a:xfrm>
          <a:prstGeom prst="rect">
            <a:avLst/>
          </a:prstGeom>
        </p:spPr>
        <p:txBody>
          <a:bodyPr wrap="square" lIns="0" tIns="0" rIns="0" bIns="0" anchor="t">
            <a:noAutofit/>
          </a:bodyPr>
          <a:lstStyle/>
          <a:p>
            <a:pPr algn="r">
              <a:buNone/>
              <a:defRPr sz="1500" b="1" i="0">
                <a:solidFill>
                  <a:srgbClr val="101214"/>
                </a:solidFill>
                <a:latin typeface="Arial"/>
                <a:ea typeface="Arial"/>
                <a:cs typeface="Arial"/>
              </a:defRPr>
            </a:pPr>
            <a:r>
              <a:rPr sz="1500" b="1" i="0">
                <a:solidFill>
                  <a:srgbClr val="101214"/>
                </a:solidFill>
                <a:latin typeface="Arial"/>
                <a:ea typeface="Arial"/>
                <a:cs typeface="Arial"/>
              </a:rPr>
              <a:t>20%</a:t>
            </a:r>
          </a:p>
        </p:txBody>
      </p:sp>
      <p:sp>
        <p:nvSpPr>
          <p:cNvPr id="23" name="Rectangle 22">
            <a:extLst>
              <a:ext uri="{FF2B5EF4-FFF2-40B4-BE49-F238E27FC236}">
                <a16:creationId xmlns:a16="http://schemas.microsoft.com/office/drawing/2014/main" id="{9A676211-BCCC-4269-BA32-041B27EF65BE}"/>
              </a:ext>
            </a:extLst>
          </p:cNvPr>
          <p:cNvSpPr>
            <a:spLocks noGrp="1"/>
          </p:cNvSpPr>
          <p:nvPr/>
        </p:nvSpPr>
        <p:spPr>
          <a:xfrm>
            <a:off x="4400550" y="2914650"/>
            <a:ext cx="2524125" cy="295275"/>
          </a:xfrm>
          <a:prstGeom prst="rect">
            <a:avLst/>
          </a:prstGeom>
        </p:spPr>
        <p:txBody>
          <a:bodyPr wrap="square" lIns="0" tIns="0" rIns="0" bIns="0" anchor="t">
            <a:noAutofit/>
          </a:bodyPr>
          <a:lstStyle/>
          <a:p>
            <a:pPr algn="l">
              <a:buNone/>
              <a:defRPr sz="1500" b="1" i="0">
                <a:solidFill>
                  <a:srgbClr val="101214"/>
                </a:solidFill>
                <a:latin typeface="Arial"/>
                <a:ea typeface="Arial"/>
                <a:cs typeface="Arial"/>
              </a:defRPr>
            </a:pPr>
            <a:r>
              <a:rPr sz="1500" b="1" i="0">
                <a:solidFill>
                  <a:srgbClr val="101214"/>
                </a:solidFill>
                <a:latin typeface="Arial"/>
                <a:ea typeface="Arial"/>
                <a:cs typeface="Arial"/>
              </a:rPr>
              <a:t>Experiential learning</a:t>
            </a:r>
          </a:p>
        </p:txBody>
      </p:sp>
      <p:sp>
        <p:nvSpPr>
          <p:cNvPr id="24" name="Rectangle 23">
            <a:extLst>
              <a:ext uri="{FF2B5EF4-FFF2-40B4-BE49-F238E27FC236}">
                <a16:creationId xmlns:a16="http://schemas.microsoft.com/office/drawing/2014/main" id="{9543FF10-C389-4764-9E96-09B4A1CD3406}"/>
              </a:ext>
            </a:extLst>
          </p:cNvPr>
          <p:cNvSpPr>
            <a:spLocks noGrp="1"/>
          </p:cNvSpPr>
          <p:nvPr/>
        </p:nvSpPr>
        <p:spPr>
          <a:xfrm>
            <a:off x="7124700" y="2914650"/>
            <a:ext cx="742950" cy="295275"/>
          </a:xfrm>
          <a:prstGeom prst="rect">
            <a:avLst/>
          </a:prstGeom>
        </p:spPr>
        <p:txBody>
          <a:bodyPr wrap="square" lIns="0" tIns="0" rIns="0" bIns="0" anchor="t">
            <a:noAutofit/>
          </a:bodyPr>
          <a:lstStyle/>
          <a:p>
            <a:pPr algn="r">
              <a:buNone/>
              <a:defRPr sz="1500" b="1" i="0">
                <a:solidFill>
                  <a:srgbClr val="101214"/>
                </a:solidFill>
                <a:latin typeface="Arial"/>
                <a:ea typeface="Arial"/>
                <a:cs typeface="Arial"/>
              </a:defRPr>
            </a:pPr>
            <a:r>
              <a:rPr sz="1500" b="1" i="0">
                <a:solidFill>
                  <a:srgbClr val="101214"/>
                </a:solidFill>
                <a:latin typeface="Arial"/>
                <a:ea typeface="Arial"/>
                <a:cs typeface="Arial"/>
              </a:rPr>
              <a:t>15%</a:t>
            </a:r>
          </a:p>
        </p:txBody>
      </p:sp>
      <p:sp>
        <p:nvSpPr>
          <p:cNvPr id="25" name="Rectangle 24">
            <a:extLst>
              <a:ext uri="{FF2B5EF4-FFF2-40B4-BE49-F238E27FC236}">
                <a16:creationId xmlns:a16="http://schemas.microsoft.com/office/drawing/2014/main" id="{07B47080-A6BC-4C1E-B245-0CF2EF83B1F4}"/>
              </a:ext>
            </a:extLst>
          </p:cNvPr>
          <p:cNvSpPr>
            <a:spLocks noGrp="1"/>
          </p:cNvSpPr>
          <p:nvPr/>
        </p:nvSpPr>
        <p:spPr>
          <a:xfrm>
            <a:off x="4400550" y="3305175"/>
            <a:ext cx="2524125" cy="295275"/>
          </a:xfrm>
          <a:prstGeom prst="rect">
            <a:avLst/>
          </a:prstGeom>
        </p:spPr>
        <p:txBody>
          <a:bodyPr wrap="square" lIns="0" tIns="0" rIns="0" bIns="0" anchor="t">
            <a:noAutofit/>
          </a:bodyPr>
          <a:lstStyle/>
          <a:p>
            <a:pPr algn="l">
              <a:buNone/>
              <a:defRPr sz="1500" b="0" i="0">
                <a:solidFill>
                  <a:srgbClr val="5F6873"/>
                </a:solidFill>
                <a:latin typeface="Arial"/>
                <a:ea typeface="Arial"/>
                <a:cs typeface="Arial"/>
              </a:defRPr>
            </a:pPr>
            <a:r>
              <a:rPr sz="1500" b="0" i="0">
                <a:solidFill>
                  <a:srgbClr val="5F6873"/>
                </a:solidFill>
                <a:latin typeface="Arial"/>
                <a:ea typeface="Arial"/>
                <a:cs typeface="Arial"/>
              </a:rPr>
              <a:t>Entry + English</a:t>
            </a:r>
          </a:p>
        </p:txBody>
      </p:sp>
      <p:sp>
        <p:nvSpPr>
          <p:cNvPr id="26" name="Rectangle 25">
            <a:extLst>
              <a:ext uri="{FF2B5EF4-FFF2-40B4-BE49-F238E27FC236}">
                <a16:creationId xmlns:a16="http://schemas.microsoft.com/office/drawing/2014/main" id="{4415E542-4783-4AC8-89AD-8CA6BBD499A4}"/>
              </a:ext>
            </a:extLst>
          </p:cNvPr>
          <p:cNvSpPr>
            <a:spLocks noGrp="1"/>
          </p:cNvSpPr>
          <p:nvPr/>
        </p:nvSpPr>
        <p:spPr>
          <a:xfrm>
            <a:off x="7124700" y="3305175"/>
            <a:ext cx="742950" cy="295275"/>
          </a:xfrm>
          <a:prstGeom prst="rect">
            <a:avLst/>
          </a:prstGeom>
        </p:spPr>
        <p:txBody>
          <a:bodyPr wrap="square" lIns="0" tIns="0" rIns="0" bIns="0" anchor="t">
            <a:noAutofit/>
          </a:bodyPr>
          <a:lstStyle/>
          <a:p>
            <a:pPr algn="r">
              <a:buNone/>
              <a:defRPr sz="1500" b="0" i="0">
                <a:solidFill>
                  <a:srgbClr val="5F6873"/>
                </a:solidFill>
                <a:latin typeface="Arial"/>
                <a:ea typeface="Arial"/>
                <a:cs typeface="Arial"/>
              </a:defRPr>
            </a:pPr>
            <a:r>
              <a:rPr sz="1500" b="0" i="0">
                <a:solidFill>
                  <a:srgbClr val="5F6873"/>
                </a:solidFill>
                <a:latin typeface="Arial"/>
                <a:ea typeface="Arial"/>
                <a:cs typeface="Arial"/>
              </a:rPr>
              <a:t>20%</a:t>
            </a:r>
          </a:p>
        </p:txBody>
      </p:sp>
      <p:sp>
        <p:nvSpPr>
          <p:cNvPr id="27" name="Rectangle 26">
            <a:extLst>
              <a:ext uri="{FF2B5EF4-FFF2-40B4-BE49-F238E27FC236}">
                <a16:creationId xmlns:a16="http://schemas.microsoft.com/office/drawing/2014/main" id="{462B40B9-5355-4CD8-AF51-A1C6EEA1A714}"/>
              </a:ext>
            </a:extLst>
          </p:cNvPr>
          <p:cNvSpPr>
            <a:spLocks noGrp="1"/>
          </p:cNvSpPr>
          <p:nvPr/>
        </p:nvSpPr>
        <p:spPr>
          <a:xfrm>
            <a:off x="4400550" y="3695700"/>
            <a:ext cx="2619375" cy="295275"/>
          </a:xfrm>
          <a:prstGeom prst="rect">
            <a:avLst/>
          </a:prstGeom>
        </p:spPr>
        <p:txBody>
          <a:bodyPr wrap="square" lIns="0" tIns="0" rIns="0" bIns="0" anchor="t">
            <a:noAutofit/>
          </a:bodyPr>
          <a:lstStyle/>
          <a:p>
            <a:pPr algn="l">
              <a:buNone/>
              <a:defRPr sz="1425" b="0" i="0">
                <a:solidFill>
                  <a:srgbClr val="5F6873"/>
                </a:solidFill>
                <a:latin typeface="Arial"/>
                <a:ea typeface="Arial"/>
                <a:cs typeface="Arial"/>
              </a:defRPr>
            </a:pPr>
            <a:r>
              <a:rPr sz="1425" b="0" i="0">
                <a:solidFill>
                  <a:srgbClr val="5F6873"/>
                </a:solidFill>
                <a:latin typeface="Arial"/>
                <a:ea typeface="Arial"/>
                <a:cs typeface="Arial"/>
              </a:rPr>
              <a:t>Delivery, career, engagement</a:t>
            </a:r>
          </a:p>
        </p:txBody>
      </p:sp>
      <p:sp>
        <p:nvSpPr>
          <p:cNvPr id="28" name="Rectangle 27">
            <a:extLst>
              <a:ext uri="{FF2B5EF4-FFF2-40B4-BE49-F238E27FC236}">
                <a16:creationId xmlns:a16="http://schemas.microsoft.com/office/drawing/2014/main" id="{1E198711-DFBB-488A-9552-FA7ED5D4022E}"/>
              </a:ext>
            </a:extLst>
          </p:cNvPr>
          <p:cNvSpPr>
            <a:spLocks noGrp="1"/>
          </p:cNvSpPr>
          <p:nvPr/>
        </p:nvSpPr>
        <p:spPr>
          <a:xfrm>
            <a:off x="7124700" y="3695700"/>
            <a:ext cx="742950" cy="295275"/>
          </a:xfrm>
          <a:prstGeom prst="rect">
            <a:avLst/>
          </a:prstGeom>
        </p:spPr>
        <p:txBody>
          <a:bodyPr wrap="square" lIns="0" tIns="0" rIns="0" bIns="0" anchor="t">
            <a:noAutofit/>
          </a:bodyPr>
          <a:lstStyle/>
          <a:p>
            <a:pPr algn="r">
              <a:buNone/>
              <a:defRPr sz="1500" b="0" i="0">
                <a:solidFill>
                  <a:srgbClr val="5F6873"/>
                </a:solidFill>
                <a:latin typeface="Arial"/>
                <a:ea typeface="Arial"/>
                <a:cs typeface="Arial"/>
              </a:defRPr>
            </a:pPr>
            <a:r>
              <a:rPr sz="1500" b="0" i="0">
                <a:solidFill>
                  <a:srgbClr val="5F6873"/>
                </a:solidFill>
                <a:latin typeface="Arial"/>
                <a:ea typeface="Arial"/>
                <a:cs typeface="Arial"/>
              </a:rPr>
              <a:t>15%</a:t>
            </a:r>
          </a:p>
        </p:txBody>
      </p:sp>
      <p:sp>
        <p:nvSpPr>
          <p:cNvPr id="29" name="Rectangle 28">
            <a:extLst>
              <a:ext uri="{FF2B5EF4-FFF2-40B4-BE49-F238E27FC236}">
                <a16:creationId xmlns:a16="http://schemas.microsoft.com/office/drawing/2014/main" id="{92B6DE0D-027A-4B9C-A5E8-CF48B80FD10F}"/>
              </a:ext>
            </a:extLst>
          </p:cNvPr>
          <p:cNvSpPr>
            <a:spLocks noGrp="1"/>
          </p:cNvSpPr>
          <p:nvPr/>
        </p:nvSpPr>
        <p:spPr>
          <a:xfrm>
            <a:off x="8248650" y="1666875"/>
            <a:ext cx="3543300" cy="4000500"/>
          </a:xfrm>
          <a:prstGeom prst="rect">
            <a:avLst/>
          </a:prstGeom>
          <a:solidFill>
            <a:srgbClr val="EAF5FB"/>
          </a:solidFill>
          <a:ln w="0">
            <a:solidFill>
              <a:srgbClr val="EAF5FB"/>
            </a:solidFill>
            <a:prstDash val="solid"/>
          </a:ln>
        </p:spPr>
      </p:sp>
      <p:sp>
        <p:nvSpPr>
          <p:cNvPr id="30" name="Rectangle 29">
            <a:extLst>
              <a:ext uri="{FF2B5EF4-FFF2-40B4-BE49-F238E27FC236}">
                <a16:creationId xmlns:a16="http://schemas.microsoft.com/office/drawing/2014/main" id="{B9DA5978-C1CA-4C90-A481-122A07185B3F}"/>
              </a:ext>
            </a:extLst>
          </p:cNvPr>
          <p:cNvSpPr>
            <a:spLocks noGrp="1"/>
          </p:cNvSpPr>
          <p:nvPr/>
        </p:nvSpPr>
        <p:spPr>
          <a:xfrm>
            <a:off x="8572500" y="1924050"/>
            <a:ext cx="2895600" cy="257175"/>
          </a:xfrm>
          <a:prstGeom prst="rect">
            <a:avLst/>
          </a:prstGeom>
        </p:spPr>
        <p:txBody>
          <a:bodyPr wrap="square" lIns="0" tIns="0" rIns="0" bIns="0" anchor="t">
            <a:noAutofit/>
          </a:bodyPr>
          <a:lstStyle/>
          <a:p>
            <a:pPr algn="l">
              <a:buNone/>
              <a:defRPr sz="1200" b="1" i="0">
                <a:solidFill>
                  <a:srgbClr val="19395E"/>
                </a:solidFill>
                <a:latin typeface="Arial"/>
                <a:ea typeface="Arial"/>
                <a:cs typeface="Arial"/>
              </a:defRPr>
            </a:pPr>
            <a:r>
              <a:rPr sz="1200" b="1" i="0">
                <a:solidFill>
                  <a:srgbClr val="19395E"/>
                </a:solidFill>
                <a:latin typeface="Arial"/>
                <a:ea typeface="Arial"/>
                <a:cs typeface="Arial"/>
              </a:rPr>
              <a:t>PUBLICATION LADDER</a:t>
            </a:r>
          </a:p>
        </p:txBody>
      </p:sp>
      <p:sp>
        <p:nvSpPr>
          <p:cNvPr id="31" name="Rectangle 30">
            <a:extLst>
              <a:ext uri="{FF2B5EF4-FFF2-40B4-BE49-F238E27FC236}">
                <a16:creationId xmlns:a16="http://schemas.microsoft.com/office/drawing/2014/main" id="{A6870B73-7F5C-4ECF-AD18-62FA74975E87}"/>
              </a:ext>
            </a:extLst>
          </p:cNvPr>
          <p:cNvSpPr>
            <a:spLocks noGrp="1"/>
          </p:cNvSpPr>
          <p:nvPr/>
        </p:nvSpPr>
        <p:spPr>
          <a:xfrm>
            <a:off x="8572500" y="2390775"/>
            <a:ext cx="714375" cy="323850"/>
          </a:xfrm>
          <a:prstGeom prst="rect">
            <a:avLst/>
          </a:prstGeom>
        </p:spPr>
        <p:txBody>
          <a:bodyPr wrap="square" lIns="0" tIns="0" rIns="0" bIns="0" anchor="t">
            <a:noAutofit/>
          </a:bodyPr>
          <a:lstStyle/>
          <a:p>
            <a:pPr algn="l">
              <a:buNone/>
              <a:defRPr sz="1875" b="1" i="0">
                <a:solidFill>
                  <a:srgbClr val="19733B"/>
                </a:solidFill>
                <a:latin typeface="Arial"/>
                <a:ea typeface="Arial"/>
                <a:cs typeface="Arial"/>
              </a:defRPr>
            </a:pPr>
            <a:r>
              <a:rPr sz="1875" b="1" i="0">
                <a:solidFill>
                  <a:srgbClr val="19733B"/>
                </a:solidFill>
                <a:latin typeface="Arial"/>
                <a:ea typeface="Arial"/>
                <a:cs typeface="Arial"/>
              </a:rPr>
              <a:t>≥85%</a:t>
            </a:r>
          </a:p>
        </p:txBody>
      </p:sp>
      <p:sp>
        <p:nvSpPr>
          <p:cNvPr id="32" name="Rectangle 31">
            <a:extLst>
              <a:ext uri="{FF2B5EF4-FFF2-40B4-BE49-F238E27FC236}">
                <a16:creationId xmlns:a16="http://schemas.microsoft.com/office/drawing/2014/main" id="{043ECD98-DCB9-41E5-A4A1-F217EBDDE105}"/>
              </a:ext>
            </a:extLst>
          </p:cNvPr>
          <p:cNvSpPr>
            <a:spLocks noGrp="1"/>
          </p:cNvSpPr>
          <p:nvPr/>
        </p:nvSpPr>
        <p:spPr>
          <a:xfrm>
            <a:off x="9401175" y="2438400"/>
            <a:ext cx="2019300" cy="247650"/>
          </a:xfrm>
          <a:prstGeom prst="rect">
            <a:avLst/>
          </a:prstGeom>
        </p:spPr>
        <p:txBody>
          <a:bodyPr wrap="square" lIns="0" tIns="0" rIns="0" bIns="0" anchor="t">
            <a:noAutofit/>
          </a:bodyPr>
          <a:lstStyle/>
          <a:p>
            <a:pPr algn="l">
              <a:buNone/>
              <a:defRPr sz="1350" b="1" i="0">
                <a:solidFill>
                  <a:srgbClr val="101214"/>
                </a:solidFill>
                <a:latin typeface="Arial"/>
                <a:ea typeface="Arial"/>
                <a:cs typeface="Arial"/>
              </a:defRPr>
            </a:pPr>
            <a:r>
              <a:rPr sz="1350" b="1" i="0">
                <a:solidFill>
                  <a:srgbClr val="101214"/>
                </a:solidFill>
                <a:latin typeface="Arial"/>
                <a:ea typeface="Arial"/>
                <a:cs typeface="Arial"/>
              </a:rPr>
              <a:t>High confidence + rank</a:t>
            </a:r>
          </a:p>
        </p:txBody>
      </p:sp>
      <p:sp>
        <p:nvSpPr>
          <p:cNvPr id="33" name="Rectangle 32">
            <a:extLst>
              <a:ext uri="{FF2B5EF4-FFF2-40B4-BE49-F238E27FC236}">
                <a16:creationId xmlns:a16="http://schemas.microsoft.com/office/drawing/2014/main" id="{E056C0D0-A58B-406B-9411-AB0D9CC30975}"/>
              </a:ext>
            </a:extLst>
          </p:cNvPr>
          <p:cNvSpPr>
            <a:spLocks noGrp="1"/>
          </p:cNvSpPr>
          <p:nvPr/>
        </p:nvSpPr>
        <p:spPr>
          <a:xfrm>
            <a:off x="8572500" y="2857500"/>
            <a:ext cx="2895600" cy="9525"/>
          </a:xfrm>
          <a:prstGeom prst="rect">
            <a:avLst/>
          </a:prstGeom>
          <a:solidFill>
            <a:srgbClr val="A6C9DC"/>
          </a:solidFill>
          <a:ln w="0">
            <a:solidFill>
              <a:srgbClr val="A6C9DC"/>
            </a:solidFill>
            <a:prstDash val="solid"/>
          </a:ln>
        </p:spPr>
      </p:sp>
      <p:sp>
        <p:nvSpPr>
          <p:cNvPr id="34" name="Rectangle 33">
            <a:extLst>
              <a:ext uri="{FF2B5EF4-FFF2-40B4-BE49-F238E27FC236}">
                <a16:creationId xmlns:a16="http://schemas.microsoft.com/office/drawing/2014/main" id="{DAF0E3C9-AA09-4E99-B30A-EC50E6855420}"/>
              </a:ext>
            </a:extLst>
          </p:cNvPr>
          <p:cNvSpPr>
            <a:spLocks noGrp="1"/>
          </p:cNvSpPr>
          <p:nvPr/>
        </p:nvSpPr>
        <p:spPr>
          <a:xfrm>
            <a:off x="8572500" y="3038475"/>
            <a:ext cx="1000125" cy="323850"/>
          </a:xfrm>
          <a:prstGeom prst="rect">
            <a:avLst/>
          </a:prstGeom>
        </p:spPr>
        <p:txBody>
          <a:bodyPr wrap="square" lIns="0" tIns="0" rIns="0" bIns="0" anchor="t">
            <a:noAutofit/>
          </a:bodyPr>
          <a:lstStyle/>
          <a:p>
            <a:pPr algn="l">
              <a:buNone/>
              <a:defRPr sz="1725" b="1" i="0">
                <a:solidFill>
                  <a:srgbClr val="3D8DFF"/>
                </a:solidFill>
                <a:latin typeface="Arial"/>
                <a:ea typeface="Arial"/>
                <a:cs typeface="Arial"/>
              </a:defRPr>
            </a:pPr>
            <a:r>
              <a:rPr sz="1725" b="1" i="0">
                <a:solidFill>
                  <a:srgbClr val="3D8DFF"/>
                </a:solidFill>
                <a:latin typeface="Arial"/>
                <a:ea typeface="Arial"/>
                <a:cs typeface="Arial"/>
              </a:rPr>
              <a:t>70–84.9%</a:t>
            </a:r>
          </a:p>
        </p:txBody>
      </p:sp>
      <p:sp>
        <p:nvSpPr>
          <p:cNvPr id="35" name="Rectangle 34">
            <a:extLst>
              <a:ext uri="{FF2B5EF4-FFF2-40B4-BE49-F238E27FC236}">
                <a16:creationId xmlns:a16="http://schemas.microsoft.com/office/drawing/2014/main" id="{30A7ABB9-2570-4251-AADF-15D2DF3D7127}"/>
              </a:ext>
            </a:extLst>
          </p:cNvPr>
          <p:cNvSpPr>
            <a:spLocks noGrp="1"/>
          </p:cNvSpPr>
          <p:nvPr/>
        </p:nvSpPr>
        <p:spPr>
          <a:xfrm>
            <a:off x="9696450" y="3086100"/>
            <a:ext cx="1724025" cy="247650"/>
          </a:xfrm>
          <a:prstGeom prst="rect">
            <a:avLst/>
          </a:prstGeom>
        </p:spPr>
        <p:txBody>
          <a:bodyPr wrap="square" lIns="0" tIns="0" rIns="0" bIns="0" anchor="t">
            <a:noAutofit/>
          </a:bodyPr>
          <a:lstStyle/>
          <a:p>
            <a:pPr algn="l">
              <a:buNone/>
              <a:defRPr sz="1275" b="1" i="0">
                <a:solidFill>
                  <a:srgbClr val="101214"/>
                </a:solidFill>
                <a:latin typeface="Arial"/>
                <a:ea typeface="Arial"/>
                <a:cs typeface="Arial"/>
              </a:defRPr>
            </a:pPr>
            <a:r>
              <a:rPr sz="1050" b="1" i="0">
                <a:solidFill>
                  <a:srgbClr val="101214"/>
                </a:solidFill>
                <a:latin typeface="Arial"/>
                <a:ea typeface="Arial"/>
                <a:cs typeface="Arial"/>
              </a:rPr>
              <a:t>Medium confidence + rank</a:t>
            </a:r>
          </a:p>
        </p:txBody>
      </p:sp>
      <p:sp>
        <p:nvSpPr>
          <p:cNvPr id="36" name="Rectangle 35">
            <a:extLst>
              <a:ext uri="{FF2B5EF4-FFF2-40B4-BE49-F238E27FC236}">
                <a16:creationId xmlns:a16="http://schemas.microsoft.com/office/drawing/2014/main" id="{2D17BFB5-9A44-4C4E-8A82-BB5C3C35931E}"/>
              </a:ext>
            </a:extLst>
          </p:cNvPr>
          <p:cNvSpPr>
            <a:spLocks noGrp="1"/>
          </p:cNvSpPr>
          <p:nvPr/>
        </p:nvSpPr>
        <p:spPr>
          <a:xfrm>
            <a:off x="8572500" y="3514725"/>
            <a:ext cx="2895600" cy="9525"/>
          </a:xfrm>
          <a:prstGeom prst="rect">
            <a:avLst/>
          </a:prstGeom>
          <a:solidFill>
            <a:srgbClr val="A6C9DC"/>
          </a:solidFill>
          <a:ln w="0">
            <a:solidFill>
              <a:srgbClr val="A6C9DC"/>
            </a:solidFill>
            <a:prstDash val="solid"/>
          </a:ln>
        </p:spPr>
      </p:sp>
      <p:sp>
        <p:nvSpPr>
          <p:cNvPr id="37" name="Rectangle 36">
            <a:extLst>
              <a:ext uri="{FF2B5EF4-FFF2-40B4-BE49-F238E27FC236}">
                <a16:creationId xmlns:a16="http://schemas.microsoft.com/office/drawing/2014/main" id="{42BA6DA1-2CDF-46C9-878C-C7B7E68CF2EE}"/>
              </a:ext>
            </a:extLst>
          </p:cNvPr>
          <p:cNvSpPr>
            <a:spLocks noGrp="1"/>
          </p:cNvSpPr>
          <p:nvPr/>
        </p:nvSpPr>
        <p:spPr>
          <a:xfrm>
            <a:off x="8572500" y="3695700"/>
            <a:ext cx="1000125" cy="323850"/>
          </a:xfrm>
          <a:prstGeom prst="rect">
            <a:avLst/>
          </a:prstGeom>
        </p:spPr>
        <p:txBody>
          <a:bodyPr wrap="square" lIns="0" tIns="0" rIns="0" bIns="0" anchor="t">
            <a:noAutofit/>
          </a:bodyPr>
          <a:lstStyle/>
          <a:p>
            <a:pPr algn="l">
              <a:buNone/>
              <a:defRPr sz="1725" b="1" i="0">
                <a:solidFill>
                  <a:srgbClr val="F0782A"/>
                </a:solidFill>
                <a:latin typeface="Arial"/>
                <a:ea typeface="Arial"/>
                <a:cs typeface="Arial"/>
              </a:defRPr>
            </a:pPr>
            <a:r>
              <a:rPr sz="1725" b="1" i="0">
                <a:solidFill>
                  <a:srgbClr val="F0782A"/>
                </a:solidFill>
                <a:latin typeface="Arial"/>
                <a:ea typeface="Arial"/>
                <a:cs typeface="Arial"/>
              </a:rPr>
              <a:t>55–69.9%</a:t>
            </a:r>
          </a:p>
        </p:txBody>
      </p:sp>
      <p:sp>
        <p:nvSpPr>
          <p:cNvPr id="38" name="Rectangle 37">
            <a:extLst>
              <a:ext uri="{FF2B5EF4-FFF2-40B4-BE49-F238E27FC236}">
                <a16:creationId xmlns:a16="http://schemas.microsoft.com/office/drawing/2014/main" id="{246BBBBD-FB4E-43A1-8455-F46F4CDD07A8}"/>
              </a:ext>
            </a:extLst>
          </p:cNvPr>
          <p:cNvSpPr>
            <a:spLocks noGrp="1"/>
          </p:cNvSpPr>
          <p:nvPr/>
        </p:nvSpPr>
        <p:spPr>
          <a:xfrm>
            <a:off x="9696450" y="3743325"/>
            <a:ext cx="1724025" cy="247650"/>
          </a:xfrm>
          <a:prstGeom prst="rect">
            <a:avLst/>
          </a:prstGeom>
        </p:spPr>
        <p:txBody>
          <a:bodyPr wrap="square" lIns="0" tIns="0" rIns="0" bIns="0" anchor="t">
            <a:noAutofit/>
          </a:bodyPr>
          <a:lstStyle/>
          <a:p>
            <a:pPr algn="l">
              <a:buNone/>
              <a:defRPr sz="1275" b="1" i="0">
                <a:solidFill>
                  <a:srgbClr val="101214"/>
                </a:solidFill>
                <a:latin typeface="Arial"/>
                <a:ea typeface="Arial"/>
                <a:cs typeface="Arial"/>
              </a:defRPr>
            </a:pPr>
            <a:r>
              <a:rPr sz="1275" b="1" i="0">
                <a:solidFill>
                  <a:srgbClr val="101214"/>
                </a:solidFill>
                <a:latin typeface="Arial"/>
                <a:ea typeface="Arial"/>
                <a:cs typeface="Arial"/>
              </a:rPr>
              <a:t>Provisional score only</a:t>
            </a:r>
          </a:p>
        </p:txBody>
      </p:sp>
      <p:sp>
        <p:nvSpPr>
          <p:cNvPr id="39" name="Rectangle 38">
            <a:extLst>
              <a:ext uri="{FF2B5EF4-FFF2-40B4-BE49-F238E27FC236}">
                <a16:creationId xmlns:a16="http://schemas.microsoft.com/office/drawing/2014/main" id="{15458233-23EE-4378-897C-D17A819F32A2}"/>
              </a:ext>
            </a:extLst>
          </p:cNvPr>
          <p:cNvSpPr>
            <a:spLocks noGrp="1"/>
          </p:cNvSpPr>
          <p:nvPr/>
        </p:nvSpPr>
        <p:spPr>
          <a:xfrm>
            <a:off x="8572500" y="4171950"/>
            <a:ext cx="2895600" cy="9525"/>
          </a:xfrm>
          <a:prstGeom prst="rect">
            <a:avLst/>
          </a:prstGeom>
          <a:solidFill>
            <a:srgbClr val="A6C9DC"/>
          </a:solidFill>
          <a:ln w="0">
            <a:solidFill>
              <a:srgbClr val="A6C9DC"/>
            </a:solidFill>
            <a:prstDash val="solid"/>
          </a:ln>
        </p:spPr>
      </p:sp>
      <p:sp>
        <p:nvSpPr>
          <p:cNvPr id="40" name="Rectangle 39">
            <a:extLst>
              <a:ext uri="{FF2B5EF4-FFF2-40B4-BE49-F238E27FC236}">
                <a16:creationId xmlns:a16="http://schemas.microsoft.com/office/drawing/2014/main" id="{D507756A-F137-41DD-8A61-135C582D37A6}"/>
              </a:ext>
            </a:extLst>
          </p:cNvPr>
          <p:cNvSpPr>
            <a:spLocks noGrp="1"/>
          </p:cNvSpPr>
          <p:nvPr/>
        </p:nvSpPr>
        <p:spPr>
          <a:xfrm>
            <a:off x="8572500" y="4352925"/>
            <a:ext cx="714375" cy="323850"/>
          </a:xfrm>
          <a:prstGeom prst="rect">
            <a:avLst/>
          </a:prstGeom>
        </p:spPr>
        <p:txBody>
          <a:bodyPr wrap="square" lIns="0" tIns="0" rIns="0" bIns="0" anchor="t">
            <a:noAutofit/>
          </a:bodyPr>
          <a:lstStyle/>
          <a:p>
            <a:pPr algn="l">
              <a:buNone/>
              <a:defRPr sz="1875" b="1" i="0">
                <a:solidFill>
                  <a:srgbClr val="8B2C2C"/>
                </a:solidFill>
                <a:latin typeface="Arial"/>
                <a:ea typeface="Arial"/>
                <a:cs typeface="Arial"/>
              </a:defRPr>
            </a:pPr>
            <a:r>
              <a:rPr sz="1875" b="1" i="0">
                <a:solidFill>
                  <a:srgbClr val="8B2C2C"/>
                </a:solidFill>
                <a:latin typeface="Arial"/>
                <a:ea typeface="Arial"/>
                <a:cs typeface="Arial"/>
              </a:rPr>
              <a:t>&lt;55%</a:t>
            </a:r>
          </a:p>
        </p:txBody>
      </p:sp>
      <p:sp>
        <p:nvSpPr>
          <p:cNvPr id="41" name="Rectangle 40">
            <a:extLst>
              <a:ext uri="{FF2B5EF4-FFF2-40B4-BE49-F238E27FC236}">
                <a16:creationId xmlns:a16="http://schemas.microsoft.com/office/drawing/2014/main" id="{E6ED9E69-B14E-4482-B3E8-CD6D8104D462}"/>
              </a:ext>
            </a:extLst>
          </p:cNvPr>
          <p:cNvSpPr>
            <a:spLocks noGrp="1"/>
          </p:cNvSpPr>
          <p:nvPr/>
        </p:nvSpPr>
        <p:spPr>
          <a:xfrm>
            <a:off x="9401175" y="4400550"/>
            <a:ext cx="2019300" cy="247650"/>
          </a:xfrm>
          <a:prstGeom prst="rect">
            <a:avLst/>
          </a:prstGeom>
        </p:spPr>
        <p:txBody>
          <a:bodyPr wrap="square" lIns="0" tIns="0" rIns="0" bIns="0" anchor="t">
            <a:noAutofit/>
          </a:bodyPr>
          <a:lstStyle/>
          <a:p>
            <a:pPr algn="l">
              <a:buNone/>
              <a:defRPr sz="1350" b="1" i="0">
                <a:solidFill>
                  <a:srgbClr val="101214"/>
                </a:solidFill>
                <a:latin typeface="Arial"/>
                <a:ea typeface="Arial"/>
                <a:cs typeface="Arial"/>
              </a:defRPr>
            </a:pPr>
            <a:r>
              <a:rPr sz="1350" b="1" i="0">
                <a:solidFill>
                  <a:srgbClr val="101214"/>
                </a:solidFill>
                <a:latin typeface="Arial"/>
                <a:ea typeface="Arial"/>
                <a:cs typeface="Arial"/>
              </a:rPr>
              <a:t>No public score</a:t>
            </a:r>
          </a:p>
        </p:txBody>
      </p:sp>
      <p:sp>
        <p:nvSpPr>
          <p:cNvPr id="42" name="Rectangle 41">
            <a:extLst>
              <a:ext uri="{FF2B5EF4-FFF2-40B4-BE49-F238E27FC236}">
                <a16:creationId xmlns:a16="http://schemas.microsoft.com/office/drawing/2014/main" id="{CF2EAC8E-7278-47B5-97E2-4CDFB01389B0}"/>
              </a:ext>
            </a:extLst>
          </p:cNvPr>
          <p:cNvSpPr>
            <a:spLocks noGrp="1"/>
          </p:cNvSpPr>
          <p:nvPr/>
        </p:nvSpPr>
        <p:spPr>
          <a:xfrm>
            <a:off x="8572500" y="4924425"/>
            <a:ext cx="2895600" cy="495300"/>
          </a:xfrm>
          <a:prstGeom prst="rect">
            <a:avLst/>
          </a:prstGeom>
          <a:solidFill>
            <a:srgbClr val="19395E"/>
          </a:solidFill>
          <a:ln w="0">
            <a:solidFill>
              <a:srgbClr val="19395E"/>
            </a:solidFill>
            <a:prstDash val="solid"/>
          </a:ln>
        </p:spPr>
      </p:sp>
      <p:sp>
        <p:nvSpPr>
          <p:cNvPr id="43" name="Rectangle 42">
            <a:extLst>
              <a:ext uri="{FF2B5EF4-FFF2-40B4-BE49-F238E27FC236}">
                <a16:creationId xmlns:a16="http://schemas.microsoft.com/office/drawing/2014/main" id="{7D795913-601D-454A-B0B5-03A9BE4D12C7}"/>
              </a:ext>
            </a:extLst>
          </p:cNvPr>
          <p:cNvSpPr>
            <a:spLocks noGrp="1"/>
          </p:cNvSpPr>
          <p:nvPr/>
        </p:nvSpPr>
        <p:spPr>
          <a:xfrm>
            <a:off x="8753475" y="5057775"/>
            <a:ext cx="2533650" cy="247650"/>
          </a:xfrm>
          <a:prstGeom prst="rect">
            <a:avLst/>
          </a:prstGeom>
        </p:spPr>
        <p:txBody>
          <a:bodyPr wrap="square" lIns="0" tIns="0" rIns="0" bIns="0" anchor="t">
            <a:noAutofit/>
          </a:bodyPr>
          <a:lstStyle/>
          <a:p>
            <a:pPr algn="ctr">
              <a:buNone/>
              <a:defRPr sz="1350" b="1" i="0">
                <a:solidFill>
                  <a:srgbClr val="FFFFFF"/>
                </a:solidFill>
                <a:latin typeface="Arial"/>
                <a:ea typeface="Arial"/>
                <a:cs typeface="Arial"/>
              </a:defRPr>
            </a:pPr>
            <a:r>
              <a:rPr sz="1350" b="1" i="0">
                <a:solidFill>
                  <a:srgbClr val="FFFFFF"/>
                </a:solidFill>
                <a:latin typeface="Arial"/>
                <a:ea typeface="Arial"/>
                <a:cs typeface="Arial"/>
              </a:rPr>
              <a:t>Hard gate fails → blocked</a:t>
            </a:r>
          </a:p>
        </p:txBody>
      </p:sp>
      <p:sp>
        <p:nvSpPr>
          <p:cNvPr id="44" name="Rectangle 43">
            <a:extLst>
              <a:ext uri="{FF2B5EF4-FFF2-40B4-BE49-F238E27FC236}">
                <a16:creationId xmlns:a16="http://schemas.microsoft.com/office/drawing/2014/main" id="{A3471AB4-2008-4787-BD3D-6A143E163488}"/>
              </a:ext>
            </a:extLst>
          </p:cNvPr>
          <p:cNvSpPr>
            <a:spLocks noGrp="1"/>
          </p:cNvSpPr>
          <p:nvPr/>
        </p:nvSpPr>
        <p:spPr>
          <a:xfrm>
            <a:off x="390525" y="4695825"/>
            <a:ext cx="7477125" cy="971550"/>
          </a:xfrm>
          <a:prstGeom prst="rect">
            <a:avLst/>
          </a:prstGeom>
          <a:solidFill>
            <a:srgbClr val="F2F2F2"/>
          </a:solidFill>
          <a:ln w="0">
            <a:solidFill>
              <a:srgbClr val="F2F2F2"/>
            </a:solidFill>
            <a:prstDash val="solid"/>
          </a:ln>
        </p:spPr>
      </p:sp>
      <p:sp>
        <p:nvSpPr>
          <p:cNvPr id="45" name="Rectangle 44">
            <a:extLst>
              <a:ext uri="{FF2B5EF4-FFF2-40B4-BE49-F238E27FC236}">
                <a16:creationId xmlns:a16="http://schemas.microsoft.com/office/drawing/2014/main" id="{58907F9A-57FB-4CCD-AE6B-67FAAA8026B8}"/>
              </a:ext>
            </a:extLst>
          </p:cNvPr>
          <p:cNvSpPr>
            <a:spLocks noGrp="1"/>
          </p:cNvSpPr>
          <p:nvPr/>
        </p:nvSpPr>
        <p:spPr>
          <a:xfrm>
            <a:off x="628650" y="4876800"/>
            <a:ext cx="2238375" cy="238125"/>
          </a:xfrm>
          <a:prstGeom prst="rect">
            <a:avLst/>
          </a:prstGeom>
        </p:spPr>
        <p:txBody>
          <a:bodyPr wrap="square" lIns="0" tIns="0" rIns="0" bIns="0" anchor="t">
            <a:noAutofit/>
          </a:bodyPr>
          <a:lstStyle/>
          <a:p>
            <a:pPr algn="l">
              <a:buNone/>
              <a:defRPr sz="1200" b="1" i="0">
                <a:solidFill>
                  <a:srgbClr val="13847D"/>
                </a:solidFill>
                <a:latin typeface="Arial"/>
                <a:ea typeface="Arial"/>
                <a:cs typeface="Arial"/>
              </a:defRPr>
            </a:pPr>
            <a:r>
              <a:rPr sz="1200" b="1" i="0">
                <a:solidFill>
                  <a:srgbClr val="13847D"/>
                </a:solidFill>
                <a:latin typeface="Arial"/>
                <a:ea typeface="Arial"/>
                <a:cs typeface="Arial"/>
              </a:rPr>
              <a:t>Missing-data adjustment</a:t>
            </a:r>
          </a:p>
        </p:txBody>
      </p:sp>
      <p:sp>
        <p:nvSpPr>
          <p:cNvPr id="46" name="Rectangle 45">
            <a:extLst>
              <a:ext uri="{FF2B5EF4-FFF2-40B4-BE49-F238E27FC236}">
                <a16:creationId xmlns:a16="http://schemas.microsoft.com/office/drawing/2014/main" id="{8247923C-A0CB-4EE5-9B49-AFC15AC88B40}"/>
              </a:ext>
            </a:extLst>
          </p:cNvPr>
          <p:cNvSpPr>
            <a:spLocks noGrp="1"/>
          </p:cNvSpPr>
          <p:nvPr/>
        </p:nvSpPr>
        <p:spPr>
          <a:xfrm>
            <a:off x="628650" y="5219700"/>
            <a:ext cx="6953250" cy="295275"/>
          </a:xfrm>
          <a:prstGeom prst="rect">
            <a:avLst/>
          </a:prstGeom>
        </p:spPr>
        <p:txBody>
          <a:bodyPr wrap="square" lIns="0" tIns="0" rIns="0" bIns="0" anchor="t">
            <a:noAutofit/>
          </a:bodyPr>
          <a:lstStyle/>
          <a:p>
            <a:pPr algn="l">
              <a:buNone/>
              <a:defRPr sz="1650" b="1" i="0">
                <a:solidFill>
                  <a:srgbClr val="101214"/>
                </a:solidFill>
                <a:latin typeface="Arial"/>
                <a:ea typeface="Arial"/>
                <a:cs typeface="Arial"/>
              </a:defRPr>
            </a:pPr>
            <a:r>
              <a:rPr sz="1650" b="1" i="0">
                <a:solidFill>
                  <a:srgbClr val="101214"/>
                </a:solidFill>
                <a:latin typeface="Arial"/>
                <a:ea typeface="Arial"/>
                <a:cs typeface="Arial"/>
              </a:rPr>
              <a:t>Final score = coverage × observed score + (1 − coverage) × 50</a:t>
            </a:r>
          </a:p>
        </p:txBody>
      </p:sp>
      <p:sp>
        <p:nvSpPr>
          <p:cNvPr id="47" name="Rectangle 46">
            <a:extLst>
              <a:ext uri="{FF2B5EF4-FFF2-40B4-BE49-F238E27FC236}">
                <a16:creationId xmlns:a16="http://schemas.microsoft.com/office/drawing/2014/main" id="{AB1CF651-A982-4F74-BF76-65B5B4384E1B}"/>
              </a:ext>
            </a:extLst>
          </p:cNvPr>
          <p:cNvSpPr>
            <a:spLocks noGrp="1"/>
          </p:cNvSpPr>
          <p:nvPr/>
        </p:nvSpPr>
        <p:spPr>
          <a:xfrm>
            <a:off x="390525" y="5886450"/>
            <a:ext cx="7477125" cy="257175"/>
          </a:xfrm>
          <a:prstGeom prst="rect">
            <a:avLst/>
          </a:prstGeom>
        </p:spPr>
        <p:txBody>
          <a:bodyPr wrap="square" lIns="0" tIns="0" rIns="0" bIns="0" anchor="t">
            <a:noAutofit/>
          </a:bodyPr>
          <a:lstStyle/>
          <a:p>
            <a:pPr algn="l">
              <a:buNone/>
              <a:defRPr sz="1275" b="0" i="1">
                <a:solidFill>
                  <a:srgbClr val="5F6873"/>
                </a:solidFill>
                <a:latin typeface="Arial"/>
                <a:ea typeface="Arial"/>
                <a:cs typeface="Arial"/>
              </a:defRPr>
            </a:pPr>
            <a:r>
              <a:rPr sz="1275" b="0" i="1">
                <a:solidFill>
                  <a:srgbClr val="5F6873"/>
                </a:solidFill>
                <a:latin typeface="Arial"/>
                <a:ea typeface="Arial"/>
                <a:cs typeface="Arial"/>
              </a:rPr>
              <a:t>Reddit is excluded from the academic score.</a:t>
            </a:r>
          </a:p>
        </p:txBody>
      </p:sp>
    </p:spTree>
    <p:extLst>
      <p:ext uri="{BB962C8B-B14F-4D97-AF65-F5344CB8AC3E}">
        <p14:creationId xmlns:p14="http://schemas.microsoft.com/office/powerpoint/2010/main" val="18066015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section-3">
            <a:extLst>
              <a:ext uri="{FF2B5EF4-FFF2-40B4-BE49-F238E27FC236}">
                <a16:creationId xmlns:a16="http://schemas.microsoft.com/office/drawing/2014/main" id="{3BB1199B-EB9F-4513-ABC3-B41530999337}"/>
              </a:ext>
            </a:extLst>
          </p:cNvPr>
          <p:cNvSpPr>
            <a:spLocks noGrp="1"/>
          </p:cNvSpPr>
          <p:nvPr/>
        </p:nvSpPr>
        <p:spPr>
          <a:xfrm>
            <a:off x="390525" y="295275"/>
            <a:ext cx="3238500" cy="209550"/>
          </a:xfrm>
          <a:prstGeom prst="rect">
            <a:avLst/>
          </a:prstGeom>
        </p:spPr>
        <p:txBody>
          <a:bodyPr wrap="square" lIns="0" tIns="0" rIns="0" bIns="0" anchor="t">
            <a:noAutofit/>
          </a:bodyPr>
          <a:lstStyle/>
          <a:p>
            <a:pPr algn="l">
              <a:buNone/>
              <a:defRPr sz="1050" b="1" i="0">
                <a:solidFill>
                  <a:srgbClr val="13847D"/>
                </a:solidFill>
                <a:latin typeface="Arial"/>
                <a:ea typeface="Arial"/>
                <a:cs typeface="Arial"/>
              </a:defRPr>
            </a:pPr>
            <a:r>
              <a:rPr sz="1050" b="1" i="0">
                <a:solidFill>
                  <a:srgbClr val="13847D"/>
                </a:solidFill>
                <a:latin typeface="Arial"/>
                <a:ea typeface="Arial"/>
                <a:cs typeface="Arial"/>
              </a:rPr>
              <a:t>LIVE DEMO</a:t>
            </a:r>
          </a:p>
        </p:txBody>
      </p:sp>
      <p:sp>
        <p:nvSpPr>
          <p:cNvPr id="2" name="title-3">
            <a:extLst>
              <a:ext uri="{FF2B5EF4-FFF2-40B4-BE49-F238E27FC236}">
                <a16:creationId xmlns:a16="http://schemas.microsoft.com/office/drawing/2014/main" id="{48F4CD0B-CB00-45B8-BAD5-8E06B80FEEF5}"/>
              </a:ext>
            </a:extLst>
          </p:cNvPr>
          <p:cNvSpPr>
            <a:spLocks noGrp="1"/>
          </p:cNvSpPr>
          <p:nvPr/>
        </p:nvSpPr>
        <p:spPr>
          <a:xfrm>
            <a:off x="390525" y="581025"/>
            <a:ext cx="11401425" cy="666750"/>
          </a:xfrm>
          <a:prstGeom prst="rect">
            <a:avLst/>
          </a:prstGeom>
        </p:spPr>
        <p:txBody>
          <a:bodyPr wrap="square" lIns="0" tIns="0" rIns="0" bIns="0" anchor="t">
            <a:noAutofit/>
          </a:bodyPr>
          <a:lstStyle/>
          <a:p>
            <a:pPr algn="l">
              <a:buNone/>
              <a:defRPr sz="3450" b="1" i="0">
                <a:solidFill>
                  <a:srgbClr val="101214"/>
                </a:solidFill>
                <a:latin typeface="Arial"/>
                <a:ea typeface="Arial"/>
                <a:cs typeface="Arial"/>
              </a:defRPr>
            </a:pPr>
            <a:r>
              <a:rPr sz="3300" b="1" i="0">
                <a:solidFill>
                  <a:srgbClr val="101214"/>
                </a:solidFill>
                <a:latin typeface="Arial"/>
                <a:ea typeface="Arial"/>
                <a:cs typeface="Arial"/>
              </a:rPr>
              <a:t>Demo: trace one program from evidence to decision</a:t>
            </a:r>
          </a:p>
        </p:txBody>
      </p:sp>
      <p:sp>
        <p:nvSpPr>
          <p:cNvPr id="3" name="Rectangle 2">
            <a:extLst>
              <a:ext uri="{FF2B5EF4-FFF2-40B4-BE49-F238E27FC236}">
                <a16:creationId xmlns:a16="http://schemas.microsoft.com/office/drawing/2014/main" id="{D271AE03-0309-49D6-9E13-395F82130F8C}"/>
              </a:ext>
            </a:extLst>
          </p:cNvPr>
          <p:cNvSpPr>
            <a:spLocks noGrp="1"/>
          </p:cNvSpPr>
          <p:nvPr/>
        </p:nvSpPr>
        <p:spPr>
          <a:xfrm>
            <a:off x="390525" y="1352550"/>
            <a:ext cx="11401425" cy="9525"/>
          </a:xfrm>
          <a:prstGeom prst="rect">
            <a:avLst/>
          </a:prstGeom>
          <a:solidFill>
            <a:srgbClr val="B8BCC4"/>
          </a:solidFill>
          <a:ln w="0">
            <a:solidFill>
              <a:srgbClr val="B8BCC4"/>
            </a:solidFill>
            <a:prstDash val="solid"/>
          </a:ln>
        </p:spPr>
      </p:sp>
      <p:sp>
        <p:nvSpPr>
          <p:cNvPr id="4" name="source-3">
            <a:extLst>
              <a:ext uri="{FF2B5EF4-FFF2-40B4-BE49-F238E27FC236}">
                <a16:creationId xmlns:a16="http://schemas.microsoft.com/office/drawing/2014/main" id="{C953064C-2B60-4AFE-8485-7EF6AD3F7557}"/>
              </a:ext>
            </a:extLst>
          </p:cNvPr>
          <p:cNvSpPr>
            <a:spLocks noGrp="1"/>
          </p:cNvSpPr>
          <p:nvPr/>
        </p:nvSpPr>
        <p:spPr>
          <a:xfrm>
            <a:off x="390525" y="6372225"/>
            <a:ext cx="10096500" cy="171450"/>
          </a:xfrm>
          <a:prstGeom prst="rect">
            <a:avLst/>
          </a:prstGeom>
        </p:spPr>
        <p:txBody>
          <a:bodyPr wrap="square" lIns="0" tIns="0" rIns="0" bIns="0" anchor="t">
            <a:noAutofit/>
          </a:bodyPr>
          <a:lstStyle/>
          <a:p>
            <a:pPr algn="l">
              <a:buNone/>
              <a:defRPr sz="825" b="0" i="0">
                <a:solidFill>
                  <a:srgbClr val="5F6873"/>
                </a:solidFill>
                <a:latin typeface="Arial"/>
                <a:ea typeface="Arial"/>
                <a:cs typeface="Arial"/>
              </a:defRPr>
            </a:pPr>
            <a:r>
              <a:rPr sz="825" b="0" i="0">
                <a:solidFill>
                  <a:srgbClr val="5F6873"/>
                </a:solidFill>
                <a:latin typeface="Arial"/>
                <a:ea typeface="Arial"/>
                <a:cs typeface="Arial"/>
              </a:rPr>
              <a:t>Source: frontend scoring handoff; program_scores.json</a:t>
            </a:r>
          </a:p>
        </p:txBody>
      </p:sp>
      <p:sp>
        <p:nvSpPr>
          <p:cNvPr id="5" name="page-3">
            <a:extLst>
              <a:ext uri="{FF2B5EF4-FFF2-40B4-BE49-F238E27FC236}">
                <a16:creationId xmlns:a16="http://schemas.microsoft.com/office/drawing/2014/main" id="{A1FCB1CD-9D0E-4695-837F-96B53F0F482E}"/>
              </a:ext>
            </a:extLst>
          </p:cNvPr>
          <p:cNvSpPr>
            <a:spLocks noGrp="1"/>
          </p:cNvSpPr>
          <p:nvPr/>
        </p:nvSpPr>
        <p:spPr>
          <a:xfrm>
            <a:off x="11201400" y="6305550"/>
            <a:ext cx="590550" cy="238125"/>
          </a:xfrm>
          <a:prstGeom prst="rect">
            <a:avLst/>
          </a:prstGeom>
        </p:spPr>
        <p:txBody>
          <a:bodyPr wrap="square" lIns="0" tIns="0" rIns="0" bIns="0" anchor="t">
            <a:noAutofit/>
          </a:bodyPr>
          <a:lstStyle/>
          <a:p>
            <a:pPr algn="r">
              <a:buNone/>
              <a:defRPr sz="975" b="0" i="0">
                <a:solidFill>
                  <a:srgbClr val="5F6873"/>
                </a:solidFill>
                <a:latin typeface="Arial"/>
                <a:ea typeface="Arial"/>
                <a:cs typeface="Arial"/>
              </a:defRPr>
            </a:pPr>
            <a:r>
              <a:rPr sz="975" b="0" i="0">
                <a:solidFill>
                  <a:srgbClr val="5F6873"/>
                </a:solidFill>
                <a:latin typeface="Arial"/>
                <a:ea typeface="Arial"/>
                <a:cs typeface="Arial"/>
              </a:rPr>
              <a:t>11</a:t>
            </a:r>
          </a:p>
        </p:txBody>
      </p:sp>
      <p:sp>
        <p:nvSpPr>
          <p:cNvPr id="6" name="Rectangle 5">
            <a:extLst>
              <a:ext uri="{FF2B5EF4-FFF2-40B4-BE49-F238E27FC236}">
                <a16:creationId xmlns:a16="http://schemas.microsoft.com/office/drawing/2014/main" id="{6C889B79-DBE0-4D0F-A931-2ACCD478A3C2}"/>
              </a:ext>
            </a:extLst>
          </p:cNvPr>
          <p:cNvSpPr>
            <a:spLocks noGrp="1"/>
          </p:cNvSpPr>
          <p:nvPr/>
        </p:nvSpPr>
        <p:spPr>
          <a:xfrm>
            <a:off x="390525" y="1895475"/>
            <a:ext cx="3429000" cy="342900"/>
          </a:xfrm>
          <a:prstGeom prst="rect">
            <a:avLst/>
          </a:prstGeom>
        </p:spPr>
        <p:txBody>
          <a:bodyPr wrap="square" lIns="0" tIns="0" rIns="0" bIns="0" anchor="t">
            <a:noAutofit/>
          </a:bodyPr>
          <a:lstStyle/>
          <a:p>
            <a:pPr algn="l">
              <a:buNone/>
              <a:defRPr sz="2100" b="1" i="0">
                <a:solidFill>
                  <a:srgbClr val="19395E"/>
                </a:solidFill>
                <a:latin typeface="Arial"/>
                <a:ea typeface="Arial"/>
                <a:cs typeface="Arial"/>
              </a:defRPr>
            </a:pPr>
            <a:r>
              <a:rPr sz="2100" b="1" i="0">
                <a:solidFill>
                  <a:srgbClr val="19395E"/>
                </a:solidFill>
                <a:latin typeface="Arial"/>
                <a:ea typeface="Arial"/>
                <a:cs typeface="Arial"/>
              </a:rPr>
              <a:t>1 · SELECT</a:t>
            </a:r>
          </a:p>
        </p:txBody>
      </p:sp>
      <p:sp>
        <p:nvSpPr>
          <p:cNvPr id="7" name="Rectangle 6">
            <a:extLst>
              <a:ext uri="{FF2B5EF4-FFF2-40B4-BE49-F238E27FC236}">
                <a16:creationId xmlns:a16="http://schemas.microsoft.com/office/drawing/2014/main" id="{F5E99BD0-A872-45AF-92E0-824A34620E1C}"/>
              </a:ext>
            </a:extLst>
          </p:cNvPr>
          <p:cNvSpPr>
            <a:spLocks noGrp="1"/>
          </p:cNvSpPr>
          <p:nvPr/>
        </p:nvSpPr>
        <p:spPr>
          <a:xfrm>
            <a:off x="390525" y="2419350"/>
            <a:ext cx="3429000" cy="1428750"/>
          </a:xfrm>
          <a:prstGeom prst="rect">
            <a:avLst/>
          </a:prstGeom>
        </p:spPr>
        <p:txBody>
          <a:bodyPr wrap="square" lIns="0" tIns="0" rIns="0" bIns="0" anchor="t">
            <a:noAutofit/>
          </a:bodyPr>
          <a:lstStyle/>
          <a:p>
            <a:pPr algn="l">
              <a:buNone/>
              <a:defRPr sz="1650" b="0" i="0">
                <a:solidFill>
                  <a:srgbClr val="101214"/>
                </a:solidFill>
                <a:latin typeface="Arial"/>
                <a:ea typeface="Arial"/>
                <a:cs typeface="Arial"/>
              </a:defRPr>
            </a:pPr>
            <a:r>
              <a:rPr sz="1650" b="0" i="0" dirty="0">
                <a:solidFill>
                  <a:srgbClr val="101214"/>
                </a:solidFill>
                <a:latin typeface="Arial"/>
                <a:ea typeface="Arial"/>
                <a:cs typeface="Arial"/>
              </a:rPr>
              <a:t>Search a program</a:t>
            </a:r>
          </a:p>
          <a:p>
            <a:pPr algn="l">
              <a:buNone/>
              <a:defRPr sz="1650" b="0" i="0">
                <a:solidFill>
                  <a:srgbClr val="101214"/>
                </a:solidFill>
                <a:latin typeface="Arial"/>
                <a:ea typeface="Arial"/>
                <a:cs typeface="Arial"/>
              </a:defRPr>
            </a:pPr>
            <a:r>
              <a:rPr sz="1650" b="0" i="0" dirty="0">
                <a:solidFill>
                  <a:srgbClr val="101214"/>
                </a:solidFill>
                <a:latin typeface="Arial"/>
                <a:ea typeface="Arial"/>
                <a:cs typeface="Arial"/>
              </a:rPr>
              <a:t>Open its profile</a:t>
            </a:r>
          </a:p>
        </p:txBody>
      </p:sp>
      <p:sp>
        <p:nvSpPr>
          <p:cNvPr id="8" name="Rectangle 7">
            <a:extLst>
              <a:ext uri="{FF2B5EF4-FFF2-40B4-BE49-F238E27FC236}">
                <a16:creationId xmlns:a16="http://schemas.microsoft.com/office/drawing/2014/main" id="{CE5D4613-E544-4CD8-9814-3AF6EE9F24E7}"/>
              </a:ext>
            </a:extLst>
          </p:cNvPr>
          <p:cNvSpPr>
            <a:spLocks noGrp="1"/>
          </p:cNvSpPr>
          <p:nvPr/>
        </p:nvSpPr>
        <p:spPr>
          <a:xfrm>
            <a:off x="4048125" y="1857375"/>
            <a:ext cx="9525" cy="2590800"/>
          </a:xfrm>
          <a:prstGeom prst="rect">
            <a:avLst/>
          </a:prstGeom>
          <a:solidFill>
            <a:srgbClr val="B8BCC4"/>
          </a:solidFill>
          <a:ln w="0">
            <a:solidFill>
              <a:srgbClr val="B8BCC4"/>
            </a:solidFill>
            <a:prstDash val="solid"/>
          </a:ln>
        </p:spPr>
      </p:sp>
      <p:sp>
        <p:nvSpPr>
          <p:cNvPr id="9" name="Rectangle 8">
            <a:extLst>
              <a:ext uri="{FF2B5EF4-FFF2-40B4-BE49-F238E27FC236}">
                <a16:creationId xmlns:a16="http://schemas.microsoft.com/office/drawing/2014/main" id="{DAE5ED4C-167F-41A4-80B1-B73E124C939A}"/>
              </a:ext>
            </a:extLst>
          </p:cNvPr>
          <p:cNvSpPr>
            <a:spLocks noGrp="1"/>
          </p:cNvSpPr>
          <p:nvPr/>
        </p:nvSpPr>
        <p:spPr>
          <a:xfrm>
            <a:off x="4305300" y="1895475"/>
            <a:ext cx="3429000" cy="342900"/>
          </a:xfrm>
          <a:prstGeom prst="rect">
            <a:avLst/>
          </a:prstGeom>
        </p:spPr>
        <p:txBody>
          <a:bodyPr wrap="square" lIns="0" tIns="0" rIns="0" bIns="0" anchor="t">
            <a:noAutofit/>
          </a:bodyPr>
          <a:lstStyle/>
          <a:p>
            <a:pPr algn="l">
              <a:buNone/>
              <a:defRPr sz="2100" b="1" i="0">
                <a:solidFill>
                  <a:srgbClr val="13847D"/>
                </a:solidFill>
                <a:latin typeface="Arial"/>
                <a:ea typeface="Arial"/>
                <a:cs typeface="Arial"/>
              </a:defRPr>
            </a:pPr>
            <a:r>
              <a:rPr sz="2100" b="1" i="0">
                <a:solidFill>
                  <a:srgbClr val="13847D"/>
                </a:solidFill>
                <a:latin typeface="Arial"/>
                <a:ea typeface="Arial"/>
                <a:cs typeface="Arial"/>
              </a:rPr>
              <a:t>2 · INSPECT</a:t>
            </a:r>
          </a:p>
        </p:txBody>
      </p:sp>
      <p:sp>
        <p:nvSpPr>
          <p:cNvPr id="10" name="Rectangle 9">
            <a:extLst>
              <a:ext uri="{FF2B5EF4-FFF2-40B4-BE49-F238E27FC236}">
                <a16:creationId xmlns:a16="http://schemas.microsoft.com/office/drawing/2014/main" id="{F2C452CE-BC92-433E-8CBA-295E8829512E}"/>
              </a:ext>
            </a:extLst>
          </p:cNvPr>
          <p:cNvSpPr>
            <a:spLocks noGrp="1"/>
          </p:cNvSpPr>
          <p:nvPr/>
        </p:nvSpPr>
        <p:spPr>
          <a:xfrm>
            <a:off x="4305300" y="2419350"/>
            <a:ext cx="3429000" cy="1428750"/>
          </a:xfrm>
          <a:prstGeom prst="rect">
            <a:avLst/>
          </a:prstGeom>
        </p:spPr>
        <p:txBody>
          <a:bodyPr wrap="square" lIns="0" tIns="0" rIns="0" bIns="0" anchor="t">
            <a:noAutofit/>
          </a:bodyPr>
          <a:lstStyle/>
          <a:p>
            <a:pPr algn="l">
              <a:buNone/>
              <a:defRPr sz="1650" b="0" i="0">
                <a:solidFill>
                  <a:srgbClr val="101214"/>
                </a:solidFill>
                <a:latin typeface="Arial"/>
                <a:ea typeface="Arial"/>
                <a:cs typeface="Arial"/>
              </a:defRPr>
            </a:pPr>
            <a:r>
              <a:rPr sz="1650" b="0" i="0" dirty="0">
                <a:solidFill>
                  <a:srgbClr val="101214"/>
                </a:solidFill>
                <a:latin typeface="Arial"/>
                <a:ea typeface="Arial"/>
                <a:cs typeface="Arial"/>
              </a:rPr>
              <a:t>Review source links</a:t>
            </a:r>
          </a:p>
          <a:p>
            <a:pPr algn="l">
              <a:buNone/>
              <a:defRPr sz="1650" b="0" i="0">
                <a:solidFill>
                  <a:srgbClr val="101214"/>
                </a:solidFill>
                <a:latin typeface="Arial"/>
                <a:ea typeface="Arial"/>
                <a:cs typeface="Arial"/>
              </a:defRPr>
            </a:pPr>
            <a:r>
              <a:rPr sz="1650" b="0" i="0" dirty="0">
                <a:solidFill>
                  <a:srgbClr val="101214"/>
                </a:solidFill>
                <a:latin typeface="Arial"/>
                <a:ea typeface="Arial"/>
                <a:cs typeface="Arial"/>
              </a:rPr>
              <a:t>Check coverage and components</a:t>
            </a:r>
          </a:p>
        </p:txBody>
      </p:sp>
      <p:sp>
        <p:nvSpPr>
          <p:cNvPr id="11" name="Rectangle 10">
            <a:extLst>
              <a:ext uri="{FF2B5EF4-FFF2-40B4-BE49-F238E27FC236}">
                <a16:creationId xmlns:a16="http://schemas.microsoft.com/office/drawing/2014/main" id="{39011A73-A3B8-4AB7-8F43-62AF153248DE}"/>
              </a:ext>
            </a:extLst>
          </p:cNvPr>
          <p:cNvSpPr>
            <a:spLocks noGrp="1"/>
          </p:cNvSpPr>
          <p:nvPr/>
        </p:nvSpPr>
        <p:spPr>
          <a:xfrm>
            <a:off x="7962900" y="1857375"/>
            <a:ext cx="9525" cy="2590800"/>
          </a:xfrm>
          <a:prstGeom prst="rect">
            <a:avLst/>
          </a:prstGeom>
          <a:solidFill>
            <a:srgbClr val="B8BCC4"/>
          </a:solidFill>
          <a:ln w="0">
            <a:solidFill>
              <a:srgbClr val="B8BCC4"/>
            </a:solidFill>
            <a:prstDash val="solid"/>
          </a:ln>
        </p:spPr>
      </p:sp>
      <p:sp>
        <p:nvSpPr>
          <p:cNvPr id="12" name="Rectangle 11">
            <a:extLst>
              <a:ext uri="{FF2B5EF4-FFF2-40B4-BE49-F238E27FC236}">
                <a16:creationId xmlns:a16="http://schemas.microsoft.com/office/drawing/2014/main" id="{28F5CF93-A62A-40FC-B43F-1E5963D089CE}"/>
              </a:ext>
            </a:extLst>
          </p:cNvPr>
          <p:cNvSpPr>
            <a:spLocks noGrp="1"/>
          </p:cNvSpPr>
          <p:nvPr/>
        </p:nvSpPr>
        <p:spPr>
          <a:xfrm>
            <a:off x="8229600" y="1895475"/>
            <a:ext cx="3429000" cy="342900"/>
          </a:xfrm>
          <a:prstGeom prst="rect">
            <a:avLst/>
          </a:prstGeom>
        </p:spPr>
        <p:txBody>
          <a:bodyPr wrap="square" lIns="0" tIns="0" rIns="0" bIns="0" anchor="t">
            <a:noAutofit/>
          </a:bodyPr>
          <a:lstStyle/>
          <a:p>
            <a:pPr algn="l">
              <a:buNone/>
              <a:defRPr sz="2100" b="1" i="0">
                <a:solidFill>
                  <a:srgbClr val="3D8DFF"/>
                </a:solidFill>
                <a:latin typeface="Arial"/>
                <a:ea typeface="Arial"/>
                <a:cs typeface="Arial"/>
              </a:defRPr>
            </a:pPr>
            <a:r>
              <a:rPr sz="2100" b="1" i="0">
                <a:solidFill>
                  <a:srgbClr val="3D8DFF"/>
                </a:solidFill>
                <a:latin typeface="Arial"/>
                <a:ea typeface="Arial"/>
                <a:cs typeface="Arial"/>
              </a:rPr>
              <a:t>3 · COMPARE</a:t>
            </a:r>
          </a:p>
        </p:txBody>
      </p:sp>
      <p:sp>
        <p:nvSpPr>
          <p:cNvPr id="13" name="Rectangle 12">
            <a:extLst>
              <a:ext uri="{FF2B5EF4-FFF2-40B4-BE49-F238E27FC236}">
                <a16:creationId xmlns:a16="http://schemas.microsoft.com/office/drawing/2014/main" id="{722F98E9-A21F-43C5-9E5B-A84DA445F025}"/>
              </a:ext>
            </a:extLst>
          </p:cNvPr>
          <p:cNvSpPr>
            <a:spLocks noGrp="1"/>
          </p:cNvSpPr>
          <p:nvPr/>
        </p:nvSpPr>
        <p:spPr>
          <a:xfrm>
            <a:off x="8229600" y="2419350"/>
            <a:ext cx="3429000" cy="1428750"/>
          </a:xfrm>
          <a:prstGeom prst="rect">
            <a:avLst/>
          </a:prstGeom>
        </p:spPr>
        <p:txBody>
          <a:bodyPr wrap="square" lIns="0" tIns="0" rIns="0" bIns="0" anchor="t">
            <a:noAutofit/>
          </a:bodyPr>
          <a:lstStyle/>
          <a:p>
            <a:pPr algn="l">
              <a:buNone/>
              <a:defRPr sz="1650" b="0" i="0">
                <a:solidFill>
                  <a:srgbClr val="101214"/>
                </a:solidFill>
                <a:latin typeface="Arial"/>
                <a:ea typeface="Arial"/>
                <a:cs typeface="Arial"/>
              </a:defRPr>
            </a:pPr>
            <a:r>
              <a:rPr sz="1650" b="0" i="0" dirty="0">
                <a:solidFill>
                  <a:srgbClr val="101214"/>
                </a:solidFill>
                <a:latin typeface="Arial"/>
                <a:ea typeface="Arial"/>
                <a:cs typeface="Arial"/>
              </a:rPr>
              <a:t>Follow </a:t>
            </a:r>
            <a:r>
              <a:rPr sz="1650" b="0" i="0">
                <a:solidFill>
                  <a:srgbClr val="101214"/>
                </a:solidFill>
                <a:latin typeface="Arial"/>
                <a:ea typeface="Arial"/>
                <a:cs typeface="Arial"/>
              </a:rPr>
              <a:t>track-specific logic</a:t>
            </a:r>
            <a:endParaRPr sz="1650" b="0" i="0" dirty="0">
              <a:solidFill>
                <a:srgbClr val="101214"/>
              </a:solidFill>
              <a:latin typeface="Arial"/>
              <a:ea typeface="Arial"/>
              <a:cs typeface="Arial"/>
            </a:endParaRPr>
          </a:p>
        </p:txBody>
      </p:sp>
      <p:sp>
        <p:nvSpPr>
          <p:cNvPr id="14" name="Rectangle 13">
            <a:extLst>
              <a:ext uri="{FF2B5EF4-FFF2-40B4-BE49-F238E27FC236}">
                <a16:creationId xmlns:a16="http://schemas.microsoft.com/office/drawing/2014/main" id="{7C5136FD-E8A9-495E-90E4-6EAA11E3C37B}"/>
              </a:ext>
            </a:extLst>
          </p:cNvPr>
          <p:cNvSpPr>
            <a:spLocks noGrp="1"/>
          </p:cNvSpPr>
          <p:nvPr/>
        </p:nvSpPr>
        <p:spPr>
          <a:xfrm>
            <a:off x="390525" y="4810125"/>
            <a:ext cx="11401425" cy="1057275"/>
          </a:xfrm>
          <a:prstGeom prst="rect">
            <a:avLst/>
          </a:prstGeom>
          <a:solidFill>
            <a:srgbClr val="19395E"/>
          </a:solidFill>
          <a:ln w="0">
            <a:solidFill>
              <a:srgbClr val="19395E"/>
            </a:solidFill>
            <a:prstDash val="solid"/>
          </a:ln>
        </p:spPr>
      </p:sp>
      <p:sp>
        <p:nvSpPr>
          <p:cNvPr id="15" name="Rectangle 14">
            <a:extLst>
              <a:ext uri="{FF2B5EF4-FFF2-40B4-BE49-F238E27FC236}">
                <a16:creationId xmlns:a16="http://schemas.microsoft.com/office/drawing/2014/main" id="{60F07071-C01E-4FEF-9882-B146505FA25E}"/>
              </a:ext>
            </a:extLst>
          </p:cNvPr>
          <p:cNvSpPr>
            <a:spLocks noGrp="1"/>
          </p:cNvSpPr>
          <p:nvPr/>
        </p:nvSpPr>
        <p:spPr>
          <a:xfrm>
            <a:off x="685800" y="5086350"/>
            <a:ext cx="10810875" cy="552450"/>
          </a:xfrm>
          <a:prstGeom prst="rect">
            <a:avLst/>
          </a:prstGeom>
        </p:spPr>
        <p:txBody>
          <a:bodyPr wrap="square" lIns="0" tIns="0" rIns="0" bIns="0" anchor="t">
            <a:noAutofit/>
          </a:bodyPr>
          <a:lstStyle/>
          <a:p>
            <a:pPr algn="l">
              <a:buNone/>
              <a:defRPr sz="2025" b="1" i="0">
                <a:solidFill>
                  <a:srgbClr val="FFFFFF"/>
                </a:solidFill>
                <a:latin typeface="Arial"/>
                <a:ea typeface="Arial"/>
                <a:cs typeface="Arial"/>
              </a:defRPr>
            </a:pPr>
            <a:r>
              <a:rPr sz="2025" b="1" i="0">
                <a:solidFill>
                  <a:srgbClr val="FFFFFF"/>
                </a:solidFill>
                <a:latin typeface="Arial"/>
                <a:ea typeface="Arial"/>
                <a:cs typeface="Arial"/>
              </a:rPr>
              <a:t>ALAN YANG · LIVE DEMO</a:t>
            </a:r>
          </a:p>
        </p:txBody>
      </p:sp>
    </p:spTree>
    <p:extLst>
      <p:ext uri="{BB962C8B-B14F-4D97-AF65-F5344CB8AC3E}">
        <p14:creationId xmlns:p14="http://schemas.microsoft.com/office/powerpoint/2010/main" val="107876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section-11">
            <a:extLst>
              <a:ext uri="{FF2B5EF4-FFF2-40B4-BE49-F238E27FC236}">
                <a16:creationId xmlns:a16="http://schemas.microsoft.com/office/drawing/2014/main" id="{FBA598C7-141E-4AD0-879B-CE59D0CA71AB}"/>
              </a:ext>
            </a:extLst>
          </p:cNvPr>
          <p:cNvSpPr>
            <a:spLocks noGrp="1"/>
          </p:cNvSpPr>
          <p:nvPr/>
        </p:nvSpPr>
        <p:spPr>
          <a:xfrm>
            <a:off x="390525" y="295275"/>
            <a:ext cx="3238500" cy="209550"/>
          </a:xfrm>
          <a:prstGeom prst="rect">
            <a:avLst/>
          </a:prstGeom>
        </p:spPr>
        <p:txBody>
          <a:bodyPr wrap="square" lIns="0" tIns="0" rIns="0" bIns="0" anchor="t">
            <a:noAutofit/>
          </a:bodyPr>
          <a:lstStyle/>
          <a:p>
            <a:pPr algn="l">
              <a:buNone/>
              <a:defRPr sz="1050" b="1" i="0">
                <a:solidFill>
                  <a:srgbClr val="13847D"/>
                </a:solidFill>
                <a:latin typeface="Arial"/>
                <a:ea typeface="Arial"/>
                <a:cs typeface="Arial"/>
              </a:defRPr>
            </a:pPr>
            <a:r>
              <a:rPr sz="1050" b="1" i="0">
                <a:solidFill>
                  <a:srgbClr val="13847D"/>
                </a:solidFill>
                <a:latin typeface="Arial"/>
                <a:ea typeface="Arial"/>
                <a:cs typeface="Arial"/>
              </a:rPr>
              <a:t>BENEFITS AND IMPACT</a:t>
            </a:r>
          </a:p>
        </p:txBody>
      </p:sp>
      <p:sp>
        <p:nvSpPr>
          <p:cNvPr id="2" name="title-11">
            <a:extLst>
              <a:ext uri="{FF2B5EF4-FFF2-40B4-BE49-F238E27FC236}">
                <a16:creationId xmlns:a16="http://schemas.microsoft.com/office/drawing/2014/main" id="{D0D4EF49-E7E5-408C-BF17-1379F41E7759}"/>
              </a:ext>
            </a:extLst>
          </p:cNvPr>
          <p:cNvSpPr>
            <a:spLocks noGrp="1"/>
          </p:cNvSpPr>
          <p:nvPr/>
        </p:nvSpPr>
        <p:spPr>
          <a:xfrm>
            <a:off x="390525" y="581025"/>
            <a:ext cx="11401425" cy="666750"/>
          </a:xfrm>
          <a:prstGeom prst="rect">
            <a:avLst/>
          </a:prstGeom>
        </p:spPr>
        <p:txBody>
          <a:bodyPr wrap="square" lIns="0" tIns="0" rIns="0" bIns="0" anchor="t">
            <a:noAutofit/>
          </a:bodyPr>
          <a:lstStyle/>
          <a:p>
            <a:pPr algn="l">
              <a:buNone/>
              <a:defRPr sz="3450" b="1" i="0">
                <a:solidFill>
                  <a:srgbClr val="101214"/>
                </a:solidFill>
                <a:latin typeface="Arial"/>
                <a:ea typeface="Arial"/>
                <a:cs typeface="Arial"/>
              </a:defRPr>
            </a:pPr>
            <a:r>
              <a:rPr sz="3300" b="1" i="0">
                <a:solidFill>
                  <a:srgbClr val="101214"/>
                </a:solidFill>
                <a:latin typeface="Arial"/>
                <a:ea typeface="Arial"/>
                <a:cs typeface="Arial"/>
              </a:rPr>
              <a:t>Value arrives before rankings are published</a:t>
            </a:r>
          </a:p>
        </p:txBody>
      </p:sp>
      <p:sp>
        <p:nvSpPr>
          <p:cNvPr id="3" name="Rectangle 2">
            <a:extLst>
              <a:ext uri="{FF2B5EF4-FFF2-40B4-BE49-F238E27FC236}">
                <a16:creationId xmlns:a16="http://schemas.microsoft.com/office/drawing/2014/main" id="{3E0CB417-F373-450C-A4DF-B1A5832FA7A5}"/>
              </a:ext>
            </a:extLst>
          </p:cNvPr>
          <p:cNvSpPr>
            <a:spLocks noGrp="1"/>
          </p:cNvSpPr>
          <p:nvPr/>
        </p:nvSpPr>
        <p:spPr>
          <a:xfrm>
            <a:off x="390525" y="1352550"/>
            <a:ext cx="11401425" cy="9525"/>
          </a:xfrm>
          <a:prstGeom prst="rect">
            <a:avLst/>
          </a:prstGeom>
          <a:solidFill>
            <a:srgbClr val="B8BCC4"/>
          </a:solidFill>
          <a:ln w="0">
            <a:solidFill>
              <a:srgbClr val="B8BCC4"/>
            </a:solidFill>
            <a:prstDash val="solid"/>
          </a:ln>
        </p:spPr>
      </p:sp>
      <p:sp>
        <p:nvSpPr>
          <p:cNvPr id="5" name="page-11">
            <a:extLst>
              <a:ext uri="{FF2B5EF4-FFF2-40B4-BE49-F238E27FC236}">
                <a16:creationId xmlns:a16="http://schemas.microsoft.com/office/drawing/2014/main" id="{1C870150-DA26-4CF3-AA24-A4C45975BA76}"/>
              </a:ext>
            </a:extLst>
          </p:cNvPr>
          <p:cNvSpPr>
            <a:spLocks noGrp="1"/>
          </p:cNvSpPr>
          <p:nvPr/>
        </p:nvSpPr>
        <p:spPr>
          <a:xfrm>
            <a:off x="11201400" y="6305550"/>
            <a:ext cx="590550" cy="238125"/>
          </a:xfrm>
          <a:prstGeom prst="rect">
            <a:avLst/>
          </a:prstGeom>
        </p:spPr>
        <p:txBody>
          <a:bodyPr wrap="square" lIns="0" tIns="0" rIns="0" bIns="0" anchor="t">
            <a:noAutofit/>
          </a:bodyPr>
          <a:lstStyle/>
          <a:p>
            <a:pPr algn="r">
              <a:buNone/>
              <a:defRPr sz="975" b="0" i="0">
                <a:solidFill>
                  <a:srgbClr val="5F6873"/>
                </a:solidFill>
                <a:latin typeface="Arial"/>
                <a:ea typeface="Arial"/>
                <a:cs typeface="Arial"/>
              </a:defRPr>
            </a:pPr>
            <a:r>
              <a:rPr sz="975" b="0" i="0">
                <a:solidFill>
                  <a:srgbClr val="5F6873"/>
                </a:solidFill>
                <a:latin typeface="Arial"/>
                <a:ea typeface="Arial"/>
                <a:cs typeface="Arial"/>
              </a:rPr>
              <a:t>12</a:t>
            </a:r>
          </a:p>
        </p:txBody>
      </p:sp>
      <p:sp>
        <p:nvSpPr>
          <p:cNvPr id="6" name="Rectangle 5">
            <a:extLst>
              <a:ext uri="{FF2B5EF4-FFF2-40B4-BE49-F238E27FC236}">
                <a16:creationId xmlns:a16="http://schemas.microsoft.com/office/drawing/2014/main" id="{FFF1D9FE-C012-469E-88DC-6074D6179BAF}"/>
              </a:ext>
            </a:extLst>
          </p:cNvPr>
          <p:cNvSpPr>
            <a:spLocks noGrp="1"/>
          </p:cNvSpPr>
          <p:nvPr/>
        </p:nvSpPr>
        <p:spPr>
          <a:xfrm>
            <a:off x="390525" y="1762125"/>
            <a:ext cx="3238500" cy="295275"/>
          </a:xfrm>
          <a:prstGeom prst="rect">
            <a:avLst/>
          </a:prstGeom>
        </p:spPr>
        <p:txBody>
          <a:bodyPr wrap="square" lIns="0" tIns="0" rIns="0" bIns="0" anchor="t">
            <a:noAutofit/>
          </a:bodyPr>
          <a:lstStyle/>
          <a:p>
            <a:pPr algn="l">
              <a:buNone/>
              <a:defRPr sz="1275" b="1" i="0">
                <a:solidFill>
                  <a:srgbClr val="13847D"/>
                </a:solidFill>
                <a:latin typeface="Arial"/>
                <a:ea typeface="Arial"/>
                <a:cs typeface="Arial"/>
              </a:defRPr>
            </a:pPr>
            <a:r>
              <a:rPr sz="1275" b="1" i="0">
                <a:solidFill>
                  <a:srgbClr val="13847D"/>
                </a:solidFill>
                <a:latin typeface="Arial"/>
                <a:ea typeface="Arial"/>
                <a:cs typeface="Arial"/>
              </a:rPr>
              <a:t>FOR STUDENTS</a:t>
            </a:r>
          </a:p>
        </p:txBody>
      </p:sp>
      <p:sp>
        <p:nvSpPr>
          <p:cNvPr id="7" name="Rectangle 6">
            <a:extLst>
              <a:ext uri="{FF2B5EF4-FFF2-40B4-BE49-F238E27FC236}">
                <a16:creationId xmlns:a16="http://schemas.microsoft.com/office/drawing/2014/main" id="{6555FDE9-F07A-45C0-B8B3-8021CCE97D79}"/>
              </a:ext>
            </a:extLst>
          </p:cNvPr>
          <p:cNvSpPr>
            <a:spLocks noGrp="1"/>
          </p:cNvSpPr>
          <p:nvPr/>
        </p:nvSpPr>
        <p:spPr>
          <a:xfrm>
            <a:off x="390525" y="2209800"/>
            <a:ext cx="3238500" cy="819150"/>
          </a:xfrm>
          <a:prstGeom prst="rect">
            <a:avLst/>
          </a:prstGeom>
        </p:spPr>
        <p:txBody>
          <a:bodyPr wrap="square" lIns="0" tIns="0" rIns="0" bIns="0" anchor="t">
            <a:noAutofit/>
          </a:bodyPr>
          <a:lstStyle/>
          <a:p>
            <a:pPr algn="l">
              <a:buNone/>
              <a:defRPr sz="2325" b="1" i="0">
                <a:solidFill>
                  <a:srgbClr val="101214"/>
                </a:solidFill>
                <a:latin typeface="Arial"/>
                <a:ea typeface="Arial"/>
                <a:cs typeface="Arial"/>
              </a:defRPr>
            </a:pPr>
            <a:r>
              <a:rPr sz="2325" b="1" i="0">
                <a:solidFill>
                  <a:srgbClr val="101214"/>
                </a:solidFill>
                <a:latin typeface="Arial"/>
                <a:ea typeface="Arial"/>
                <a:cs typeface="Arial"/>
              </a:rPr>
              <a:t>Choose by fit,
not prestige alone</a:t>
            </a:r>
          </a:p>
        </p:txBody>
      </p:sp>
      <p:sp>
        <p:nvSpPr>
          <p:cNvPr id="8" name="Rectangle 7">
            <a:extLst>
              <a:ext uri="{FF2B5EF4-FFF2-40B4-BE49-F238E27FC236}">
                <a16:creationId xmlns:a16="http://schemas.microsoft.com/office/drawing/2014/main" id="{E2BFCBB2-FCF0-41F4-83AF-548FDB462A8B}"/>
              </a:ext>
            </a:extLst>
          </p:cNvPr>
          <p:cNvSpPr>
            <a:spLocks noGrp="1"/>
          </p:cNvSpPr>
          <p:nvPr/>
        </p:nvSpPr>
        <p:spPr>
          <a:xfrm>
            <a:off x="390525" y="3286125"/>
            <a:ext cx="3238500" cy="1200150"/>
          </a:xfrm>
          <a:prstGeom prst="rect">
            <a:avLst/>
          </a:prstGeom>
        </p:spPr>
        <p:txBody>
          <a:bodyPr wrap="square" lIns="0" tIns="0" rIns="0" bIns="0" anchor="t">
            <a:noAutofit/>
          </a:bodyPr>
          <a:lstStyle/>
          <a:p>
            <a:pPr algn="l">
              <a:buNone/>
              <a:defRPr sz="1500" b="0" i="0">
                <a:solidFill>
                  <a:srgbClr val="5F6873"/>
                </a:solidFill>
                <a:latin typeface="Arial"/>
                <a:ea typeface="Arial"/>
                <a:cs typeface="Arial"/>
              </a:defRPr>
            </a:pPr>
            <a:r>
              <a:rPr sz="1500" b="0" i="0">
                <a:solidFill>
                  <a:srgbClr val="5F6873"/>
                </a:solidFill>
                <a:latin typeface="Arial"/>
                <a:ea typeface="Arial"/>
                <a:cs typeface="Arial"/>
              </a:rPr>
              <a:t>Compare curriculum, mode, duration, experience, institutional context, coverage, and sources.</a:t>
            </a:r>
          </a:p>
        </p:txBody>
      </p:sp>
      <p:sp>
        <p:nvSpPr>
          <p:cNvPr id="9" name="Rectangle 8">
            <a:extLst>
              <a:ext uri="{FF2B5EF4-FFF2-40B4-BE49-F238E27FC236}">
                <a16:creationId xmlns:a16="http://schemas.microsoft.com/office/drawing/2014/main" id="{56E1F533-3749-44ED-8CF2-0481C2F47DA2}"/>
              </a:ext>
            </a:extLst>
          </p:cNvPr>
          <p:cNvSpPr>
            <a:spLocks noGrp="1"/>
          </p:cNvSpPr>
          <p:nvPr/>
        </p:nvSpPr>
        <p:spPr>
          <a:xfrm>
            <a:off x="3914775" y="1724025"/>
            <a:ext cx="9525" cy="3105150"/>
          </a:xfrm>
          <a:prstGeom prst="rect">
            <a:avLst/>
          </a:prstGeom>
          <a:solidFill>
            <a:srgbClr val="B8BCC4"/>
          </a:solidFill>
          <a:ln w="0">
            <a:solidFill>
              <a:srgbClr val="B8BCC4"/>
            </a:solidFill>
            <a:prstDash val="solid"/>
          </a:ln>
        </p:spPr>
      </p:sp>
      <p:sp>
        <p:nvSpPr>
          <p:cNvPr id="10" name="Rectangle 9">
            <a:extLst>
              <a:ext uri="{FF2B5EF4-FFF2-40B4-BE49-F238E27FC236}">
                <a16:creationId xmlns:a16="http://schemas.microsoft.com/office/drawing/2014/main" id="{132B18AD-3B75-4149-9A46-7006AE4DBB24}"/>
              </a:ext>
            </a:extLst>
          </p:cNvPr>
          <p:cNvSpPr>
            <a:spLocks noGrp="1"/>
          </p:cNvSpPr>
          <p:nvPr/>
        </p:nvSpPr>
        <p:spPr>
          <a:xfrm>
            <a:off x="4305300" y="1762125"/>
            <a:ext cx="3238500" cy="295275"/>
          </a:xfrm>
          <a:prstGeom prst="rect">
            <a:avLst/>
          </a:prstGeom>
        </p:spPr>
        <p:txBody>
          <a:bodyPr wrap="square" lIns="0" tIns="0" rIns="0" bIns="0" anchor="t">
            <a:noAutofit/>
          </a:bodyPr>
          <a:lstStyle/>
          <a:p>
            <a:pPr algn="l">
              <a:buNone/>
              <a:defRPr sz="1275" b="1" i="0">
                <a:solidFill>
                  <a:srgbClr val="3D8DFF"/>
                </a:solidFill>
                <a:latin typeface="Arial"/>
                <a:ea typeface="Arial"/>
                <a:cs typeface="Arial"/>
              </a:defRPr>
            </a:pPr>
            <a:r>
              <a:rPr sz="1275" b="1" i="0">
                <a:solidFill>
                  <a:srgbClr val="3D8DFF"/>
                </a:solidFill>
                <a:latin typeface="Arial"/>
                <a:ea typeface="Arial"/>
                <a:cs typeface="Arial"/>
              </a:rPr>
              <a:t>FOR SUSANHUB &amp; ADVISORS</a:t>
            </a:r>
          </a:p>
        </p:txBody>
      </p:sp>
      <p:sp>
        <p:nvSpPr>
          <p:cNvPr id="11" name="Rectangle 10">
            <a:extLst>
              <a:ext uri="{FF2B5EF4-FFF2-40B4-BE49-F238E27FC236}">
                <a16:creationId xmlns:a16="http://schemas.microsoft.com/office/drawing/2014/main" id="{6ED5486F-80EC-4005-8ED1-6DB9F872DEDB}"/>
              </a:ext>
            </a:extLst>
          </p:cNvPr>
          <p:cNvSpPr>
            <a:spLocks noGrp="1"/>
          </p:cNvSpPr>
          <p:nvPr/>
        </p:nvSpPr>
        <p:spPr>
          <a:xfrm>
            <a:off x="4305300" y="2209800"/>
            <a:ext cx="3238500" cy="819150"/>
          </a:xfrm>
          <a:prstGeom prst="rect">
            <a:avLst/>
          </a:prstGeom>
        </p:spPr>
        <p:txBody>
          <a:bodyPr wrap="square" lIns="0" tIns="0" rIns="0" bIns="0" anchor="t">
            <a:noAutofit/>
          </a:bodyPr>
          <a:lstStyle/>
          <a:p>
            <a:pPr algn="l">
              <a:buNone/>
              <a:defRPr sz="2325" b="1" i="0">
                <a:solidFill>
                  <a:srgbClr val="101214"/>
                </a:solidFill>
                <a:latin typeface="Arial"/>
                <a:ea typeface="Arial"/>
                <a:cs typeface="Arial"/>
              </a:defRPr>
            </a:pPr>
            <a:r>
              <a:rPr sz="2325" b="1" i="0">
                <a:solidFill>
                  <a:srgbClr val="101214"/>
                </a:solidFill>
                <a:latin typeface="Arial"/>
                <a:ea typeface="Arial"/>
                <a:cs typeface="Arial"/>
              </a:rPr>
              <a:t>Explain the evidence,
not just the outcome</a:t>
            </a:r>
          </a:p>
        </p:txBody>
      </p:sp>
      <p:sp>
        <p:nvSpPr>
          <p:cNvPr id="12" name="Rectangle 11">
            <a:extLst>
              <a:ext uri="{FF2B5EF4-FFF2-40B4-BE49-F238E27FC236}">
                <a16:creationId xmlns:a16="http://schemas.microsoft.com/office/drawing/2014/main" id="{3083ECF3-088D-4160-B362-ADE95360C4BB}"/>
              </a:ext>
            </a:extLst>
          </p:cNvPr>
          <p:cNvSpPr>
            <a:spLocks noGrp="1"/>
          </p:cNvSpPr>
          <p:nvPr/>
        </p:nvSpPr>
        <p:spPr>
          <a:xfrm>
            <a:off x="4305300" y="3286125"/>
            <a:ext cx="3238500" cy="1200150"/>
          </a:xfrm>
          <a:prstGeom prst="rect">
            <a:avLst/>
          </a:prstGeom>
        </p:spPr>
        <p:txBody>
          <a:bodyPr wrap="square" lIns="0" tIns="0" rIns="0" bIns="0" anchor="t">
            <a:noAutofit/>
          </a:bodyPr>
          <a:lstStyle/>
          <a:p>
            <a:pPr algn="l">
              <a:buNone/>
              <a:defRPr sz="1500" b="0" i="0">
                <a:solidFill>
                  <a:srgbClr val="5F6873"/>
                </a:solidFill>
                <a:latin typeface="Arial"/>
                <a:ea typeface="Arial"/>
                <a:cs typeface="Arial"/>
              </a:defRPr>
            </a:pPr>
            <a:r>
              <a:rPr sz="1500" b="0" i="0">
                <a:solidFill>
                  <a:srgbClr val="5F6873"/>
                </a:solidFill>
                <a:latin typeface="Arial"/>
                <a:ea typeface="Arial"/>
                <a:cs typeface="Arial"/>
              </a:rPr>
              <a:t>Use a reusable global dataset, visible caveats, and separate community context for advising.</a:t>
            </a:r>
          </a:p>
        </p:txBody>
      </p:sp>
      <p:sp>
        <p:nvSpPr>
          <p:cNvPr id="13" name="Rectangle 12">
            <a:extLst>
              <a:ext uri="{FF2B5EF4-FFF2-40B4-BE49-F238E27FC236}">
                <a16:creationId xmlns:a16="http://schemas.microsoft.com/office/drawing/2014/main" id="{2A7CB7B2-2216-4D6B-B451-5649190CDC4E}"/>
              </a:ext>
            </a:extLst>
          </p:cNvPr>
          <p:cNvSpPr>
            <a:spLocks noGrp="1"/>
          </p:cNvSpPr>
          <p:nvPr/>
        </p:nvSpPr>
        <p:spPr>
          <a:xfrm>
            <a:off x="7934325" y="1724025"/>
            <a:ext cx="9525" cy="3105150"/>
          </a:xfrm>
          <a:prstGeom prst="rect">
            <a:avLst/>
          </a:prstGeom>
          <a:solidFill>
            <a:srgbClr val="B8BCC4"/>
          </a:solidFill>
          <a:ln w="0">
            <a:solidFill>
              <a:srgbClr val="B8BCC4"/>
            </a:solidFill>
            <a:prstDash val="solid"/>
          </a:ln>
        </p:spPr>
      </p:sp>
      <p:sp>
        <p:nvSpPr>
          <p:cNvPr id="14" name="Rectangle 13">
            <a:extLst>
              <a:ext uri="{FF2B5EF4-FFF2-40B4-BE49-F238E27FC236}">
                <a16:creationId xmlns:a16="http://schemas.microsoft.com/office/drawing/2014/main" id="{62B570BB-1091-4D94-BD33-28A80E79763A}"/>
              </a:ext>
            </a:extLst>
          </p:cNvPr>
          <p:cNvSpPr>
            <a:spLocks noGrp="1"/>
          </p:cNvSpPr>
          <p:nvPr/>
        </p:nvSpPr>
        <p:spPr>
          <a:xfrm>
            <a:off x="8239125" y="1762125"/>
            <a:ext cx="3238500" cy="295275"/>
          </a:xfrm>
          <a:prstGeom prst="rect">
            <a:avLst/>
          </a:prstGeom>
        </p:spPr>
        <p:txBody>
          <a:bodyPr wrap="square" lIns="0" tIns="0" rIns="0" bIns="0" anchor="t">
            <a:noAutofit/>
          </a:bodyPr>
          <a:lstStyle/>
          <a:p>
            <a:pPr algn="l">
              <a:buNone/>
              <a:defRPr sz="1275" b="1" i="0">
                <a:solidFill>
                  <a:srgbClr val="19395E"/>
                </a:solidFill>
                <a:latin typeface="Arial"/>
                <a:ea typeface="Arial"/>
                <a:cs typeface="Arial"/>
              </a:defRPr>
            </a:pPr>
            <a:r>
              <a:rPr sz="1275" b="1" i="0">
                <a:solidFill>
                  <a:srgbClr val="19395E"/>
                </a:solidFill>
                <a:latin typeface="Arial"/>
                <a:ea typeface="Arial"/>
                <a:cs typeface="Arial"/>
              </a:rPr>
              <a:t>FOR MAINTAINERS</a:t>
            </a:r>
          </a:p>
        </p:txBody>
      </p:sp>
      <p:sp>
        <p:nvSpPr>
          <p:cNvPr id="15" name="Rectangle 14">
            <a:extLst>
              <a:ext uri="{FF2B5EF4-FFF2-40B4-BE49-F238E27FC236}">
                <a16:creationId xmlns:a16="http://schemas.microsoft.com/office/drawing/2014/main" id="{656E0170-DDB8-4840-A91A-C75C17EE86CD}"/>
              </a:ext>
            </a:extLst>
          </p:cNvPr>
          <p:cNvSpPr>
            <a:spLocks noGrp="1"/>
          </p:cNvSpPr>
          <p:nvPr/>
        </p:nvSpPr>
        <p:spPr>
          <a:xfrm>
            <a:off x="8239125" y="2209800"/>
            <a:ext cx="3238500" cy="819150"/>
          </a:xfrm>
          <a:prstGeom prst="rect">
            <a:avLst/>
          </a:prstGeom>
        </p:spPr>
        <p:txBody>
          <a:bodyPr wrap="square" lIns="0" tIns="0" rIns="0" bIns="0" anchor="t">
            <a:noAutofit/>
          </a:bodyPr>
          <a:lstStyle/>
          <a:p>
            <a:pPr algn="l">
              <a:buNone/>
              <a:defRPr sz="2325" b="1" i="0">
                <a:solidFill>
                  <a:srgbClr val="101214"/>
                </a:solidFill>
                <a:latin typeface="Arial"/>
                <a:ea typeface="Arial"/>
                <a:cs typeface="Arial"/>
              </a:defRPr>
            </a:pPr>
            <a:r>
              <a:rPr sz="2325" b="1" i="0">
                <a:solidFill>
                  <a:srgbClr val="101214"/>
                </a:solidFill>
                <a:latin typeface="Arial"/>
                <a:ea typeface="Arial"/>
                <a:cs typeface="Arial"/>
              </a:rPr>
              <a:t>Refresh data
without rebuilding</a:t>
            </a:r>
          </a:p>
        </p:txBody>
      </p:sp>
      <p:sp>
        <p:nvSpPr>
          <p:cNvPr id="16" name="Rectangle 15">
            <a:extLst>
              <a:ext uri="{FF2B5EF4-FFF2-40B4-BE49-F238E27FC236}">
                <a16:creationId xmlns:a16="http://schemas.microsoft.com/office/drawing/2014/main" id="{EBDFCFB3-5189-43AA-B688-B757E13D9527}"/>
              </a:ext>
            </a:extLst>
          </p:cNvPr>
          <p:cNvSpPr>
            <a:spLocks noGrp="1"/>
          </p:cNvSpPr>
          <p:nvPr/>
        </p:nvSpPr>
        <p:spPr>
          <a:xfrm>
            <a:off x="8239125" y="3286125"/>
            <a:ext cx="3238500" cy="1200150"/>
          </a:xfrm>
          <a:prstGeom prst="rect">
            <a:avLst/>
          </a:prstGeom>
        </p:spPr>
        <p:txBody>
          <a:bodyPr wrap="square" lIns="0" tIns="0" rIns="0" bIns="0" anchor="t">
            <a:noAutofit/>
          </a:bodyPr>
          <a:lstStyle/>
          <a:p>
            <a:pPr algn="l">
              <a:buNone/>
              <a:defRPr sz="1500" b="0" i="0">
                <a:solidFill>
                  <a:srgbClr val="5F6873"/>
                </a:solidFill>
                <a:latin typeface="Arial"/>
                <a:ea typeface="Arial"/>
                <a:cs typeface="Arial"/>
              </a:defRPr>
            </a:pPr>
            <a:r>
              <a:rPr sz="1500" b="0" i="0">
                <a:solidFill>
                  <a:srgbClr val="5F6873"/>
                </a:solidFill>
                <a:latin typeface="Arial"/>
                <a:ea typeface="Arial"/>
                <a:cs typeface="Arial"/>
              </a:rPr>
              <a:t>Rerun scripts, validate workbooks, and replace one frontend JSON file as evidence improves.</a:t>
            </a:r>
          </a:p>
        </p:txBody>
      </p:sp>
      <p:sp>
        <p:nvSpPr>
          <p:cNvPr id="17" name="Rectangle 16">
            <a:extLst>
              <a:ext uri="{FF2B5EF4-FFF2-40B4-BE49-F238E27FC236}">
                <a16:creationId xmlns:a16="http://schemas.microsoft.com/office/drawing/2014/main" id="{8FB3F707-8A49-43FE-B9FB-02655CA26CA4}"/>
              </a:ext>
            </a:extLst>
          </p:cNvPr>
          <p:cNvSpPr>
            <a:spLocks noGrp="1"/>
          </p:cNvSpPr>
          <p:nvPr/>
        </p:nvSpPr>
        <p:spPr>
          <a:xfrm>
            <a:off x="390525" y="5181600"/>
            <a:ext cx="11401425" cy="762000"/>
          </a:xfrm>
          <a:prstGeom prst="rect">
            <a:avLst/>
          </a:prstGeom>
          <a:solidFill>
            <a:srgbClr val="19395E"/>
          </a:solidFill>
          <a:ln w="0">
            <a:solidFill>
              <a:srgbClr val="19395E"/>
            </a:solidFill>
            <a:prstDash val="solid"/>
          </a:ln>
        </p:spPr>
      </p:sp>
      <p:sp>
        <p:nvSpPr>
          <p:cNvPr id="18" name="Rectangle 17">
            <a:extLst>
              <a:ext uri="{FF2B5EF4-FFF2-40B4-BE49-F238E27FC236}">
                <a16:creationId xmlns:a16="http://schemas.microsoft.com/office/drawing/2014/main" id="{C36B95B8-D4C5-4A36-8F93-86EA254D9EE8}"/>
              </a:ext>
            </a:extLst>
          </p:cNvPr>
          <p:cNvSpPr>
            <a:spLocks noGrp="1"/>
          </p:cNvSpPr>
          <p:nvPr/>
        </p:nvSpPr>
        <p:spPr>
          <a:xfrm>
            <a:off x="657225" y="5381625"/>
            <a:ext cx="10858500" cy="371475"/>
          </a:xfrm>
          <a:prstGeom prst="rect">
            <a:avLst/>
          </a:prstGeom>
        </p:spPr>
        <p:txBody>
          <a:bodyPr wrap="square" lIns="0" tIns="0" rIns="0" bIns="0" anchor="t">
            <a:noAutofit/>
          </a:bodyPr>
          <a:lstStyle/>
          <a:p>
            <a:pPr algn="l">
              <a:buNone/>
              <a:defRPr sz="1725" b="1" i="0">
                <a:solidFill>
                  <a:srgbClr val="FFFFFF"/>
                </a:solidFill>
                <a:latin typeface="Arial"/>
                <a:ea typeface="Arial"/>
                <a:cs typeface="Arial"/>
              </a:defRPr>
            </a:pPr>
            <a:r>
              <a:rPr sz="1613" b="1" i="0">
                <a:solidFill>
                  <a:srgbClr val="FFFFFF"/>
                </a:solidFill>
                <a:latin typeface="Arial"/>
                <a:ea typeface="Arial"/>
                <a:cs typeface="Arial"/>
              </a:rPr>
              <a:t>Current state: verification complete · 60 programs loaded · scoring architecture ready for the next build</a:t>
            </a:r>
          </a:p>
        </p:txBody>
      </p:sp>
    </p:spTree>
    <p:extLst>
      <p:ext uri="{BB962C8B-B14F-4D97-AF65-F5344CB8AC3E}">
        <p14:creationId xmlns:p14="http://schemas.microsoft.com/office/powerpoint/2010/main" val="7771685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section-12">
            <a:extLst>
              <a:ext uri="{FF2B5EF4-FFF2-40B4-BE49-F238E27FC236}">
                <a16:creationId xmlns:a16="http://schemas.microsoft.com/office/drawing/2014/main" id="{5C553707-728D-4F4A-B6D3-C6BCA3874838}"/>
              </a:ext>
            </a:extLst>
          </p:cNvPr>
          <p:cNvSpPr>
            <a:spLocks noGrp="1"/>
          </p:cNvSpPr>
          <p:nvPr/>
        </p:nvSpPr>
        <p:spPr>
          <a:xfrm>
            <a:off x="390525" y="295275"/>
            <a:ext cx="3238500" cy="209550"/>
          </a:xfrm>
          <a:prstGeom prst="rect">
            <a:avLst/>
          </a:prstGeom>
        </p:spPr>
        <p:txBody>
          <a:bodyPr wrap="square" lIns="0" tIns="0" rIns="0" bIns="0" anchor="t">
            <a:noAutofit/>
          </a:bodyPr>
          <a:lstStyle/>
          <a:p>
            <a:pPr algn="l">
              <a:buNone/>
              <a:defRPr sz="1050" b="1" i="0">
                <a:solidFill>
                  <a:srgbClr val="13847D"/>
                </a:solidFill>
                <a:latin typeface="Arial"/>
                <a:ea typeface="Arial"/>
                <a:cs typeface="Arial"/>
              </a:defRPr>
            </a:pPr>
            <a:r>
              <a:rPr sz="1050" b="1" i="0">
                <a:solidFill>
                  <a:srgbClr val="13847D"/>
                </a:solidFill>
                <a:latin typeface="Arial"/>
                <a:ea typeface="Arial"/>
                <a:cs typeface="Arial"/>
              </a:rPr>
              <a:t>FUTURE STAGE</a:t>
            </a:r>
          </a:p>
        </p:txBody>
      </p:sp>
      <p:sp>
        <p:nvSpPr>
          <p:cNvPr id="2" name="title-12">
            <a:extLst>
              <a:ext uri="{FF2B5EF4-FFF2-40B4-BE49-F238E27FC236}">
                <a16:creationId xmlns:a16="http://schemas.microsoft.com/office/drawing/2014/main" id="{9D84AE88-520D-4048-9BC3-C8A278D71AC2}"/>
              </a:ext>
            </a:extLst>
          </p:cNvPr>
          <p:cNvSpPr>
            <a:spLocks noGrp="1"/>
          </p:cNvSpPr>
          <p:nvPr/>
        </p:nvSpPr>
        <p:spPr>
          <a:xfrm>
            <a:off x="390525" y="581025"/>
            <a:ext cx="11401425" cy="666750"/>
          </a:xfrm>
          <a:prstGeom prst="rect">
            <a:avLst/>
          </a:prstGeom>
        </p:spPr>
        <p:txBody>
          <a:bodyPr wrap="square" lIns="0" tIns="0" rIns="0" bIns="0" anchor="t">
            <a:noAutofit/>
          </a:bodyPr>
          <a:lstStyle/>
          <a:p>
            <a:pPr algn="l">
              <a:buNone/>
              <a:defRPr sz="3450" b="1" i="0">
                <a:solidFill>
                  <a:srgbClr val="101214"/>
                </a:solidFill>
                <a:latin typeface="Arial"/>
                <a:ea typeface="Arial"/>
                <a:cs typeface="Arial"/>
              </a:defRPr>
            </a:pPr>
            <a:r>
              <a:rPr sz="3150" b="1" i="0">
                <a:solidFill>
                  <a:srgbClr val="101214"/>
                </a:solidFill>
                <a:latin typeface="Arial"/>
                <a:ea typeface="Arial"/>
                <a:cs typeface="Arial"/>
              </a:rPr>
              <a:t>Next, automate the pipeline and make the model dynamic</a:t>
            </a:r>
          </a:p>
        </p:txBody>
      </p:sp>
      <p:sp>
        <p:nvSpPr>
          <p:cNvPr id="3" name="Rectangle 2">
            <a:extLst>
              <a:ext uri="{FF2B5EF4-FFF2-40B4-BE49-F238E27FC236}">
                <a16:creationId xmlns:a16="http://schemas.microsoft.com/office/drawing/2014/main" id="{7B20FCB0-3EB3-4864-8319-4A86AF69CAEA}"/>
              </a:ext>
            </a:extLst>
          </p:cNvPr>
          <p:cNvSpPr>
            <a:spLocks noGrp="1"/>
          </p:cNvSpPr>
          <p:nvPr/>
        </p:nvSpPr>
        <p:spPr>
          <a:xfrm>
            <a:off x="390525" y="1352550"/>
            <a:ext cx="11401425" cy="9525"/>
          </a:xfrm>
          <a:prstGeom prst="rect">
            <a:avLst/>
          </a:prstGeom>
          <a:solidFill>
            <a:srgbClr val="B8BCC4"/>
          </a:solidFill>
          <a:ln w="0">
            <a:solidFill>
              <a:srgbClr val="B8BCC4"/>
            </a:solidFill>
            <a:prstDash val="solid"/>
          </a:ln>
        </p:spPr>
      </p:sp>
      <p:sp>
        <p:nvSpPr>
          <p:cNvPr id="5" name="page-12">
            <a:extLst>
              <a:ext uri="{FF2B5EF4-FFF2-40B4-BE49-F238E27FC236}">
                <a16:creationId xmlns:a16="http://schemas.microsoft.com/office/drawing/2014/main" id="{659A8FA9-E151-4E42-8342-D71A738F17B3}"/>
              </a:ext>
            </a:extLst>
          </p:cNvPr>
          <p:cNvSpPr>
            <a:spLocks noGrp="1"/>
          </p:cNvSpPr>
          <p:nvPr/>
        </p:nvSpPr>
        <p:spPr>
          <a:xfrm>
            <a:off x="11201400" y="6305550"/>
            <a:ext cx="590550" cy="238125"/>
          </a:xfrm>
          <a:prstGeom prst="rect">
            <a:avLst/>
          </a:prstGeom>
        </p:spPr>
        <p:txBody>
          <a:bodyPr wrap="square" lIns="0" tIns="0" rIns="0" bIns="0" anchor="t">
            <a:noAutofit/>
          </a:bodyPr>
          <a:lstStyle/>
          <a:p>
            <a:pPr algn="r">
              <a:buNone/>
              <a:defRPr sz="975" b="0" i="0">
                <a:solidFill>
                  <a:srgbClr val="5F6873"/>
                </a:solidFill>
                <a:latin typeface="Arial"/>
                <a:ea typeface="Arial"/>
                <a:cs typeface="Arial"/>
              </a:defRPr>
            </a:pPr>
            <a:r>
              <a:rPr sz="975" b="0" i="0">
                <a:solidFill>
                  <a:srgbClr val="5F6873"/>
                </a:solidFill>
                <a:latin typeface="Arial"/>
                <a:ea typeface="Arial"/>
                <a:cs typeface="Arial"/>
              </a:rPr>
              <a:t>13</a:t>
            </a:r>
          </a:p>
        </p:txBody>
      </p:sp>
      <p:sp>
        <p:nvSpPr>
          <p:cNvPr id="6" name="Rectangle 5">
            <a:extLst>
              <a:ext uri="{FF2B5EF4-FFF2-40B4-BE49-F238E27FC236}">
                <a16:creationId xmlns:a16="http://schemas.microsoft.com/office/drawing/2014/main" id="{FC5B789F-CADD-454F-AB3E-E2E1D5272368}"/>
              </a:ext>
            </a:extLst>
          </p:cNvPr>
          <p:cNvSpPr>
            <a:spLocks noGrp="1"/>
          </p:cNvSpPr>
          <p:nvPr/>
        </p:nvSpPr>
        <p:spPr>
          <a:xfrm>
            <a:off x="714375" y="5410200"/>
            <a:ext cx="10668000" cy="9525"/>
          </a:xfrm>
          <a:prstGeom prst="rect">
            <a:avLst/>
          </a:prstGeom>
          <a:solidFill>
            <a:srgbClr val="101214"/>
          </a:solidFill>
          <a:ln w="0">
            <a:solidFill>
              <a:srgbClr val="101214"/>
            </a:solidFill>
            <a:prstDash val="solid"/>
          </a:ln>
        </p:spPr>
      </p:sp>
      <p:sp>
        <p:nvSpPr>
          <p:cNvPr id="7" name="Oval 6">
            <a:extLst>
              <a:ext uri="{FF2B5EF4-FFF2-40B4-BE49-F238E27FC236}">
                <a16:creationId xmlns:a16="http://schemas.microsoft.com/office/drawing/2014/main" id="{7CE6C6FC-0341-4D05-8075-4A45308EB777}"/>
              </a:ext>
            </a:extLst>
          </p:cNvPr>
          <p:cNvSpPr>
            <a:spLocks noGrp="1"/>
          </p:cNvSpPr>
          <p:nvPr/>
        </p:nvSpPr>
        <p:spPr>
          <a:xfrm>
            <a:off x="800100" y="5324475"/>
            <a:ext cx="133350" cy="133350"/>
          </a:xfrm>
          <a:prstGeom prst="ellipse">
            <a:avLst/>
          </a:prstGeom>
          <a:solidFill>
            <a:srgbClr val="101214"/>
          </a:solidFill>
          <a:ln w="0">
            <a:solidFill>
              <a:srgbClr val="101214"/>
            </a:solidFill>
            <a:prstDash val="solid"/>
          </a:ln>
        </p:spPr>
      </p:sp>
      <p:sp>
        <p:nvSpPr>
          <p:cNvPr id="8" name="Oval 7">
            <a:extLst>
              <a:ext uri="{FF2B5EF4-FFF2-40B4-BE49-F238E27FC236}">
                <a16:creationId xmlns:a16="http://schemas.microsoft.com/office/drawing/2014/main" id="{6434054C-11FF-4BB8-A296-FB3E5A59AEBA}"/>
              </a:ext>
            </a:extLst>
          </p:cNvPr>
          <p:cNvSpPr>
            <a:spLocks noGrp="1"/>
          </p:cNvSpPr>
          <p:nvPr/>
        </p:nvSpPr>
        <p:spPr>
          <a:xfrm>
            <a:off x="4733925" y="5324475"/>
            <a:ext cx="133350" cy="133350"/>
          </a:xfrm>
          <a:prstGeom prst="ellipse">
            <a:avLst/>
          </a:prstGeom>
          <a:solidFill>
            <a:srgbClr val="101214"/>
          </a:solidFill>
          <a:ln w="0">
            <a:solidFill>
              <a:srgbClr val="101214"/>
            </a:solidFill>
            <a:prstDash val="solid"/>
          </a:ln>
        </p:spPr>
      </p:sp>
      <p:sp>
        <p:nvSpPr>
          <p:cNvPr id="9" name="Oval 8">
            <a:extLst>
              <a:ext uri="{FF2B5EF4-FFF2-40B4-BE49-F238E27FC236}">
                <a16:creationId xmlns:a16="http://schemas.microsoft.com/office/drawing/2014/main" id="{F7253836-39E9-4A25-86CB-9983C3A781BB}"/>
              </a:ext>
            </a:extLst>
          </p:cNvPr>
          <p:cNvSpPr>
            <a:spLocks noGrp="1"/>
          </p:cNvSpPr>
          <p:nvPr/>
        </p:nvSpPr>
        <p:spPr>
          <a:xfrm>
            <a:off x="8667750" y="5324475"/>
            <a:ext cx="133350" cy="133350"/>
          </a:xfrm>
          <a:prstGeom prst="ellipse">
            <a:avLst/>
          </a:prstGeom>
          <a:solidFill>
            <a:srgbClr val="101214"/>
          </a:solidFill>
          <a:ln w="0">
            <a:solidFill>
              <a:srgbClr val="101214"/>
            </a:solidFill>
            <a:prstDash val="solid"/>
          </a:ln>
        </p:spPr>
      </p:sp>
      <p:sp>
        <p:nvSpPr>
          <p:cNvPr id="10" name="Rectangle 9">
            <a:extLst>
              <a:ext uri="{FF2B5EF4-FFF2-40B4-BE49-F238E27FC236}">
                <a16:creationId xmlns:a16="http://schemas.microsoft.com/office/drawing/2014/main" id="{37EA50B3-52CE-446B-BC5B-0D5BAF561BB0}"/>
              </a:ext>
            </a:extLst>
          </p:cNvPr>
          <p:cNvSpPr>
            <a:spLocks noGrp="1"/>
          </p:cNvSpPr>
          <p:nvPr/>
        </p:nvSpPr>
        <p:spPr>
          <a:xfrm>
            <a:off x="390525" y="1638300"/>
            <a:ext cx="3562350" cy="3352800"/>
          </a:xfrm>
          <a:prstGeom prst="rect">
            <a:avLst/>
          </a:prstGeom>
          <a:solidFill>
            <a:srgbClr val="F2F2F2"/>
          </a:solidFill>
          <a:ln w="0">
            <a:solidFill>
              <a:srgbClr val="F2F2F2"/>
            </a:solidFill>
            <a:prstDash val="solid"/>
          </a:ln>
        </p:spPr>
      </p:sp>
      <p:sp>
        <p:nvSpPr>
          <p:cNvPr id="11" name="Rectangle 10">
            <a:extLst>
              <a:ext uri="{FF2B5EF4-FFF2-40B4-BE49-F238E27FC236}">
                <a16:creationId xmlns:a16="http://schemas.microsoft.com/office/drawing/2014/main" id="{94B34786-4719-4BB7-9177-697BB886AC32}"/>
              </a:ext>
            </a:extLst>
          </p:cNvPr>
          <p:cNvSpPr>
            <a:spLocks noGrp="1"/>
          </p:cNvSpPr>
          <p:nvPr/>
        </p:nvSpPr>
        <p:spPr>
          <a:xfrm>
            <a:off x="4314825" y="1638300"/>
            <a:ext cx="3562350" cy="3352800"/>
          </a:xfrm>
          <a:prstGeom prst="rect">
            <a:avLst/>
          </a:prstGeom>
          <a:solidFill>
            <a:srgbClr val="EAF5FB"/>
          </a:solidFill>
          <a:ln w="0">
            <a:solidFill>
              <a:srgbClr val="EAF5FB"/>
            </a:solidFill>
            <a:prstDash val="solid"/>
          </a:ln>
        </p:spPr>
      </p:sp>
      <p:sp>
        <p:nvSpPr>
          <p:cNvPr id="12" name="Rectangle 11">
            <a:extLst>
              <a:ext uri="{FF2B5EF4-FFF2-40B4-BE49-F238E27FC236}">
                <a16:creationId xmlns:a16="http://schemas.microsoft.com/office/drawing/2014/main" id="{48550AD2-6DE7-4EA3-B105-E1EB746790BF}"/>
              </a:ext>
            </a:extLst>
          </p:cNvPr>
          <p:cNvSpPr>
            <a:spLocks noGrp="1"/>
          </p:cNvSpPr>
          <p:nvPr/>
        </p:nvSpPr>
        <p:spPr>
          <a:xfrm>
            <a:off x="8239125" y="1638300"/>
            <a:ext cx="3562350" cy="3352800"/>
          </a:xfrm>
          <a:prstGeom prst="rect">
            <a:avLst/>
          </a:prstGeom>
          <a:solidFill>
            <a:srgbClr val="F2F2F2"/>
          </a:solidFill>
          <a:ln w="0">
            <a:solidFill>
              <a:srgbClr val="F2F2F2"/>
            </a:solidFill>
            <a:prstDash val="solid"/>
          </a:ln>
        </p:spPr>
      </p:sp>
      <p:sp>
        <p:nvSpPr>
          <p:cNvPr id="13" name="Rectangle 12">
            <a:extLst>
              <a:ext uri="{FF2B5EF4-FFF2-40B4-BE49-F238E27FC236}">
                <a16:creationId xmlns:a16="http://schemas.microsoft.com/office/drawing/2014/main" id="{4220942B-B17A-4512-B43B-745BC6E45092}"/>
              </a:ext>
            </a:extLst>
          </p:cNvPr>
          <p:cNvSpPr>
            <a:spLocks noGrp="1"/>
          </p:cNvSpPr>
          <p:nvPr/>
        </p:nvSpPr>
        <p:spPr>
          <a:xfrm>
            <a:off x="695325" y="1952625"/>
            <a:ext cx="2857500" cy="285750"/>
          </a:xfrm>
          <a:prstGeom prst="rect">
            <a:avLst/>
          </a:prstGeom>
        </p:spPr>
        <p:txBody>
          <a:bodyPr wrap="square" lIns="0" tIns="0" rIns="0" bIns="0" anchor="t">
            <a:noAutofit/>
          </a:bodyPr>
          <a:lstStyle/>
          <a:p>
            <a:pPr algn="l">
              <a:buNone/>
              <a:defRPr sz="1275" b="1" i="0">
                <a:solidFill>
                  <a:srgbClr val="13847D"/>
                </a:solidFill>
                <a:latin typeface="Arial"/>
                <a:ea typeface="Arial"/>
                <a:cs typeface="Arial"/>
              </a:defRPr>
            </a:pPr>
            <a:r>
              <a:rPr sz="1275" b="1" i="0">
                <a:solidFill>
                  <a:srgbClr val="13847D"/>
                </a:solidFill>
                <a:latin typeface="Arial"/>
                <a:ea typeface="Arial"/>
                <a:cs typeface="Arial"/>
              </a:rPr>
              <a:t>1 · COMPLETE</a:t>
            </a:r>
          </a:p>
        </p:txBody>
      </p:sp>
      <p:sp>
        <p:nvSpPr>
          <p:cNvPr id="14" name="Rectangle 13">
            <a:extLst>
              <a:ext uri="{FF2B5EF4-FFF2-40B4-BE49-F238E27FC236}">
                <a16:creationId xmlns:a16="http://schemas.microsoft.com/office/drawing/2014/main" id="{048B0120-0FF7-4025-A2A6-55EAC1671350}"/>
              </a:ext>
            </a:extLst>
          </p:cNvPr>
          <p:cNvSpPr>
            <a:spLocks noGrp="1"/>
          </p:cNvSpPr>
          <p:nvPr/>
        </p:nvSpPr>
        <p:spPr>
          <a:xfrm>
            <a:off x="695325" y="2428875"/>
            <a:ext cx="2857500" cy="647700"/>
          </a:xfrm>
          <a:prstGeom prst="rect">
            <a:avLst/>
          </a:prstGeom>
        </p:spPr>
        <p:txBody>
          <a:bodyPr wrap="square" lIns="0" tIns="0" rIns="0" bIns="0" anchor="t">
            <a:noAutofit/>
          </a:bodyPr>
          <a:lstStyle/>
          <a:p>
            <a:pPr algn="l">
              <a:buNone/>
              <a:defRPr sz="2325" b="1" i="0">
                <a:solidFill>
                  <a:srgbClr val="101214"/>
                </a:solidFill>
                <a:latin typeface="Arial"/>
                <a:ea typeface="Arial"/>
                <a:cs typeface="Arial"/>
              </a:defRPr>
            </a:pPr>
            <a:r>
              <a:rPr sz="2325" b="1" i="0">
                <a:solidFill>
                  <a:srgbClr val="101214"/>
                </a:solidFill>
                <a:latin typeface="Arial"/>
                <a:ea typeface="Arial"/>
                <a:cs typeface="Arial"/>
              </a:rPr>
              <a:t>Verified foundation</a:t>
            </a:r>
          </a:p>
        </p:txBody>
      </p:sp>
      <p:sp>
        <p:nvSpPr>
          <p:cNvPr id="15" name="Rectangle 14">
            <a:extLst>
              <a:ext uri="{FF2B5EF4-FFF2-40B4-BE49-F238E27FC236}">
                <a16:creationId xmlns:a16="http://schemas.microsoft.com/office/drawing/2014/main" id="{F2F40DE6-D737-4A5A-936C-7704F5E58192}"/>
              </a:ext>
            </a:extLst>
          </p:cNvPr>
          <p:cNvSpPr>
            <a:spLocks noGrp="1"/>
          </p:cNvSpPr>
          <p:nvPr/>
        </p:nvSpPr>
        <p:spPr>
          <a:xfrm>
            <a:off x="695325" y="3286125"/>
            <a:ext cx="2857500" cy="1285875"/>
          </a:xfrm>
          <a:prstGeom prst="rect">
            <a:avLst/>
          </a:prstGeom>
        </p:spPr>
        <p:txBody>
          <a:bodyPr wrap="square" lIns="0" tIns="0" rIns="0" bIns="0" anchor="t">
            <a:noAutofit/>
          </a:bodyPr>
          <a:lstStyle/>
          <a:p>
            <a:pPr algn="l">
              <a:buNone/>
              <a:defRPr sz="1425" b="0" i="0">
                <a:solidFill>
                  <a:srgbClr val="5F6873"/>
                </a:solidFill>
                <a:latin typeface="Arial"/>
                <a:ea typeface="Arial"/>
                <a:cs typeface="Arial"/>
              </a:defRPr>
            </a:pPr>
            <a:r>
              <a:rPr sz="1425" b="0" i="0">
                <a:solidFill>
                  <a:srgbClr val="5F6873"/>
                </a:solidFill>
                <a:latin typeface="Arial"/>
                <a:ea typeface="Arial"/>
                <a:cs typeface="Arial"/>
              </a:rPr>
              <a:t>60-program universe locked</a:t>
            </a:r>
          </a:p>
          <a:p>
            <a:pPr algn="l">
              <a:buNone/>
              <a:defRPr sz="1425" b="0" i="0">
                <a:solidFill>
                  <a:srgbClr val="5F6873"/>
                </a:solidFill>
                <a:latin typeface="Arial"/>
                <a:ea typeface="Arial"/>
                <a:cs typeface="Arial"/>
              </a:defRPr>
            </a:pPr>
            <a:r>
              <a:rPr sz="1425" b="0" i="0">
                <a:solidFill>
                  <a:srgbClr val="5F6873"/>
                </a:solidFill>
                <a:latin typeface="Arial"/>
                <a:ea typeface="Arial"/>
                <a:cs typeface="Arial"/>
              </a:rPr>
              <a:t>Official sources audited</a:t>
            </a:r>
          </a:p>
          <a:p>
            <a:pPr algn="l">
              <a:buNone/>
              <a:defRPr sz="1425" b="0" i="0">
                <a:solidFill>
                  <a:srgbClr val="5F6873"/>
                </a:solidFill>
                <a:latin typeface="Arial"/>
                <a:ea typeface="Arial"/>
                <a:cs typeface="Arial"/>
              </a:defRPr>
            </a:pPr>
            <a:r>
              <a:rPr sz="1425" b="0" i="0">
                <a:solidFill>
                  <a:srgbClr val="5F6873"/>
                </a:solidFill>
                <a:latin typeface="Arial"/>
                <a:ea typeface="Arial"/>
                <a:cs typeface="Arial"/>
              </a:rPr>
              <a:t>Exceptions documented</a:t>
            </a:r>
          </a:p>
          <a:p>
            <a:pPr algn="l">
              <a:buNone/>
              <a:defRPr sz="1425" b="0" i="0">
                <a:solidFill>
                  <a:srgbClr val="5F6873"/>
                </a:solidFill>
                <a:latin typeface="Arial"/>
                <a:ea typeface="Arial"/>
                <a:cs typeface="Arial"/>
              </a:defRPr>
            </a:pPr>
            <a:r>
              <a:rPr sz="1425" b="0" i="0">
                <a:solidFill>
                  <a:srgbClr val="5F6873"/>
                </a:solidFill>
                <a:latin typeface="Arial"/>
                <a:ea typeface="Arial"/>
                <a:cs typeface="Arial"/>
              </a:rPr>
              <a:t>Scoring pipeline operational</a:t>
            </a:r>
          </a:p>
        </p:txBody>
      </p:sp>
      <p:sp>
        <p:nvSpPr>
          <p:cNvPr id="16" name="Rectangle 15">
            <a:extLst>
              <a:ext uri="{FF2B5EF4-FFF2-40B4-BE49-F238E27FC236}">
                <a16:creationId xmlns:a16="http://schemas.microsoft.com/office/drawing/2014/main" id="{4C29B8E9-34D0-4BF8-9C04-35AAA7196AC4}"/>
              </a:ext>
            </a:extLst>
          </p:cNvPr>
          <p:cNvSpPr>
            <a:spLocks noGrp="1"/>
          </p:cNvSpPr>
          <p:nvPr/>
        </p:nvSpPr>
        <p:spPr>
          <a:xfrm>
            <a:off x="4619625" y="1952625"/>
            <a:ext cx="2857500" cy="285750"/>
          </a:xfrm>
          <a:prstGeom prst="rect">
            <a:avLst/>
          </a:prstGeom>
        </p:spPr>
        <p:txBody>
          <a:bodyPr wrap="square" lIns="0" tIns="0" rIns="0" bIns="0" anchor="t">
            <a:noAutofit/>
          </a:bodyPr>
          <a:lstStyle/>
          <a:p>
            <a:pPr algn="l">
              <a:buNone/>
              <a:defRPr sz="1275" b="1" i="0">
                <a:solidFill>
                  <a:srgbClr val="3D8DFF"/>
                </a:solidFill>
                <a:latin typeface="Arial"/>
                <a:ea typeface="Arial"/>
                <a:cs typeface="Arial"/>
              </a:defRPr>
            </a:pPr>
            <a:r>
              <a:rPr sz="1275" b="1" i="0">
                <a:solidFill>
                  <a:srgbClr val="3D8DFF"/>
                </a:solidFill>
                <a:latin typeface="Arial"/>
                <a:ea typeface="Arial"/>
                <a:cs typeface="Arial"/>
              </a:rPr>
              <a:t>2 · AUTOMATE</a:t>
            </a:r>
          </a:p>
        </p:txBody>
      </p:sp>
      <p:sp>
        <p:nvSpPr>
          <p:cNvPr id="17" name="Rectangle 16">
            <a:extLst>
              <a:ext uri="{FF2B5EF4-FFF2-40B4-BE49-F238E27FC236}">
                <a16:creationId xmlns:a16="http://schemas.microsoft.com/office/drawing/2014/main" id="{355EFEBA-F26A-4B14-BE3B-4635D81583CA}"/>
              </a:ext>
            </a:extLst>
          </p:cNvPr>
          <p:cNvSpPr>
            <a:spLocks noGrp="1"/>
          </p:cNvSpPr>
          <p:nvPr/>
        </p:nvSpPr>
        <p:spPr>
          <a:xfrm>
            <a:off x="4619625" y="2428875"/>
            <a:ext cx="2857500" cy="647700"/>
          </a:xfrm>
          <a:prstGeom prst="rect">
            <a:avLst/>
          </a:prstGeom>
        </p:spPr>
        <p:txBody>
          <a:bodyPr wrap="square" lIns="0" tIns="0" rIns="0" bIns="0" anchor="t">
            <a:noAutofit/>
          </a:bodyPr>
          <a:lstStyle/>
          <a:p>
            <a:pPr algn="l">
              <a:buNone/>
              <a:defRPr sz="2325" b="1" i="0">
                <a:solidFill>
                  <a:srgbClr val="101214"/>
                </a:solidFill>
                <a:latin typeface="Arial"/>
                <a:ea typeface="Arial"/>
                <a:cs typeface="Arial"/>
              </a:defRPr>
            </a:pPr>
            <a:r>
              <a:rPr sz="2100" b="1" i="0">
                <a:solidFill>
                  <a:srgbClr val="101214"/>
                </a:solidFill>
                <a:latin typeface="Arial"/>
                <a:ea typeface="Arial"/>
                <a:cs typeface="Arial"/>
              </a:rPr>
              <a:t>Refresh without friction</a:t>
            </a:r>
          </a:p>
        </p:txBody>
      </p:sp>
      <p:sp>
        <p:nvSpPr>
          <p:cNvPr id="18" name="Rectangle 17">
            <a:extLst>
              <a:ext uri="{FF2B5EF4-FFF2-40B4-BE49-F238E27FC236}">
                <a16:creationId xmlns:a16="http://schemas.microsoft.com/office/drawing/2014/main" id="{2220670E-6064-442B-87D8-6AA5E66F121F}"/>
              </a:ext>
            </a:extLst>
          </p:cNvPr>
          <p:cNvSpPr>
            <a:spLocks noGrp="1"/>
          </p:cNvSpPr>
          <p:nvPr/>
        </p:nvSpPr>
        <p:spPr>
          <a:xfrm>
            <a:off x="4619625" y="3286125"/>
            <a:ext cx="2857500" cy="1285875"/>
          </a:xfrm>
          <a:prstGeom prst="rect">
            <a:avLst/>
          </a:prstGeom>
        </p:spPr>
        <p:txBody>
          <a:bodyPr wrap="square" lIns="0" tIns="0" rIns="0" bIns="0" anchor="t">
            <a:noAutofit/>
          </a:bodyPr>
          <a:lstStyle/>
          <a:p>
            <a:pPr algn="l">
              <a:buNone/>
              <a:defRPr sz="1425" b="0" i="0">
                <a:solidFill>
                  <a:srgbClr val="19395E"/>
                </a:solidFill>
                <a:latin typeface="Arial"/>
                <a:ea typeface="Arial"/>
                <a:cs typeface="Arial"/>
              </a:defRPr>
            </a:pPr>
            <a:r>
              <a:rPr sz="1425" b="0" i="0">
                <a:solidFill>
                  <a:srgbClr val="19395E"/>
                </a:solidFill>
                <a:latin typeface="Arial"/>
                <a:ea typeface="Arial"/>
                <a:cs typeface="Arial"/>
              </a:rPr>
              <a:t>Scheduled source refreshes
API and URL monitoring
Entity-match alerts
Versioned QA and JSON releases</a:t>
            </a:r>
          </a:p>
        </p:txBody>
      </p:sp>
      <p:sp>
        <p:nvSpPr>
          <p:cNvPr id="19" name="Rectangle 18">
            <a:extLst>
              <a:ext uri="{FF2B5EF4-FFF2-40B4-BE49-F238E27FC236}">
                <a16:creationId xmlns:a16="http://schemas.microsoft.com/office/drawing/2014/main" id="{B48BD094-A46F-4AC5-9392-61489EFE9636}"/>
              </a:ext>
            </a:extLst>
          </p:cNvPr>
          <p:cNvSpPr>
            <a:spLocks noGrp="1"/>
          </p:cNvSpPr>
          <p:nvPr/>
        </p:nvSpPr>
        <p:spPr>
          <a:xfrm>
            <a:off x="8543925" y="1952625"/>
            <a:ext cx="2857500" cy="285750"/>
          </a:xfrm>
          <a:prstGeom prst="rect">
            <a:avLst/>
          </a:prstGeom>
        </p:spPr>
        <p:txBody>
          <a:bodyPr wrap="square" lIns="0" tIns="0" rIns="0" bIns="0" anchor="t">
            <a:noAutofit/>
          </a:bodyPr>
          <a:lstStyle/>
          <a:p>
            <a:pPr algn="l">
              <a:buNone/>
              <a:defRPr sz="1275" b="1" i="0">
                <a:solidFill>
                  <a:srgbClr val="19395E"/>
                </a:solidFill>
                <a:latin typeface="Arial"/>
                <a:ea typeface="Arial"/>
                <a:cs typeface="Arial"/>
              </a:defRPr>
            </a:pPr>
            <a:r>
              <a:rPr sz="1275" b="1" i="0">
                <a:solidFill>
                  <a:srgbClr val="19395E"/>
                </a:solidFill>
                <a:latin typeface="Arial"/>
                <a:ea typeface="Arial"/>
                <a:cs typeface="Arial"/>
              </a:rPr>
              <a:t>3 · PERSONALIZE</a:t>
            </a:r>
          </a:p>
        </p:txBody>
      </p:sp>
      <p:sp>
        <p:nvSpPr>
          <p:cNvPr id="20" name="Rectangle 19">
            <a:extLst>
              <a:ext uri="{FF2B5EF4-FFF2-40B4-BE49-F238E27FC236}">
                <a16:creationId xmlns:a16="http://schemas.microsoft.com/office/drawing/2014/main" id="{13BEE2CD-5614-44CE-BAB7-64869595B599}"/>
              </a:ext>
            </a:extLst>
          </p:cNvPr>
          <p:cNvSpPr>
            <a:spLocks noGrp="1"/>
          </p:cNvSpPr>
          <p:nvPr/>
        </p:nvSpPr>
        <p:spPr>
          <a:xfrm>
            <a:off x="8543925" y="2428875"/>
            <a:ext cx="2857500" cy="647700"/>
          </a:xfrm>
          <a:prstGeom prst="rect">
            <a:avLst/>
          </a:prstGeom>
        </p:spPr>
        <p:txBody>
          <a:bodyPr wrap="square" lIns="0" tIns="0" rIns="0" bIns="0" anchor="t">
            <a:noAutofit/>
          </a:bodyPr>
          <a:lstStyle/>
          <a:p>
            <a:pPr algn="l">
              <a:buNone/>
              <a:defRPr sz="2325" b="1" i="0">
                <a:solidFill>
                  <a:srgbClr val="101214"/>
                </a:solidFill>
                <a:latin typeface="Arial"/>
                <a:ea typeface="Arial"/>
                <a:cs typeface="Arial"/>
              </a:defRPr>
            </a:pPr>
            <a:r>
              <a:rPr sz="2100" b="1" i="0">
                <a:solidFill>
                  <a:srgbClr val="101214"/>
                </a:solidFill>
                <a:latin typeface="Arial"/>
                <a:ea typeface="Arial"/>
                <a:cs typeface="Arial"/>
              </a:rPr>
              <a:t>Make the model dynamic</a:t>
            </a:r>
          </a:p>
        </p:txBody>
      </p:sp>
      <p:sp>
        <p:nvSpPr>
          <p:cNvPr id="21" name="Rectangle 20">
            <a:extLst>
              <a:ext uri="{FF2B5EF4-FFF2-40B4-BE49-F238E27FC236}">
                <a16:creationId xmlns:a16="http://schemas.microsoft.com/office/drawing/2014/main" id="{2FD0E53F-5D07-47CF-B653-1448B8FE6213}"/>
              </a:ext>
            </a:extLst>
          </p:cNvPr>
          <p:cNvSpPr>
            <a:spLocks noGrp="1"/>
          </p:cNvSpPr>
          <p:nvPr/>
        </p:nvSpPr>
        <p:spPr>
          <a:xfrm>
            <a:off x="8543925" y="3286125"/>
            <a:ext cx="2857500" cy="1285875"/>
          </a:xfrm>
          <a:prstGeom prst="rect">
            <a:avLst/>
          </a:prstGeom>
        </p:spPr>
        <p:txBody>
          <a:bodyPr wrap="square" lIns="0" tIns="0" rIns="0" bIns="0" anchor="t">
            <a:noAutofit/>
          </a:bodyPr>
          <a:lstStyle/>
          <a:p>
            <a:pPr algn="l">
              <a:buNone/>
              <a:defRPr sz="1425" b="0" i="0">
                <a:solidFill>
                  <a:srgbClr val="5F6873"/>
                </a:solidFill>
                <a:latin typeface="Arial"/>
                <a:ea typeface="Arial"/>
                <a:cs typeface="Arial"/>
              </a:defRPr>
            </a:pPr>
            <a:r>
              <a:rPr sz="1425" b="0" i="0">
                <a:solidFill>
                  <a:srgbClr val="5F6873"/>
                </a:solidFill>
                <a:latin typeface="Arial"/>
                <a:ea typeface="Arial"/>
                <a:cs typeface="Arial"/>
              </a:rPr>
              <a:t>User-adjustable priorities
Sensitivity views
Confidence-aware comparisons
Feedback and model monitoring</a:t>
            </a:r>
          </a:p>
        </p:txBody>
      </p:sp>
      <p:sp>
        <p:nvSpPr>
          <p:cNvPr id="22" name="Rectangle 21">
            <a:extLst>
              <a:ext uri="{FF2B5EF4-FFF2-40B4-BE49-F238E27FC236}">
                <a16:creationId xmlns:a16="http://schemas.microsoft.com/office/drawing/2014/main" id="{5122E880-66B3-43FB-B931-2F351BD91D00}"/>
              </a:ext>
            </a:extLst>
          </p:cNvPr>
          <p:cNvSpPr>
            <a:spLocks noGrp="1"/>
          </p:cNvSpPr>
          <p:nvPr/>
        </p:nvSpPr>
        <p:spPr>
          <a:xfrm>
            <a:off x="704850" y="5648325"/>
            <a:ext cx="1524000" cy="266700"/>
          </a:xfrm>
          <a:prstGeom prst="rect">
            <a:avLst/>
          </a:prstGeom>
        </p:spPr>
        <p:txBody>
          <a:bodyPr wrap="square" lIns="0" tIns="0" rIns="0" bIns="0" anchor="t">
            <a:noAutofit/>
          </a:bodyPr>
          <a:lstStyle/>
          <a:p>
            <a:pPr algn="l">
              <a:buNone/>
              <a:defRPr sz="1350" b="1" i="0">
                <a:solidFill>
                  <a:srgbClr val="101214"/>
                </a:solidFill>
                <a:latin typeface="Arial"/>
                <a:ea typeface="Arial"/>
                <a:cs typeface="Arial"/>
              </a:defRPr>
            </a:pPr>
            <a:r>
              <a:rPr sz="1350" b="1" i="0">
                <a:solidFill>
                  <a:srgbClr val="101214"/>
                </a:solidFill>
                <a:latin typeface="Arial"/>
                <a:ea typeface="Arial"/>
                <a:cs typeface="Arial"/>
              </a:rPr>
              <a:t>COMPLETE</a:t>
            </a:r>
          </a:p>
        </p:txBody>
      </p:sp>
      <p:sp>
        <p:nvSpPr>
          <p:cNvPr id="23" name="Rectangle 22">
            <a:extLst>
              <a:ext uri="{FF2B5EF4-FFF2-40B4-BE49-F238E27FC236}">
                <a16:creationId xmlns:a16="http://schemas.microsoft.com/office/drawing/2014/main" id="{5D29AEA7-7799-4CDB-A835-468D0B9ADC4B}"/>
              </a:ext>
            </a:extLst>
          </p:cNvPr>
          <p:cNvSpPr>
            <a:spLocks noGrp="1"/>
          </p:cNvSpPr>
          <p:nvPr/>
        </p:nvSpPr>
        <p:spPr>
          <a:xfrm>
            <a:off x="4638675" y="5648325"/>
            <a:ext cx="1524000" cy="266700"/>
          </a:xfrm>
          <a:prstGeom prst="rect">
            <a:avLst/>
          </a:prstGeom>
        </p:spPr>
        <p:txBody>
          <a:bodyPr wrap="square" lIns="0" tIns="0" rIns="0" bIns="0" anchor="t">
            <a:noAutofit/>
          </a:bodyPr>
          <a:lstStyle/>
          <a:p>
            <a:pPr algn="l">
              <a:buNone/>
              <a:defRPr sz="1350" b="1" i="0">
                <a:solidFill>
                  <a:srgbClr val="101214"/>
                </a:solidFill>
                <a:latin typeface="Arial"/>
                <a:ea typeface="Arial"/>
                <a:cs typeface="Arial"/>
              </a:defRPr>
            </a:pPr>
            <a:r>
              <a:rPr sz="1350" b="1" i="0">
                <a:solidFill>
                  <a:srgbClr val="101214"/>
                </a:solidFill>
                <a:latin typeface="Arial"/>
                <a:ea typeface="Arial"/>
                <a:cs typeface="Arial"/>
              </a:rPr>
              <a:t>NEXT</a:t>
            </a:r>
          </a:p>
        </p:txBody>
      </p:sp>
      <p:sp>
        <p:nvSpPr>
          <p:cNvPr id="24" name="Rectangle 23">
            <a:extLst>
              <a:ext uri="{FF2B5EF4-FFF2-40B4-BE49-F238E27FC236}">
                <a16:creationId xmlns:a16="http://schemas.microsoft.com/office/drawing/2014/main" id="{BD505A8D-6CF1-4204-8368-1AAC9253D2DC}"/>
              </a:ext>
            </a:extLst>
          </p:cNvPr>
          <p:cNvSpPr>
            <a:spLocks noGrp="1"/>
          </p:cNvSpPr>
          <p:nvPr/>
        </p:nvSpPr>
        <p:spPr>
          <a:xfrm>
            <a:off x="8572500" y="5648325"/>
            <a:ext cx="1524000" cy="266700"/>
          </a:xfrm>
          <a:prstGeom prst="rect">
            <a:avLst/>
          </a:prstGeom>
        </p:spPr>
        <p:txBody>
          <a:bodyPr wrap="square" lIns="0" tIns="0" rIns="0" bIns="0" anchor="t">
            <a:noAutofit/>
          </a:bodyPr>
          <a:lstStyle/>
          <a:p>
            <a:pPr algn="l">
              <a:buNone/>
              <a:defRPr sz="1350" b="1" i="0">
                <a:solidFill>
                  <a:srgbClr val="101214"/>
                </a:solidFill>
                <a:latin typeface="Arial"/>
                <a:ea typeface="Arial"/>
                <a:cs typeface="Arial"/>
              </a:defRPr>
            </a:pPr>
            <a:r>
              <a:rPr sz="1350" b="1" i="0">
                <a:solidFill>
                  <a:srgbClr val="101214"/>
                </a:solidFill>
                <a:latin typeface="Arial"/>
                <a:ea typeface="Arial"/>
                <a:cs typeface="Arial"/>
              </a:rPr>
              <a:t>LATER</a:t>
            </a:r>
          </a:p>
        </p:txBody>
      </p:sp>
      <p:sp>
        <p:nvSpPr>
          <p:cNvPr id="25" name="Rectangle 24">
            <a:extLst>
              <a:ext uri="{FF2B5EF4-FFF2-40B4-BE49-F238E27FC236}">
                <a16:creationId xmlns:a16="http://schemas.microsoft.com/office/drawing/2014/main" id="{77AD77D5-D50A-4BD6-8DF9-B61EA2CBB353}"/>
              </a:ext>
            </a:extLst>
          </p:cNvPr>
          <p:cNvSpPr>
            <a:spLocks noGrp="1"/>
          </p:cNvSpPr>
          <p:nvPr/>
        </p:nvSpPr>
        <p:spPr>
          <a:xfrm>
            <a:off x="390525" y="6019800"/>
            <a:ext cx="10572750" cy="295275"/>
          </a:xfrm>
          <a:prstGeom prst="rect">
            <a:avLst/>
          </a:prstGeom>
        </p:spPr>
        <p:txBody>
          <a:bodyPr wrap="square" lIns="0" tIns="0" rIns="0" bIns="0" anchor="t">
            <a:noAutofit/>
          </a:bodyPr>
          <a:lstStyle/>
          <a:p>
            <a:pPr algn="l">
              <a:buNone/>
              <a:defRPr sz="1725" b="1" i="0">
                <a:solidFill>
                  <a:srgbClr val="13847D"/>
                </a:solidFill>
                <a:latin typeface="Arial"/>
                <a:ea typeface="Arial"/>
                <a:cs typeface="Arial"/>
              </a:defRPr>
            </a:pPr>
            <a:r>
              <a:rPr sz="1725" b="1" i="0" dirty="0">
                <a:solidFill>
                  <a:srgbClr val="13847D"/>
                </a:solidFill>
                <a:latin typeface="Arial"/>
                <a:ea typeface="Arial"/>
                <a:cs typeface="Arial"/>
              </a:rPr>
              <a:t>The goal is not a leaderboard people must accept—it is a decision system they can inspect.</a:t>
            </a:r>
          </a:p>
        </p:txBody>
      </p:sp>
    </p:spTree>
    <p:extLst>
      <p:ext uri="{BB962C8B-B14F-4D97-AF65-F5344CB8AC3E}">
        <p14:creationId xmlns:p14="http://schemas.microsoft.com/office/powerpoint/2010/main" val="202259826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2FC65E39C9D0941A1A1143882F417B9" ma:contentTypeVersion="12" ma:contentTypeDescription="Create a new document." ma:contentTypeScope="" ma:versionID="7600e294ac3b2bb06c9c844c017452ff">
  <xsd:schema xmlns:xsd="http://www.w3.org/2001/XMLSchema" xmlns:xs="http://www.w3.org/2001/XMLSchema" xmlns:p="http://schemas.microsoft.com/office/2006/metadata/properties" xmlns:ns3="35cc0a01-9f99-484b-8f8c-3faa6ac57c89" xmlns:ns4="89b97725-136f-4b65-aee4-e6969386f4d7" targetNamespace="http://schemas.microsoft.com/office/2006/metadata/properties" ma:root="true" ma:fieldsID="b71be40eb11903c1b76d9e13cf82ba99" ns3:_="" ns4:_="">
    <xsd:import namespace="35cc0a01-9f99-484b-8f8c-3faa6ac57c89"/>
    <xsd:import namespace="89b97725-136f-4b65-aee4-e6969386f4d7"/>
    <xsd:element name="properties">
      <xsd:complexType>
        <xsd:sequence>
          <xsd:element name="documentManagement">
            <xsd:complexType>
              <xsd:all>
                <xsd:element ref="ns3:MediaServiceMetadata" minOccurs="0"/>
                <xsd:element ref="ns3:MediaServiceFastMetadata" minOccurs="0"/>
                <xsd:element ref="ns3:_activity" minOccurs="0"/>
                <xsd:element ref="ns3:MediaServiceObjectDetectorVersions" minOccurs="0"/>
                <xsd:element ref="ns4:SharedWithUsers" minOccurs="0"/>
                <xsd:element ref="ns4:SharedWithDetails" minOccurs="0"/>
                <xsd:element ref="ns4:SharingHintHash" minOccurs="0"/>
                <xsd:element ref="ns3:MediaServiceSystemTags" minOccurs="0"/>
                <xsd:element ref="ns3:MediaServiceGenerationTime" minOccurs="0"/>
                <xsd:element ref="ns3:MediaServiceEventHashCode" minOccurs="0"/>
                <xsd:element ref="ns3:MediaServiceOCR"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5cc0a01-9f99-484b-8f8c-3faa6ac57c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SystemTags" ma:index="15" nillable="true" ma:displayName="MediaServiceSystemTags" ma:hidden="true" ma:internalName="MediaServiceSystemTags" ma:readOnly="true">
      <xsd:simpleType>
        <xsd:restriction base="dms:Note"/>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9b97725-136f-4b65-aee4-e6969386f4d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35cc0a01-9f99-484b-8f8c-3faa6ac57c89" xsi:nil="true"/>
  </documentManagement>
</p:properties>
</file>

<file path=customXml/itemProps1.xml><?xml version="1.0" encoding="utf-8"?>
<ds:datastoreItem xmlns:ds="http://schemas.openxmlformats.org/officeDocument/2006/customXml" ds:itemID="{5B52CA07-3E80-4E96-A661-4E902ECD789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5cc0a01-9f99-484b-8f8c-3faa6ac57c89"/>
    <ds:schemaRef ds:uri="89b97725-136f-4b65-aee4-e6969386f4d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264B21D-BB41-4E56-B98B-ECD59218DA54}">
  <ds:schemaRefs>
    <ds:schemaRef ds:uri="http://schemas.microsoft.com/sharepoint/v3/contenttype/forms"/>
  </ds:schemaRefs>
</ds:datastoreItem>
</file>

<file path=customXml/itemProps3.xml><?xml version="1.0" encoding="utf-8"?>
<ds:datastoreItem xmlns:ds="http://schemas.openxmlformats.org/officeDocument/2006/customXml" ds:itemID="{3B1CA7FD-313F-4495-9686-ED2E4688F05B}">
  <ds:schemaRefs>
    <ds:schemaRef ds:uri="http://purl.org/dc/terms/"/>
    <ds:schemaRef ds:uri="http://purl.org/dc/elements/1.1/"/>
    <ds:schemaRef ds:uri="http://schemas.microsoft.com/office/infopath/2007/PartnerControls"/>
    <ds:schemaRef ds:uri="http://purl.org/dc/dcmitype/"/>
    <ds:schemaRef ds:uri="89b97725-136f-4b65-aee4-e6969386f4d7"/>
    <ds:schemaRef ds:uri="http://schemas.microsoft.com/office/2006/documentManagement/types"/>
    <ds:schemaRef ds:uri="http://schemas.openxmlformats.org/package/2006/metadata/core-properties"/>
    <ds:schemaRef ds:uri="35cc0a01-9f99-484b-8f8c-3faa6ac57c89"/>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6</TotalTime>
  <Words>2899</Words>
  <Application>Microsoft Office PowerPoint</Application>
  <DocSecurity>0</DocSecurity>
  <PresentationFormat>Widescreen</PresentationFormat>
  <Paragraphs>328</Paragraphs>
  <Slides>13</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翟涵 龚</cp:lastModifiedBy>
  <cp:revision>4</cp:revision>
  <dcterms:created xsi:type="dcterms:W3CDTF">2026-07-27T15:19:53Z</dcterms:created>
  <dcterms:modified xsi:type="dcterms:W3CDTF">2026-07-27T15:31:34Z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0x010100F2FC65E39C9D0941A1A1143882F417B9</vt:lpwstr>
  </property>
</Properties>
</file>